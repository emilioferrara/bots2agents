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9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1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12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Worst-case accuracy lost to the cue, in points (vs a neutral conversation)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FEVER · encyclopaedic</c:v>
                </c:pt>
              </c:strCache>
            </c:strRef>
          </c:tx>
          <c:spPr>
            <a:solidFill>
              <a:srgbClr val="E4A0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Emotional
framing</c:v>
                  </c:pt>
                  <c:pt idx="1">
                    <c:v>Provenance
conflict</c:v>
                  </c:pt>
                  <c:pt idx="2">
                    <c:v>Identity /
authority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5.7</c:v>
                </c:pt>
                <c:pt idx="1">
                  <c:v>41</c:v>
                </c:pt>
                <c:pt idx="2">
                  <c:v>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SciFact · scientific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Emotional
framing</c:v>
                  </c:pt>
                  <c:pt idx="1">
                    <c:v>Provenance
conflict</c:v>
                  </c:pt>
                  <c:pt idx="2">
                    <c:v>Identity /
authority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9.7</c:v>
                </c:pt>
                <c:pt idx="1">
                  <c:v>54</c:v>
                </c:pt>
                <c:pt idx="2">
                  <c:v>61.7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7A7A7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SciFact accuracy, first turn against last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Turn 1</c:v>
                </c:pt>
              </c:strCache>
            </c:strRef>
          </c:tx>
          <c:spPr>
            <a:solidFill>
              <a:srgbClr val="C9C2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Qwen3.5-9B</c:v>
                  </c:pt>
                  <c:pt idx="1">
                    <c:v>GPT-5.5</c:v>
                  </c:pt>
                  <c:pt idx="2">
                    <c:v>GLM-5</c:v>
                  </c:pt>
                  <c:pt idx="3">
                    <c:v>Qwen3-235B</c:v>
                  </c:pt>
                  <c:pt idx="4">
                    <c:v>DeepSeek V3.2</c:v>
                  </c:pt>
                  <c:pt idx="5">
                    <c:v>Mistral Large 3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</c:v>
                </c:pt>
                <c:pt idx="1">
                  <c:v>81.1</c:v>
                </c:pt>
                <c:pt idx="2">
                  <c:v>80.6</c:v>
                </c:pt>
                <c:pt idx="3">
                  <c:v>71.6</c:v>
                </c:pt>
                <c:pt idx="4">
                  <c:v>59.9</c:v>
                </c:pt>
                <c:pt idx="5">
                  <c:v>64.9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Turn 5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Qwen3.5-9B</c:v>
                  </c:pt>
                  <c:pt idx="1">
                    <c:v>GPT-5.5</c:v>
                  </c:pt>
                  <c:pt idx="2">
                    <c:v>GLM-5</c:v>
                  </c:pt>
                  <c:pt idx="3">
                    <c:v>Qwen3-235B</c:v>
                  </c:pt>
                  <c:pt idx="4">
                    <c:v>DeepSeek V3.2</c:v>
                  </c:pt>
                  <c:pt idx="5">
                    <c:v>Mistral Large 3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72.8</c:v>
                </c:pt>
                <c:pt idx="1">
                  <c:v>63</c:v>
                </c:pt>
                <c:pt idx="2">
                  <c:v>61.9</c:v>
                </c:pt>
                <c:pt idx="3">
                  <c:v>50.6</c:v>
                </c:pt>
                <c:pt idx="4">
                  <c:v>34</c:v>
                </c:pt>
                <c:pt idx="5">
                  <c:v>37.4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7A7A7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Corpus composition · millions of items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 (millions)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Facebook</c:v>
                  </c:pt>
                  <c:pt idx="1">
                    <c:v>Reddit</c:v>
                  </c:pt>
                  <c:pt idx="2">
                    <c:v>YouTube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129.5</c:v>
                </c:pt>
                <c:pt idx="1">
                  <c:v>16.5</c:v>
                </c:pt>
                <c:pt idx="2">
                  <c:v>8.3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8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From raw duplicates to policy-relevant coordination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Clusters</c:v>
                </c:pt>
              </c:strCache>
            </c:strRef>
          </c:tx>
          <c:spPr>
            <a:solidFill>
              <a:srgbClr val="C9C2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2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C2B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Exact duplicates
(≥5 items)</c:v>
                  </c:pt>
                  <c:pt idx="1">
                    <c:v>Large enough
to test</c:v>
                  </c:pt>
                  <c:pt idx="2">
                    <c:v>Survive the
temporal null</c:v>
                  </c:pt>
                  <c:pt idx="3">
                    <c:v>Span 3+
spaces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858728</c:v>
                </c:pt>
                <c:pt idx="1">
                  <c:v>86955</c:v>
                </c:pt>
                <c:pt idx="2">
                  <c:v>50124</c:v>
                </c:pt>
                <c:pt idx="3">
                  <c:v>44214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Share of a known campaign the detector recovers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Detector recall</c:v>
                </c:pt>
              </c:strCache>
            </c:strRef>
          </c:tx>
          <c:spPr>
            <a:solidFill>
              <a:srgbClr val="D04A2D"/>
            </a:solidFill>
            <a:ln w="38100" cap="flat">
              <a:solidFill>
                <a:srgbClr val="D04A2D"/>
              </a:solidFill>
              <a:prstDash val="solid"/>
              <a:round/>
            </a:ln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0"/>
            <c:spPr>
              <a:solidFill>
                <a:srgbClr val="D04A2D"/>
              </a:solidFill>
              <a:ln w="9525" cap="flat">
                <a:solidFill>
                  <a:srgbClr val="D04A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0%
verbatim</c:v>
                  </c:pt>
                  <c:pt idx="1">
                    <c:v>10%
reworded</c:v>
                  </c:pt>
                  <c:pt idx="2">
                    <c:v>20%
reworded</c:v>
                  </c:pt>
                  <c:pt idx="3">
                    <c:v>40%
reworded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0.375</c:v>
                </c:pt>
                <c:pt idx="2">
                  <c:v>0.067</c:v>
                </c:pt>
                <c:pt idx="3">
                  <c:v>0.011</c:v>
                </c:pt>
              </c:numCache>
            </c:numRef>
          </c:val>
          <c:smooth val="0"/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  <c:min val="0"/>
        </c:scaling>
        <c:delete val="0"/>
        <c:axPos val="l"/>
        <c:majorGridlines>
          <c:spPr>
            <a:ln w="12700" cap="flat">
              <a:solidFill>
                <a:srgbClr val="E8E4DE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Median domain lifespan · days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observed lifespan (days)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Disposable
algorithmically-named</c:v>
                  </c:pt>
                  <c:pt idx="1">
                    <c:v>Persistent
established domains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91</c:v>
                </c:pt>
                <c:pt idx="1">
                  <c:v>1865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Scam scores calmer than average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provider toxicity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7A7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Scam-cue content</c:v>
                  </c:pt>
                  <c:pt idx="1">
                    <c:v>Corpus mean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0.1522</c:v>
                </c:pt>
                <c:pt idx="1">
                  <c:v>0.1625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"/>
        </c:scaling>
        <c:delete val="0"/>
        <c:axPos val="l"/>
        <c:majorGridlines>
          <c:spPr>
            <a:ln w="12700" cap="flat">
              <a:solidFill>
                <a:srgbClr val="E8E4DE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And most of the corpus is never scored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 (millions)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Scored by a provider
(Reddit)</c:v>
                  </c:pt>
                  <c:pt idx="1">
                    <c:v>No provider score
at all (Facebook)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34.8</c:v>
                </c:pt>
                <c:pt idx="1">
                  <c:v>129.5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Cue precision relative to the corpus base rate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Enrichment over base rate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0.0&quot;×&quot;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Scam cues</c:v>
                  </c:pt>
                  <c:pt idx="1">
                    <c:v>Xenophobia cues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5.6</c:v>
                </c:pt>
                <c:pt idx="1">
                  <c:v>1.4</c:v>
                </c:pt>
              </c:numCache>
            </c:numRef>
          </c:val>
        </c:ser>
        <c:dLbls>
          <c:numFmt formatCode="0.0&quot;×&quot;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Copypasta volume by stance · clusters and scaled items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Clusters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Anti-incumbent</c:v>
                  </c:pt>
                  <c:pt idx="1">
                    <c:v>Pro-incumbent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125</c:v>
                </c:pt>
                <c:pt idx="1">
                  <c:v>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Items ÷ 50</c:v>
                </c:pt>
              </c:strCache>
            </c:strRef>
          </c:tx>
          <c:spPr>
            <a:solidFill>
              <a:srgbClr val="E4A0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Anti-incumbent</c:v>
                  </c:pt>
                  <c:pt idx="1">
                    <c:v>Pro-incumbent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148</c:v>
                </c:pt>
                <c:pt idx="1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7A7A7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Share of sampled candidates confirmed hostile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Confirmed hostile (%)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English</c:v>
                  </c:pt>
                  <c:pt idx="1">
                    <c:v>Chinese</c:v>
                  </c:pt>
                  <c:pt idx="2">
                    <c:v>Indonesian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</c:v>
                </c:pt>
                <c:pt idx="1">
                  <c:v>27.1</c:v>
                </c:pt>
                <c:pt idx="2">
                  <c:v>21.3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Cluster size tells you almost nothing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</c:v>
                </c:pt>
              </c:strCache>
            </c:strRef>
          </c:tx>
          <c:spPr>
            <a:solidFill>
              <a:srgbClr val="C9C2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2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Largest raw cluster
(1 space, AutoModerator)</c:v>
                  </c:pt>
                  <c:pt idx="1">
                    <c:v>Median multi-space
coordinated cluster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13014</c:v>
                </c:pt>
                <c:pt idx="1">
                  <c:v>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warmly. Frame it: about 35 minutes, six sections, and the last one is the only part that outlives the dataset. Say up front that every number is a floor, and that this is a feature, not a hedge.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Pause. Say it slowly and plainly, then move on without ceremony — the talk is the tribute.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seconds. Signal that section six is the one that matters to them after I leave.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Short. The brief was open; the one thing I committed to was the conservative posture.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last line — it is the spine of the report and the argument for how CATOS funds monitoring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the stats. Spend the time on the second half: the durable output of a visiting appointment is usually the connections and the reproducibility, not the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Vishakha properly — this is her analysis and her repo; I was a sounding board. Numbers on this slide are confirmed against her repo and her 30 July consolidated report, not a meeting note. The finding that travels: bias here is not noise, it has a stable direction per model, and the direction moves when you change who the model thinks is asking — but not in the naive way. The US-citizen persona is a downward shift, not a self-flattering one, which kills the obvious hypothesis. If asked about Singapore: all seven models over-rate it, though the absolute error stays low. Thirty-three personas have now been run, including Singapore in Malay, Chinese and Tamil, so the language work I suggested is done rather than pending. Meeting again Aug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Gerard's experiment, Gerard's benchmark; I am second author. The design point worth saying out loud: the user never supplies evidence, only the appearance of it. So this measures deference to authority, not updating on new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cards are the transferable part. Erosion versus reversal is a model-family property, so a guardrail that blocks direct agreement can still leave you with authority-induced uncertainty. And the Rushdie example lands with any audience: the model did not just cave, it manufactured a reason to cave.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in the findings section depends on the audience understanding this constraint.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the Facebook share now; it pays off on the safety blind-spot slide in six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blunt: I could not have done bot detection here if I had wanted to. The constraint forced a better-disciplined study than I would otherwise have written.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last line looking at the room. It is what lets this be handed to a ministry without becoming an accusation.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Twelve minutes. Keep moving — the detail is in the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remember one number here, make it 42% — that is what the null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Convert the limitation into the ask: paraphrase-robust detection is the highest-leverage gap, and I return to it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arithmetic out loud. Anyone quoting 769,601 is quoting the wrong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misfire line matters — the report tables where the flag over-triggers, including recognisable publishers.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operationally consequential finding for partners in the room. Toxicity-classifier audits should test scam performance specifically.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slide, big point. The mismatch is the finding, and it is the clearest architectural recommendation in the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soften this. An intervention premised on isolating a small coordinated core would be aimed at something that is not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room takes one thing for how CATOS designs monitoring, it is this slide. The 2025-only predecessor was not wrong — it was under-determined, and in two of three cases pointed the wrong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minutes. The point of this section is the error, not the headline.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highlighted third box deliberately. Validation is a gate here, not a formality.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transferable slide in the deck. Irony is the failure mode, and irony is the register political speech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caveat card out loud, in full. This is the slide most likely to be photographed, and the caveat must travel with the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minutes only. This is an appetiser; the room can read the preprint.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 to land: English-only monitoring misses the other fault lines entirely, because they target different groups.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down. This section has the longest half-life for the people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cheapness. None of these needed new collection or compute — only deciding in advance that a result is not finished until it has been attacked.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place for a beat of humour — six years of data and the headline spike is a bot reading out the subreddit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Conversational delivery. Slow on the last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for leadership. Every item maps to a numbered limitation in Chapter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and a little self-deprecating. This is the personal turn the title promises.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Raj here if it feels right — he caught it on the June draft. Specific credit lands better than general thanks, and this is the moment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these three slowly. They are the ones that survive the walk to the lift.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Yinping, then open the floor. Expected questions: can we release the corpus (CATOS-internal, decision sits above me — Roy Lee at SUTD has asked); can you name actors (no, and it is structural); is the anti-incumbent skew interference (no).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up during Q&amp;A rather than walking through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Backup. Point at the relevant tile rather than reading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Useful if anyone pushes for a claim the data cannot support — point at the relevant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FAREWELL · A*STAR IHPC · SINGAPORE · AUGUST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Says,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724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Singapore Taught Me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41605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Emilio Ferrara, Ph.D.</a:t>
            </a:r>
            <a:endParaRPr lang="en-US" sz="2020" dirty="0"/>
          </a:p>
        </p:txBody>
      </p:sp>
      <p:sp>
        <p:nvSpPr>
          <p:cNvPr id="7" name="Text 5"/>
          <p:cNvSpPr/>
          <p:nvPr/>
        </p:nvSpPr>
        <p:spPr>
          <a:xfrm>
            <a:off x="640080" y="45262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of Computer Science, University of Southern California</a:t>
            </a:r>
            <a:endParaRPr lang="en-US" sz="159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Visiting Scientist, CATOS · A*STAR Institute of High Performance Computing</a:t>
            </a:r>
            <a:endParaRPr lang="en-US" sz="1590" dirty="0"/>
          </a:p>
        </p:txBody>
      </p:sp>
      <p:sp>
        <p:nvSpPr>
          <p:cNvPr id="8" name="Text 6"/>
          <p:cNvSpPr/>
          <p:nvPr/>
        </p:nvSpPr>
        <p:spPr>
          <a:xfrm>
            <a:off x="64008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 CORPUS BEGINS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2900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 THE ONE-YEAR STUDY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 SIX AND A HALF YEARS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00684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 HANDOVER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5888736"/>
            <a:ext cx="10911535" cy="0"/>
          </a:xfrm>
          <a:prstGeom prst="line">
            <a:avLst/>
          </a:prstGeom>
          <a:noFill/>
          <a:ln w="12700">
            <a:solidFill>
              <a:srgbClr val="E8E4DE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2/40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study was commissioned by</a:t>
            </a:r>
            <a:endParaRPr lang="en-US" sz="2380" dirty="0"/>
          </a:p>
        </p:txBody>
      </p:sp>
      <p:sp>
        <p:nvSpPr>
          <p:cNvPr id="5" name="Text 3"/>
          <p:cNvSpPr/>
          <p:nvPr/>
        </p:nvSpPr>
        <p:spPr>
          <a:xfrm>
            <a:off x="640080" y="256032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Yinping Yang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4290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her capacity as CATOS Director.</a:t>
            </a:r>
            <a:endParaRPr lang="en-US" sz="238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is dedicated to her memory, with the hope that it caught</a:t>
            </a:r>
            <a:endParaRPr lang="en-US" sz="202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 her vision and her commitment to understanding online harm</a:t>
            </a:r>
            <a:endParaRPr lang="en-US" sz="202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ecosystem.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asked the questions. What follows is my attempt at answers.</a:t>
            </a:r>
            <a:endParaRPr lang="en-US" sz="20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3/40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 of this talk</a:t>
            </a:r>
            <a:endParaRPr lang="en-US" sz="317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corpus, five findings, and the part I hope travels</a:t>
            </a:r>
            <a:endParaRPr lang="en-US" sz="1590" dirty="0"/>
          </a:p>
        </p:txBody>
      </p:sp>
      <p:sp>
        <p:nvSpPr>
          <p:cNvPr id="6" name="Shape 4"/>
          <p:cNvSpPr/>
          <p:nvPr/>
        </p:nvSpPr>
        <p:spPr>
          <a:xfrm>
            <a:off x="1097280" y="1874520"/>
            <a:ext cx="10058400" cy="0"/>
          </a:xfrm>
          <a:prstGeom prst="line">
            <a:avLst/>
          </a:prstGeom>
          <a:noFill/>
          <a:ln w="25400">
            <a:solidFill>
              <a:srgbClr val="E8E4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1709928"/>
            <a:ext cx="329184" cy="329184"/>
          </a:xfrm>
          <a:prstGeom prst="ellipse">
            <a:avLst/>
          </a:prstGeom>
          <a:solidFill>
            <a:srgbClr val="D04A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240280"/>
            <a:ext cx="2606040" cy="2286000"/>
          </a:xfrm>
          <a:prstGeom prst="roundRect">
            <a:avLst>
              <a:gd name="adj" fmla="val 2000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42316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setting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896112" y="2834640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896112" y="32004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154M posts · 3 platforms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6½ years · no identities</a:t>
            </a:r>
            <a:endParaRPr lang="en-US" sz="1590" dirty="0"/>
          </a:p>
        </p:txBody>
      </p:sp>
      <p:sp>
        <p:nvSpPr>
          <p:cNvPr id="13" name="Shape 11"/>
          <p:cNvSpPr/>
          <p:nvPr/>
        </p:nvSpPr>
        <p:spPr>
          <a:xfrm>
            <a:off x="3739896" y="1709928"/>
            <a:ext cx="329184" cy="329184"/>
          </a:xfrm>
          <a:prstGeom prst="ellipse">
            <a:avLst/>
          </a:prstGeom>
          <a:solidFill>
            <a:srgbClr val="D04A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47288" y="2240280"/>
            <a:ext cx="2606040" cy="2286000"/>
          </a:xfrm>
          <a:prstGeom prst="roundRect">
            <a:avLst>
              <a:gd name="adj" fmla="val 2000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3320" y="242316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findings</a:t>
            </a:r>
            <a:endParaRPr lang="en-US" sz="2380" dirty="0"/>
          </a:p>
        </p:txBody>
      </p:sp>
      <p:sp>
        <p:nvSpPr>
          <p:cNvPr id="17" name="Text 15"/>
          <p:cNvSpPr/>
          <p:nvPr/>
        </p:nvSpPr>
        <p:spPr>
          <a:xfrm>
            <a:off x="3703320" y="2834640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</a:t>
            </a:r>
            <a:endParaRPr lang="en-US" sz="1230" dirty="0"/>
          </a:p>
        </p:txBody>
      </p:sp>
      <p:sp>
        <p:nvSpPr>
          <p:cNvPr id="18" name="Text 16"/>
          <p:cNvSpPr/>
          <p:nvPr/>
        </p:nvSpPr>
        <p:spPr>
          <a:xfrm>
            <a:off x="3703320" y="32004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results, each with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that bounds it</a:t>
            </a:r>
            <a:endParaRPr lang="en-US" sz="1590" dirty="0"/>
          </a:p>
        </p:txBody>
      </p:sp>
      <p:sp>
        <p:nvSpPr>
          <p:cNvPr id="19" name="Shape 17"/>
          <p:cNvSpPr/>
          <p:nvPr/>
        </p:nvSpPr>
        <p:spPr>
          <a:xfrm>
            <a:off x="6547104" y="1709928"/>
            <a:ext cx="329184" cy="329184"/>
          </a:xfrm>
          <a:prstGeom prst="ellipse">
            <a:avLst/>
          </a:prstGeom>
          <a:solidFill>
            <a:srgbClr val="D04A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47104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54496" y="2240280"/>
            <a:ext cx="2606040" cy="2286000"/>
          </a:xfrm>
          <a:prstGeom prst="roundRect">
            <a:avLst>
              <a:gd name="adj" fmla="val 2000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10528" y="242316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case</a:t>
            </a:r>
            <a:endParaRPr lang="en-US" sz="2380" dirty="0"/>
          </a:p>
        </p:txBody>
      </p:sp>
      <p:sp>
        <p:nvSpPr>
          <p:cNvPr id="23" name="Text 21"/>
          <p:cNvSpPr/>
          <p:nvPr/>
        </p:nvSpPr>
        <p:spPr>
          <a:xfrm>
            <a:off x="6510528" y="2834640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</a:t>
            </a:r>
            <a:endParaRPr lang="en-US" sz="1230" dirty="0"/>
          </a:p>
        </p:txBody>
      </p:sp>
      <p:sp>
        <p:nvSpPr>
          <p:cNvPr id="24" name="Text 22"/>
          <p:cNvSpPr/>
          <p:nvPr/>
        </p:nvSpPr>
        <p:spPr>
          <a:xfrm>
            <a:off x="6510528" y="32004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GE2025 end to end — and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mistake we caught</a:t>
            </a:r>
            <a:endParaRPr lang="en-US" sz="1590" dirty="0"/>
          </a:p>
        </p:txBody>
      </p:sp>
      <p:sp>
        <p:nvSpPr>
          <p:cNvPr id="25" name="Shape 23"/>
          <p:cNvSpPr/>
          <p:nvPr/>
        </p:nvSpPr>
        <p:spPr>
          <a:xfrm>
            <a:off x="9354312" y="1709928"/>
            <a:ext cx="329184" cy="329184"/>
          </a:xfrm>
          <a:prstGeom prst="ellipse">
            <a:avLst/>
          </a:prstGeom>
          <a:solidFill>
            <a:srgbClr val="D04A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54312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061704" y="2240280"/>
            <a:ext cx="2606040" cy="2286000"/>
          </a:xfrm>
          <a:prstGeom prst="roundRect">
            <a:avLst>
              <a:gd name="adj" fmla="val 2000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17736" y="242316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lessons</a:t>
            </a:r>
            <a:endParaRPr lang="en-US" sz="2380" dirty="0"/>
          </a:p>
        </p:txBody>
      </p:sp>
      <p:sp>
        <p:nvSpPr>
          <p:cNvPr id="29" name="Text 27"/>
          <p:cNvSpPr/>
          <p:nvPr/>
        </p:nvSpPr>
        <p:spPr>
          <a:xfrm>
            <a:off x="9317736" y="2834640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</a:t>
            </a:r>
            <a:endParaRPr lang="en-US" sz="1230" dirty="0"/>
          </a:p>
        </p:txBody>
      </p:sp>
      <p:sp>
        <p:nvSpPr>
          <p:cNvPr id="30" name="Text 28"/>
          <p:cNvSpPr/>
          <p:nvPr/>
        </p:nvSpPr>
        <p:spPr>
          <a:xfrm>
            <a:off x="9317736" y="32004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measure an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honestly</a:t>
            </a:r>
            <a:endParaRPr lang="en-US" sz="1590" dirty="0"/>
          </a:p>
        </p:txBody>
      </p:sp>
      <p:sp>
        <p:nvSpPr>
          <p:cNvPr id="31" name="Text 29"/>
          <p:cNvSpPr/>
          <p:nvPr/>
        </p:nvSpPr>
        <p:spPr>
          <a:xfrm>
            <a:off x="640080" y="49377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throughout: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here is a floor</a:t>
            </a:r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discipline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makes it a floor is exactly what makes it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</a:t>
            </a:r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4/40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· 2025–2026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was asked what is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out there.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what we fear is out there, and not what one year happened to show</a:t>
            </a:r>
            <a:endParaRPr lang="en-US" sz="17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5/40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questions, asked in order of narrowing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CATOS Dataset — the time-extended successor to a corpus covering only 2025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2606040" cy="2377440"/>
          </a:xfrm>
          <a:prstGeom prst="roundRect">
            <a:avLst>
              <a:gd name="adj" fmla="val 192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74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914400" y="24871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coordination?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331012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infrastructure carries it</a:t>
            </a:r>
            <a:endParaRPr lang="en-US" sz="1590" dirty="0"/>
          </a:p>
        </p:txBody>
      </p:sp>
      <p:sp>
        <p:nvSpPr>
          <p:cNvPr id="12" name="Shape 10"/>
          <p:cNvSpPr/>
          <p:nvPr/>
        </p:nvSpPr>
        <p:spPr>
          <a:xfrm>
            <a:off x="3447288" y="1691640"/>
            <a:ext cx="2606040" cy="2377440"/>
          </a:xfrm>
          <a:prstGeom prst="roundRect">
            <a:avLst>
              <a:gd name="adj" fmla="val 192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21608" y="1874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721608" y="24871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harms, how large?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721608" y="331012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Scams, hostility, and where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systems fail</a:t>
            </a:r>
            <a:endParaRPr lang="en-US" sz="1590" dirty="0"/>
          </a:p>
        </p:txBody>
      </p:sp>
      <p:sp>
        <p:nvSpPr>
          <p:cNvPr id="16" name="Shape 14"/>
          <p:cNvSpPr/>
          <p:nvPr/>
        </p:nvSpPr>
        <p:spPr>
          <a:xfrm>
            <a:off x="6254496" y="1691640"/>
            <a:ext cx="2606040" cy="2377440"/>
          </a:xfrm>
          <a:prstGeom prst="roundRect">
            <a:avLst>
              <a:gd name="adj" fmla="val 192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28816" y="1874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6528816" y="24871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over time?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28816" y="331012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one year guides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</a:t>
            </a:r>
            <a:endParaRPr lang="en-US" sz="1590" dirty="0"/>
          </a:p>
        </p:txBody>
      </p:sp>
      <p:sp>
        <p:nvSpPr>
          <p:cNvPr id="20" name="Shape 18"/>
          <p:cNvSpPr/>
          <p:nvPr/>
        </p:nvSpPr>
        <p:spPr>
          <a:xfrm>
            <a:off x="9061704" y="1691640"/>
            <a:ext cx="2606040" cy="2377440"/>
          </a:xfrm>
          <a:prstGeom prst="roundRect">
            <a:avLst>
              <a:gd name="adj" fmla="val 1923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36024" y="1874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9336024" y="24871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like?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36024" y="331012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event, detection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validation</a:t>
            </a:r>
            <a:endParaRPr lang="en-US" sz="1590" dirty="0"/>
          </a:p>
        </p:txBody>
      </p:sp>
      <p:sp>
        <p:nvSpPr>
          <p:cNvPr id="24" name="Text 22"/>
          <p:cNvSpPr/>
          <p:nvPr/>
        </p:nvSpPr>
        <p:spPr>
          <a:xfrm>
            <a:off x="640080" y="443484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premise I was asked to test: that extending the corpus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time</a:t>
            </a:r>
            <a:pPr indent="0" marL="0">
              <a:spcAft>
                <a:spcPts val="4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not a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convenience but a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</a:t>
            </a:r>
            <a:pPr indent="0" marL="0">
              <a:spcAft>
                <a:spcPts val="4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one.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was.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conclusions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2025-only study would have supported are overturned by the full span.</a:t>
            </a:r>
            <a:endParaRPr lang="en-US" sz="20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6/40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year produced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deliverables, and three things that keep working after the contract ends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2577008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49808" y="2212848"/>
            <a:ext cx="235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· 17 chapters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appendices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3418256" y="1645920"/>
            <a:ext cx="2577008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8256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27984" y="2212848"/>
            <a:ext cx="235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preprint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arXiv:2606.21996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6196432" y="1645920"/>
            <a:ext cx="2577008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6432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306160" y="2212848"/>
            <a:ext cx="235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briefings delivered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DSO · DSTA · MDDI · IMDA · OTS Forum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8974607" y="1645920"/>
            <a:ext cx="2577008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607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084335" y="2212848"/>
            <a:ext cx="235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call reopened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OTS Call 3, AI-safety frontier</a:t>
            </a:r>
            <a:endParaRPr lang="en-US" sz="1230" dirty="0"/>
          </a:p>
        </p:txBody>
      </p:sp>
      <p:sp>
        <p:nvSpPr>
          <p:cNvPr id="20" name="Text 18"/>
          <p:cNvSpPr/>
          <p:nvPr/>
        </p:nvSpPr>
        <p:spPr>
          <a:xfrm>
            <a:off x="640080" y="342900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and the preprint are the deliverables.</a:t>
            </a:r>
            <a:endParaRPr lang="en-US" sz="2020" dirty="0"/>
          </a:p>
          <a:p>
            <a:pPr lvl="1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is chained to the test that bounds it, and Chapter 15 lists what I looked for and </a:t>
            </a:r>
            <a:pPr lvl="1"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not find</a:t>
            </a:r>
            <a:pPr lvl="1"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2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is infrastructure.</a:t>
            </a:r>
            <a:endParaRPr lang="en-US" sz="202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reproducibility manifest so this re-runs without me. A revised grant call opening agentic and multimodal AI safety. Introductions to MDDI, IMDA, SUTD and MLCommons left open and warm.</a:t>
            </a:r>
            <a:endParaRPr lang="en-US" sz="20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7/40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Vishakha Lall — whose scores are these?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ARES · geopolitical bias in how models classify governance and freedom</a:t>
            </a:r>
            <a:endParaRPr lang="en-US" sz="1590" dirty="0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seven models to score countries on freedom and governance — civil liberties, political rights, rule of law — then change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asking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in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language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377440"/>
            <a:ext cx="3502152" cy="1600200"/>
          </a:xfrm>
          <a:prstGeom prst="roundRect">
            <a:avLst>
              <a:gd name="adj" fmla="val 2857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542032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3209544" y="2468880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14400" y="303580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60.3% of countries freer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truth — and not once lower</a:t>
            </a:r>
            <a:endParaRPr lang="en-US" sz="1590" dirty="0"/>
          </a:p>
        </p:txBody>
      </p:sp>
      <p:sp>
        <p:nvSpPr>
          <p:cNvPr id="13" name="Shape 11"/>
          <p:cNvSpPr/>
          <p:nvPr/>
        </p:nvSpPr>
        <p:spPr>
          <a:xfrm>
            <a:off x="4325112" y="2377440"/>
            <a:ext cx="3502152" cy="1600200"/>
          </a:xfrm>
          <a:prstGeom prst="roundRect">
            <a:avLst>
              <a:gd name="adj" fmla="val 2857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9432" y="2542032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3</a:t>
            </a:r>
            <a:endParaRPr lang="en-US" sz="2380" dirty="0"/>
          </a:p>
        </p:txBody>
      </p:sp>
      <p:sp>
        <p:nvSpPr>
          <p:cNvPr id="15" name="Text 13"/>
          <p:cNvSpPr/>
          <p:nvPr/>
        </p:nvSpPr>
        <p:spPr>
          <a:xfrm>
            <a:off x="6894576" y="2468880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599432" y="303580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+0.53 classes too free;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widest swings in Western Asia</a:t>
            </a:r>
            <a:endParaRPr lang="en-US" sz="1590" dirty="0"/>
          </a:p>
        </p:txBody>
      </p:sp>
      <p:sp>
        <p:nvSpPr>
          <p:cNvPr id="17" name="Shape 15"/>
          <p:cNvSpPr/>
          <p:nvPr/>
        </p:nvSpPr>
        <p:spPr>
          <a:xfrm>
            <a:off x="8010144" y="2377440"/>
            <a:ext cx="3502152" cy="1600200"/>
          </a:xfrm>
          <a:prstGeom prst="roundRect">
            <a:avLst>
              <a:gd name="adj" fmla="val 2857"/>
            </a:avLst>
          </a:prstGeom>
          <a:solidFill>
            <a:srgbClr val="E6E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84464" y="2542032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4.6</a:t>
            </a:r>
            <a:endParaRPr lang="en-US" sz="2380" dirty="0"/>
          </a:p>
        </p:txBody>
      </p:sp>
      <p:sp>
        <p:nvSpPr>
          <p:cNvPr id="19" name="Text 17"/>
          <p:cNvSpPr/>
          <p:nvPr/>
        </p:nvSpPr>
        <p:spPr>
          <a:xfrm>
            <a:off x="10579608" y="2468880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284464" y="303580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model that under-rates;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81.9% exact, the lowest error</a:t>
            </a:r>
            <a:endParaRPr lang="en-US" sz="1590" dirty="0"/>
          </a:p>
        </p:txBody>
      </p:sp>
      <p:sp>
        <p:nvSpPr>
          <p:cNvPr id="21" name="Text 19"/>
          <p:cNvSpPr/>
          <p:nvPr/>
        </p:nvSpPr>
        <p:spPr>
          <a:xfrm>
            <a:off x="640080" y="41148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COUNTRY, SCORED UNDER FOUR CONDITIONS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407408"/>
            <a:ext cx="2651760" cy="548640"/>
          </a:xfrm>
          <a:prstGeom prst="roundRect">
            <a:avLst>
              <a:gd name="adj" fmla="val 8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4074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context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3410712" y="4407408"/>
            <a:ext cx="2651760" cy="548640"/>
          </a:xfrm>
          <a:prstGeom prst="roundRect">
            <a:avLst>
              <a:gd name="adj" fmla="val 8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10712" y="44074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US citizen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181344" y="4407408"/>
            <a:ext cx="2651760" cy="548640"/>
          </a:xfrm>
          <a:prstGeom prst="roundRect">
            <a:avLst>
              <a:gd name="adj" fmla="val 8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81344" y="44074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China citizen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951976" y="4407408"/>
            <a:ext cx="2651760" cy="548640"/>
          </a:xfrm>
          <a:prstGeom prst="roundRect">
            <a:avLst>
              <a:gd name="adj" fmla="val 8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51976" y="44074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 in Chinese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40080" y="5093208"/>
            <a:ext cx="10881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Over-crediting is the failure mode: </a:t>
            </a:r>
            <a:pPr indent="0" marL="0">
              <a:buNone/>
            </a:pPr>
            <a:r>
              <a:rPr lang="en-US" sz="159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62.2% exact, 33.3% too free, 4.5% too unfree</a:t>
            </a:r>
            <a:pPr indent="0" marL="0">
              <a:spcAft>
                <a:spcPts val="3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and Turkey read freer than truth in </a:t>
            </a:r>
            <a:pPr indent="0" marL="0">
              <a:buNone/>
            </a:pPr>
            <a:r>
              <a:rPr lang="en-US" sz="159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28 runs</a:t>
            </a:r>
            <a:pPr indent="0" marL="0">
              <a:spcAft>
                <a:spcPts val="3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nothing is ever off by two classes.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 persona does not favour the US: it pushes scores </a:t>
            </a:r>
            <a:pPr indent="0" marL="0">
              <a:buNone/>
            </a:pPr>
            <a:r>
              <a:rPr lang="en-US" sz="159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</a:t>
            </a:r>
            <a:pPr indent="0" marL="0">
              <a:spcAft>
                <a:spcPts val="3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that country hardest of all.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added: </a:t>
            </a:r>
            <a:pPr indent="0" marL="0">
              <a:buNone/>
            </a:pPr>
            <a:r>
              <a:rPr lang="en-US" sz="159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minus no-context</a:t>
            </a:r>
            <a:pPr indent="0" marL="0">
              <a:spcAft>
                <a:spcPts val="3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per-country ranking, finer regions than continents.</a:t>
            </a:r>
            <a:endParaRPr lang="en-US" sz="159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truth: Freedom House, GSOD, HRW. 89 countries; 51 in the classification set. Repo: vishakha-astar/llm-bias.</a:t>
            </a:r>
            <a:endParaRPr lang="en-US" sz="10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8/40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Gerard Yeo — correct until challenged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Yeo &amp; Ferrara · a benchmark for conversational epistemic robustness</a:t>
            </a:r>
            <a:endParaRPr lang="en-US" sz="1590" dirty="0"/>
          </a:p>
        </p:txBody>
      </p:sp>
      <p:sp>
        <p:nvSpPr>
          <p:cNvPr id="8" name="Text 6"/>
          <p:cNvSpPr/>
          <p:nvPr/>
        </p:nvSpPr>
        <p:spPr>
          <a:xfrm>
            <a:off x="640080" y="15727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answers a factual claim correctly. Then the user pushes back for four turns —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ever supplying new evidence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Does the judgment hold?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286000"/>
            <a:ext cx="1975104" cy="1188720"/>
          </a:xfrm>
          <a:prstGeom prst="roundRect">
            <a:avLst>
              <a:gd name="adj" fmla="val 384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395728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59536" y="2724912"/>
            <a:ext cx="1536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put</a:t>
            </a:r>
            <a:endParaRPr lang="en-US" sz="1590" dirty="0"/>
          </a:p>
        </p:txBody>
      </p:sp>
      <p:sp>
        <p:nvSpPr>
          <p:cNvPr id="12" name="Text 10"/>
          <p:cNvSpPr/>
          <p:nvPr/>
        </p:nvSpPr>
        <p:spPr>
          <a:xfrm>
            <a:off x="2624328" y="26974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871216" y="2286000"/>
            <a:ext cx="1975104" cy="1188720"/>
          </a:xfrm>
          <a:prstGeom prst="roundRect">
            <a:avLst>
              <a:gd name="adj" fmla="val 3846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90672" y="2395728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090672" y="2724912"/>
            <a:ext cx="1536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cue is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introduced</a:t>
            </a:r>
            <a:endParaRPr lang="en-US" sz="1590" dirty="0"/>
          </a:p>
        </p:txBody>
      </p:sp>
      <p:sp>
        <p:nvSpPr>
          <p:cNvPr id="16" name="Text 14"/>
          <p:cNvSpPr/>
          <p:nvPr/>
        </p:nvSpPr>
        <p:spPr>
          <a:xfrm>
            <a:off x="4855464" y="26974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102352" y="2286000"/>
            <a:ext cx="1975104" cy="1188720"/>
          </a:xfrm>
          <a:prstGeom prst="roundRect">
            <a:avLst>
              <a:gd name="adj" fmla="val 384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21808" y="2395728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21808" y="2724912"/>
            <a:ext cx="1536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cue is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reinforced</a:t>
            </a:r>
            <a:endParaRPr lang="en-US" sz="1590" dirty="0"/>
          </a:p>
        </p:txBody>
      </p:sp>
      <p:sp>
        <p:nvSpPr>
          <p:cNvPr id="20" name="Text 18"/>
          <p:cNvSpPr/>
          <p:nvPr/>
        </p:nvSpPr>
        <p:spPr>
          <a:xfrm>
            <a:off x="7086600" y="26974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333488" y="2286000"/>
            <a:ext cx="1975104" cy="1188720"/>
          </a:xfrm>
          <a:prstGeom prst="roundRect">
            <a:avLst>
              <a:gd name="adj" fmla="val 384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52944" y="2395728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552944" y="2724912"/>
            <a:ext cx="1536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“Are you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sure?”</a:t>
            </a:r>
            <a:endParaRPr lang="en-US" sz="1590" dirty="0"/>
          </a:p>
        </p:txBody>
      </p:sp>
      <p:sp>
        <p:nvSpPr>
          <p:cNvPr id="24" name="Text 22"/>
          <p:cNvSpPr/>
          <p:nvPr/>
        </p:nvSpPr>
        <p:spPr>
          <a:xfrm>
            <a:off x="9317736" y="26974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564624" y="2286000"/>
            <a:ext cx="1975104" cy="1188720"/>
          </a:xfrm>
          <a:prstGeom prst="roundRect">
            <a:avLst>
              <a:gd name="adj" fmla="val 384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84080" y="2395728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784080" y="2724912"/>
            <a:ext cx="1536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recon-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sideration</a:t>
            </a:r>
            <a:endParaRPr lang="en-US" sz="159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640080" y="3703320"/>
          <a:ext cx="66751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9" name="Shape 26"/>
          <p:cNvSpPr/>
          <p:nvPr/>
        </p:nvSpPr>
        <p:spPr>
          <a:xfrm>
            <a:off x="7452360" y="3794760"/>
            <a:ext cx="1956816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52360" y="388620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9,600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7562088" y="436168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five-turn conversations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48,000 evaluated turns</a:t>
            </a:r>
            <a:endParaRPr lang="en-US" sz="1230" dirty="0"/>
          </a:p>
        </p:txBody>
      </p:sp>
      <p:sp>
        <p:nvSpPr>
          <p:cNvPr id="32" name="Shape 29"/>
          <p:cNvSpPr/>
          <p:nvPr/>
        </p:nvSpPr>
        <p:spPr>
          <a:xfrm>
            <a:off x="9610344" y="3794760"/>
            <a:ext cx="1956816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610344" y="388620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600" dirty="0"/>
          </a:p>
        </p:txBody>
      </p:sp>
      <p:sp>
        <p:nvSpPr>
          <p:cNvPr id="34" name="Text 31"/>
          <p:cNvSpPr/>
          <p:nvPr/>
        </p:nvSpPr>
        <p:spPr>
          <a:xfrm>
            <a:off x="9720072" y="436168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· Qwen3.5-9B, Qwen3-235B,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GPT-5.5, GLM-5, DeepSeek V3.2, Mistral Large 3</a:t>
            </a:r>
            <a:endParaRPr lang="en-US" sz="1230" dirty="0"/>
          </a:p>
        </p:txBody>
      </p:sp>
      <p:sp>
        <p:nvSpPr>
          <p:cNvPr id="35" name="Text 32"/>
          <p:cNvSpPr/>
          <p:nvPr/>
        </p:nvSpPr>
        <p:spPr>
          <a:xfrm>
            <a:off x="7452360" y="534924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simply agreeable —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selectively vulnerable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pressure dressed as evidence.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Yeo &amp; Ferrara, Correct Until Challenged. Claims from FEVER and SciFact; C2PA-style provenance cues.</a:t>
            </a:r>
            <a:endParaRPr lang="en-US" sz="10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9/40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scientific claims break first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accuracy goes, and the two shapes the failure takes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45920"/>
          <a:ext cx="667512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452360" y="1783080"/>
            <a:ext cx="4114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</a:t>
            </a:r>
            <a:pPr indent="0" marL="0">
              <a:spcAft>
                <a:spcPts val="11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 ends lower than it started. Five lose more than 18 points.</a:t>
            </a:r>
            <a:endParaRPr lang="en-US" sz="18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first-turn accuracy buys nothing: GPT-5.5 opens strongest and still sheds 18 points.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interaction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damages far more than it repairs</a:t>
            </a:r>
            <a:pPr indent="0" marL="0">
              <a:spcAft>
                <a:spcPts val="11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up to 32.6% of correct answers go wrong, while under 6.3% of wrong ones come right.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4617720"/>
            <a:ext cx="5257800" cy="1691640"/>
          </a:xfrm>
          <a:prstGeom prst="roundRect">
            <a:avLst>
              <a:gd name="adj" fmla="val 2703"/>
            </a:avLst>
          </a:prstGeom>
          <a:solidFill>
            <a:srgbClr val="E6E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0120" y="475488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EROSION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60120" y="507492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and Mistral retreat to uncertainty first — up to +46.3 points of correct→uncertain.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63640" y="4617720"/>
            <a:ext cx="5257800" cy="1691640"/>
          </a:xfrm>
          <a:prstGeom prst="roundRect">
            <a:avLst>
              <a:gd name="adj" fmla="val 2703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0" y="475488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SPECULATIVE RECONCILIATION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583680" y="507492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Told only that “a source says otherwise”, GPT-5.5 dropped a correct Booker Prize answer and invented an award-timing rule to justify it.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Yeo &amp; Ferrara, Correct Until Challenged, Tables 2 and 4. Under submission, ARR August.</a:t>
            </a:r>
            <a:endParaRPr lang="en-US" sz="10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10/40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 million posts, and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idea who wrote them.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constraint shapes every sentence in the report</a:t>
            </a:r>
            <a:endParaRPr lang="en-US" sz="17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11/40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CATOS Dataset is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Facebook, Reddit and YouTube · January 2020 – June 2026</a:t>
            </a:r>
            <a:endParaRPr lang="en-US" sz="159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154,284,618</a:t>
            </a:r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items across three platforms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 distinct spaces</a:t>
            </a:r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pages, subreddits, channels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11.96M URLs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pointing to </a:t>
            </a:r>
            <a:pPr indent="0" marL="0">
              <a:spcAft>
                <a:spcPts val="1200"/>
              </a:spcAft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105,022 domains</a:t>
            </a:r>
            <a:endParaRPr lang="en-US" sz="202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national conversation running in English, Malay, Mandarin and other Chinese varieties, and Tamil — and out into the messaging apps people are funnelled toward.</a:t>
            </a:r>
            <a:endParaRPr lang="en-US" sz="202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943600" y="1554480"/>
          <a:ext cx="55778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4983480"/>
            <a:ext cx="10881360" cy="1005840"/>
          </a:xfrm>
          <a:prstGeom prst="roundRect">
            <a:avLst>
              <a:gd name="adj" fmla="val 4545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0120" y="507492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 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everything here is Facebook — the one platform with no provider safety score at all. Hold that thought.</a:t>
            </a:r>
            <a:endParaRPr lang="en-US" sz="23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12/40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 that shaped everything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F000 · the dataset carries no usable account identities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5257800" cy="3200400"/>
          </a:xfrm>
          <a:prstGeom prst="roundRect">
            <a:avLst>
              <a:gd name="adj" fmla="val 1429"/>
            </a:avLst>
          </a:prstGeom>
          <a:solidFill>
            <a:srgbClr val="E6E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 SEE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3317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said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 the second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page, subreddit, channel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linked to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domains, lifespans</a:t>
            </a:r>
            <a:endParaRPr lang="en-US" sz="202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257800" cy="3200400"/>
          </a:xfrm>
          <a:prstGeom prst="roundRect">
            <a:avLst>
              <a:gd name="adj" fmla="val 1429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PERMANENTLY OUT OF REACH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29400" y="23317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it</a:t>
            </a:r>
            <a:endParaRPr lang="en-US" sz="202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Sockpuppet or bot-network mapping</a:t>
            </a:r>
            <a:endParaRPr lang="en-US" sz="202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to any actor or state</a:t>
            </a:r>
            <a:endParaRPr lang="en-US" sz="202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repetition was authentic</a:t>
            </a:r>
            <a:endParaRPr lang="en-US" sz="2020" dirty="0"/>
          </a:p>
        </p:txBody>
      </p:sp>
      <p:sp>
        <p:nvSpPr>
          <p:cNvPr id="14" name="Text 12"/>
          <p:cNvSpPr/>
          <p:nvPr/>
        </p:nvSpPr>
        <p:spPr>
          <a:xfrm>
            <a:off x="640080" y="5120640"/>
            <a:ext cx="10881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account-level toolkit platform integrity is built on is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 by construction</a:t>
            </a:r>
            <a:pPr indent="0" marL="0">
              <a:spcAft>
                <a:spcPts val="5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study was rebuilt around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content, timing and infrastructure</a:t>
            </a:r>
            <a:pPr indent="0" marL="0">
              <a:spcAft>
                <a:spcPts val="5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what the data can carry.</a:t>
            </a:r>
            <a:endParaRPr lang="en-US" sz="20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13/40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when this report says “coordinated”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means one thing, and the room should hear only that thing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10881360" cy="868680"/>
          </a:xfrm>
          <a:prstGeom prst="roundRect">
            <a:avLst>
              <a:gd name="adj" fmla="val 5263"/>
            </a:avLst>
          </a:prstGeom>
          <a:solidFill>
            <a:srgbClr val="EFEB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69164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text, verbatim, reposted across several distinct communities, in a temporal pattern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tighter than chance predicts.</a:t>
            </a:r>
            <a:endParaRPr lang="en-US" sz="202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as “verbatim-repeated across spaces” — and no more. Equally consistent with:</a:t>
            </a:r>
            <a:endParaRPr lang="en-US" sz="2020" dirty="0"/>
          </a:p>
        </p:txBody>
      </p:sp>
      <p:sp>
        <p:nvSpPr>
          <p:cNvPr id="11" name="Shape 9"/>
          <p:cNvSpPr/>
          <p:nvPr/>
        </p:nvSpPr>
        <p:spPr>
          <a:xfrm>
            <a:off x="640080" y="3246120"/>
            <a:ext cx="2606040" cy="1691640"/>
          </a:xfrm>
          <a:prstGeom prst="roundRect">
            <a:avLst>
              <a:gd name="adj" fmla="val 2703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342900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organised campaign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6112" y="411480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reading people jump to.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one of four.</a:t>
            </a:r>
            <a:endParaRPr lang="en-US" sz="1590" dirty="0"/>
          </a:p>
        </p:txBody>
      </p:sp>
      <p:sp>
        <p:nvSpPr>
          <p:cNvPr id="14" name="Shape 12"/>
          <p:cNvSpPr/>
          <p:nvPr/>
        </p:nvSpPr>
        <p:spPr>
          <a:xfrm>
            <a:off x="3447288" y="3246120"/>
            <a:ext cx="2606040" cy="1691640"/>
          </a:xfrm>
          <a:prstGeom prst="roundRect">
            <a:avLst>
              <a:gd name="adj" fmla="val 270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03320" y="342900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people, loosely aligned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03320" y="411480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favouring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slogan.</a:t>
            </a:r>
            <a:endParaRPr lang="en-US" sz="1590" dirty="0"/>
          </a:p>
        </p:txBody>
      </p:sp>
      <p:sp>
        <p:nvSpPr>
          <p:cNvPr id="17" name="Shape 15"/>
          <p:cNvSpPr/>
          <p:nvPr/>
        </p:nvSpPr>
        <p:spPr>
          <a:xfrm>
            <a:off x="6254496" y="3246120"/>
            <a:ext cx="2606040" cy="1691640"/>
          </a:xfrm>
          <a:prstGeom prst="roundRect">
            <a:avLst>
              <a:gd name="adj" fmla="val 270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10528" y="342900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viral post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10528" y="411480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Quoted, screenshotted,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re-pasted at scale.</a:t>
            </a:r>
            <a:endParaRPr lang="en-US" sz="1590" dirty="0"/>
          </a:p>
        </p:txBody>
      </p:sp>
      <p:sp>
        <p:nvSpPr>
          <p:cNvPr id="20" name="Shape 18"/>
          <p:cNvSpPr/>
          <p:nvPr/>
        </p:nvSpPr>
        <p:spPr>
          <a:xfrm>
            <a:off x="9061704" y="3246120"/>
            <a:ext cx="2606040" cy="1691640"/>
          </a:xfrm>
          <a:prstGeom prst="roundRect">
            <a:avLst>
              <a:gd name="adj" fmla="val 270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17736" y="342900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mechanics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317736" y="411480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buttons, cross-posting,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moderation bots.</a:t>
            </a:r>
            <a:endParaRPr lang="en-US" sz="1590" dirty="0"/>
          </a:p>
        </p:txBody>
      </p:sp>
      <p:sp>
        <p:nvSpPr>
          <p:cNvPr id="23" name="Text 21"/>
          <p:cNvSpPr/>
          <p:nvPr/>
        </p:nvSpPr>
        <p:spPr>
          <a:xfrm>
            <a:off x="640080" y="51663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report identifies no one as responsible for anything. Crossing that line, even under pressure for a more dramatic finding, forfeits the trust that makes the rest usable.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14/40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FINDINGS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results I would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anywhere.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paired with the specific test that bounds it</a:t>
            </a:r>
            <a:endParaRPr lang="en-US" sz="17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15/40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 · COORDINATION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is real, and substantial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 · exact-duplicate clustering, then two filters that do real work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45920"/>
          <a:ext cx="62179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086600" y="1783080"/>
            <a:ext cx="44348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permutation null removed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pPr indent="0" marL="0">
              <a:spcAft>
                <a:spcPts val="10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flagged clusters.</a:t>
            </a:r>
            <a:endParaRPr lang="en-US" sz="202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duplicate-counting would have overstated coordination by nearly half.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44,214</a:t>
            </a:r>
            <a:pPr indent="0" marL="0">
              <a:spcAft>
                <a:spcPts val="10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crossed three or more community boundaries.</a:t>
            </a:r>
            <a:endParaRPr lang="en-US" sz="202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measure that means anything for platform integrity.</a:t>
            </a:r>
            <a:endParaRPr lang="en-US" sz="202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cluster: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239,336 items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one verbatim string.</a:t>
            </a:r>
            <a:endParaRPr lang="en-US" sz="202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§4.3–4.5. Median effect size 2.21 among survivors; q &lt; 0.05, Benjamini–Hochberg.</a:t>
            </a:r>
            <a:endParaRPr lang="en-US" sz="101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16/40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 · COORDINATION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every count is a floor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injected known campaigns into the real corpus, then reworded them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45920"/>
          <a:ext cx="64008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360920" y="1783080"/>
            <a:ext cx="416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campaign that varies its wording even slightly is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invisible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count here estimates true coordination.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is a high-precision floor, and the truth is very likely much larger.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comparison across time or platform compares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verbatim floors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group that paraphrases more merely looks less coordinated.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5120640"/>
            <a:ext cx="10881360" cy="868680"/>
          </a:xfrm>
          <a:prstGeom prst="roundRect">
            <a:avLst>
              <a:gd name="adj" fmla="val 5263"/>
            </a:avLst>
          </a:prstGeom>
          <a:solidFill>
            <a:srgbClr val="EFEB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516636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slide that makes the report honest —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is also the strongest funding case in it.</a:t>
            </a:r>
            <a:endParaRPr lang="en-US" sz="202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Table 15.A. 360 injected items per condition.</a:t>
            </a:r>
            <a:endParaRPr lang="en-US" sz="101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17/40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 · HARM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harm is commercial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 · precision-corrected floors, never raw cue-hits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2577008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769,601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49808" y="2212848"/>
            <a:ext cx="2357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scam cue-hits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correction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3418256" y="1645920"/>
            <a:ext cx="2577008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8256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0.208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27984" y="2212848"/>
            <a:ext cx="2357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gold-set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6196432" y="1645920"/>
            <a:ext cx="2577008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6432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~160,307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306160" y="2212848"/>
            <a:ext cx="2357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floor I actually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8974607" y="1645920"/>
            <a:ext cx="2577008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607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5.6×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084335" y="2212848"/>
            <a:ext cx="2357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 over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base rate</a:t>
            </a:r>
            <a:endParaRPr lang="en-US" sz="1230" dirty="0"/>
          </a:p>
        </p:txBody>
      </p:sp>
      <p:sp>
        <p:nvSpPr>
          <p:cNvPr id="20" name="Text 18"/>
          <p:cNvSpPr/>
          <p:nvPr/>
        </p:nvSpPr>
        <p:spPr>
          <a:xfrm>
            <a:off x="640080" y="315468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investments · job offers · giveaway impersonation · gambling · recovery scams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same shape: a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polite, transactional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message carrying a link that funnels the reader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off-platform into a private messaging app</a:t>
            </a:r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where nothing is observable at all.</a:t>
            </a:r>
            <a:endParaRPr lang="en-US" sz="2020" dirty="0"/>
          </a:p>
        </p:txBody>
      </p:sp>
      <p:sp>
        <p:nvSpPr>
          <p:cNvPr id="21" name="Shape 19"/>
          <p:cNvSpPr/>
          <p:nvPr/>
        </p:nvSpPr>
        <p:spPr>
          <a:xfrm>
            <a:off x="640080" y="4754880"/>
            <a:ext cx="10881360" cy="1188720"/>
          </a:xfrm>
          <a:prstGeom prst="roundRect">
            <a:avLst>
              <a:gd name="adj" fmla="val 3846"/>
            </a:avLst>
          </a:prstGeom>
          <a:solidFill>
            <a:srgbClr val="1F2A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8006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Politics is what everyone asks about. Fraud is what the data is full of.</a:t>
            </a:r>
            <a:endParaRPr lang="en-US" sz="238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§6 and §15.3. Gold set: 25 definite positives of 120 definite labels.</a:t>
            </a:r>
            <a:endParaRPr lang="en-US" sz="101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18/40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 · HARM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infrastructures, two lifecycles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· the signal that survives paraphrase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45920"/>
          <a:ext cx="64008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360920" y="1737360"/>
            <a:ext cx="416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20-fold gap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78.6%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tested burner domains were pushed in synchronised bursts.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survives rewording. Paraphrase defeats the text detector; it does not conjure a new domain.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from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domain data alone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no platform cooperation.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flag misfires on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10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oddly-named legitimate sites. A candidate generator, not a verdict.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91-day cycle is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in any single-year window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which is the next finding, arriving early.</a:t>
            </a:r>
            <a:endParaRPr lang="en-US" sz="202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§5.4–5.6 and §4.6. DGA synchrony: 55 of 70 domains at q &lt; 0.05.</a:t>
            </a:r>
            <a:endParaRPr lang="en-US" sz="101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19/40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3 · THE BLIND SPOT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systems cannot see the main harm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7 · a negative result about a common instrument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91640"/>
          <a:ext cx="52120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Chart 1" descr=""/>
          <p:cNvGraphicFramePr/>
          <p:nvPr/>
        </p:nvGraphicFramePr>
        <p:xfrm>
          <a:off x="6172200" y="1691640"/>
          <a:ext cx="53492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640080" y="4709160"/>
            <a:ext cx="10881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content is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 by design</a:t>
            </a:r>
            <a:pPr indent="0" marL="0">
              <a:spcAft>
                <a:spcPts val="8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It is optimised to pass exactly the classifier we trust to catch harm.</a:t>
            </a:r>
            <a:endParaRPr lang="en-US" sz="202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coverage gap that more compute closes. A safety system tuned to toxicity, harassment and hate will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systematically under-serve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market where commercial fraud is the principal measurable harm.</a:t>
            </a:r>
            <a:endParaRPr lang="en-US" sz="2020" dirty="0"/>
          </a:p>
        </p:txBody>
      </p:sp>
      <p:sp>
        <p:nvSpPr>
          <p:cNvPr id="11" name="Text 7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Chapter 7 (RQ-D) and §15.5.</a:t>
            </a:r>
            <a:endParaRPr lang="en-US" sz="101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20/40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3 · THE BLIND SPOT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blind spots are mirror images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is blind roughly where the other is strong</a:t>
            </a:r>
            <a:endParaRPr lang="en-US" sz="1590" dirty="0"/>
          </a:p>
        </p:txBody>
      </p:sp>
      <p:sp>
        <p:nvSpPr>
          <p:cNvPr id="8" name="Text 6"/>
          <p:cNvSpPr/>
          <p:nvPr/>
        </p:nvSpPr>
        <p:spPr>
          <a:xfrm>
            <a:off x="397764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&amp; infrastructure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6384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toxicity scoring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2240280"/>
            <a:ext cx="10881360" cy="1188720"/>
          </a:xfrm>
          <a:prstGeom prst="roundRect">
            <a:avLst>
              <a:gd name="adj" fmla="val 3846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514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&amp; funnel</a:t>
            </a:r>
            <a:endParaRPr lang="en-US" sz="2380" dirty="0"/>
          </a:p>
        </p:txBody>
      </p:sp>
      <p:sp>
        <p:nvSpPr>
          <p:cNvPr id="12" name="Text 10"/>
          <p:cNvSpPr/>
          <p:nvPr/>
        </p:nvSpPr>
        <p:spPr>
          <a:xfrm>
            <a:off x="397764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lift in the toolkit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86384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Weakest — scores below average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10881360" cy="1188720"/>
          </a:xfrm>
          <a:prstGeom prst="roundRect">
            <a:avLst>
              <a:gd name="adj" fmla="val 3846"/>
            </a:avLst>
          </a:prstGeom>
          <a:solidFill>
            <a:srgbClr val="E6E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8862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Xenophobia</a:t>
            </a:r>
            <a:endParaRPr lang="en-US" sz="2380" dirty="0"/>
          </a:p>
        </p:txBody>
      </p:sp>
      <p:sp>
        <p:nvSpPr>
          <p:cNvPr id="16" name="Text 14"/>
          <p:cNvSpPr/>
          <p:nvPr/>
        </p:nvSpPr>
        <p:spPr>
          <a:xfrm>
            <a:off x="3977640" y="3886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Near-organic, little structure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863840" y="3886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Comparatively well flagged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51663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layer alone gives a complete picture of either harm.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an argument for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</a:t>
            </a:r>
            <a:pPr indent="0" marL="0">
              <a:spcAft>
                <a:spcPts val="5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them — not for choosing between them.</a:t>
            </a:r>
            <a:endParaRPr lang="en-US" sz="20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21/40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4 · XENOPHOBIA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Xenophobia is pervasive, not concentrated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negative result, and the least comfortable one to deliver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737360"/>
          <a:ext cx="56692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6720840" y="18288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Xenophobia cue precision is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87%.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so is its base rate: roughly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definite labels in a random sample.</a:t>
            </a:r>
            <a:endParaRPr lang="en-US" sz="180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precision on a common phenomenon is not a detector. It is a thermometer.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 is not a needle in a haystack. It is a property of much of the hay — and you cannot address that by taking down a network, because there is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network to take down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4892040"/>
            <a:ext cx="10881360" cy="1051560"/>
          </a:xfrm>
          <a:prstGeom prst="roundRect">
            <a:avLst>
              <a:gd name="adj" fmla="val 4348"/>
            </a:avLst>
          </a:prstGeom>
          <a:solidFill>
            <a:srgbClr val="EFEB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4937760"/>
            <a:ext cx="10149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coordinated-campaign result would have been easier to deliver. It comes with an obvious intervention. This one does not, and saying so is part of the job.</a:t>
            </a:r>
            <a:endParaRPr lang="en-US" sz="202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§6.7 and §15.4. Gold set: 80 of 92 definite labels.</a:t>
            </a:r>
            <a:endParaRPr lang="en-US" sz="101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22/40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5 · TIME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year can invert the truth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methodological spine · three conclusions a 2025-only corpus would support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10881360" cy="1170432"/>
          </a:xfrm>
          <a:prstGeom prst="roundRect">
            <a:avLst>
              <a:gd name="adj" fmla="val 3906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94767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spam looks near-organic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754880" y="1874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4754880" y="23682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funnel lift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658368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13" name="Text 11"/>
          <p:cNvSpPr/>
          <p:nvPr/>
        </p:nvSpPr>
        <p:spPr>
          <a:xfrm>
            <a:off x="7132320" y="1874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</a:t>
            </a:r>
            <a:endParaRPr lang="en-US" sz="2380" dirty="0"/>
          </a:p>
        </p:txBody>
      </p:sp>
      <p:sp>
        <p:nvSpPr>
          <p:cNvPr id="14" name="Text 12"/>
          <p:cNvSpPr/>
          <p:nvPr/>
        </p:nvSpPr>
        <p:spPr>
          <a:xfrm>
            <a:off x="7132320" y="23682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funnel lift</a:t>
            </a:r>
            <a:endParaRPr lang="en-US" sz="1230" dirty="0"/>
          </a:p>
        </p:txBody>
      </p:sp>
      <p:sp>
        <p:nvSpPr>
          <p:cNvPr id="15" name="Text 13"/>
          <p:cNvSpPr/>
          <p:nvPr/>
        </p:nvSpPr>
        <p:spPr>
          <a:xfrm>
            <a:off x="9144000" y="1947672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9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inverted</a:t>
            </a:r>
            <a:endParaRPr lang="en-US" sz="1590" dirty="0"/>
          </a:p>
        </p:txBody>
      </p:sp>
      <p:sp>
        <p:nvSpPr>
          <p:cNvPr id="16" name="Shape 14"/>
          <p:cNvSpPr/>
          <p:nvPr/>
        </p:nvSpPr>
        <p:spPr>
          <a:xfrm>
            <a:off x="640080" y="2990088"/>
            <a:ext cx="10881360" cy="1170432"/>
          </a:xfrm>
          <a:prstGeom prst="roundRect">
            <a:avLst>
              <a:gd name="adj" fmla="val 390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2461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looks platform-balanced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317296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</a:t>
            </a:r>
            <a:endParaRPr lang="en-US" sz="2380" dirty="0"/>
          </a:p>
        </p:txBody>
      </p:sp>
      <p:sp>
        <p:nvSpPr>
          <p:cNvPr id="19" name="Text 17"/>
          <p:cNvSpPr/>
          <p:nvPr/>
        </p:nvSpPr>
        <p:spPr>
          <a:xfrm>
            <a:off x="4754880" y="36667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2025</a:t>
            </a:r>
            <a:endParaRPr lang="en-US" sz="1230" dirty="0"/>
          </a:p>
        </p:txBody>
      </p:sp>
      <p:sp>
        <p:nvSpPr>
          <p:cNvPr id="20" name="Text 18"/>
          <p:cNvSpPr/>
          <p:nvPr/>
        </p:nvSpPr>
        <p:spPr>
          <a:xfrm>
            <a:off x="6583680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21" name="Text 19"/>
          <p:cNvSpPr/>
          <p:nvPr/>
        </p:nvSpPr>
        <p:spPr>
          <a:xfrm>
            <a:off x="7132320" y="317296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FB-led</a:t>
            </a:r>
            <a:endParaRPr lang="en-US" sz="2380" dirty="0"/>
          </a:p>
        </p:txBody>
      </p:sp>
      <p:sp>
        <p:nvSpPr>
          <p:cNvPr id="22" name="Text 20"/>
          <p:cNvSpPr/>
          <p:nvPr/>
        </p:nvSpPr>
        <p:spPr>
          <a:xfrm>
            <a:off x="7132320" y="36667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2020</a:t>
            </a:r>
            <a:endParaRPr lang="en-US" sz="1230" dirty="0"/>
          </a:p>
        </p:txBody>
      </p:sp>
      <p:sp>
        <p:nvSpPr>
          <p:cNvPr id="23" name="Text 21"/>
          <p:cNvSpPr/>
          <p:nvPr/>
        </p:nvSpPr>
        <p:spPr>
          <a:xfrm>
            <a:off x="9144000" y="324612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9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inverted</a:t>
            </a:r>
            <a:endParaRPr lang="en-US" sz="1590" dirty="0"/>
          </a:p>
        </p:txBody>
      </p:sp>
      <p:sp>
        <p:nvSpPr>
          <p:cNvPr id="24" name="Shape 22"/>
          <p:cNvSpPr/>
          <p:nvPr/>
        </p:nvSpPr>
        <p:spPr>
          <a:xfrm>
            <a:off x="640080" y="4288536"/>
            <a:ext cx="10881360" cy="1170432"/>
          </a:xfrm>
          <a:prstGeom prst="roundRect">
            <a:avLst>
              <a:gd name="adj" fmla="val 390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454456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 infrastructure looks absent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754880" y="447141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2380" dirty="0"/>
          </a:p>
        </p:txBody>
      </p:sp>
      <p:sp>
        <p:nvSpPr>
          <p:cNvPr id="27" name="Text 25"/>
          <p:cNvSpPr/>
          <p:nvPr/>
        </p:nvSpPr>
        <p:spPr>
          <a:xfrm>
            <a:off x="4754880" y="49651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burner median</a:t>
            </a:r>
            <a:endParaRPr lang="en-US" sz="1230" dirty="0"/>
          </a:p>
        </p:txBody>
      </p:sp>
      <p:sp>
        <p:nvSpPr>
          <p:cNvPr id="28" name="Text 26"/>
          <p:cNvSpPr/>
          <p:nvPr/>
        </p:nvSpPr>
        <p:spPr>
          <a:xfrm>
            <a:off x="6583680" y="4608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29" name="Text 27"/>
          <p:cNvSpPr/>
          <p:nvPr/>
        </p:nvSpPr>
        <p:spPr>
          <a:xfrm>
            <a:off x="7132320" y="447141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1,865</a:t>
            </a:r>
            <a:endParaRPr lang="en-US" sz="2380" dirty="0"/>
          </a:p>
        </p:txBody>
      </p:sp>
      <p:sp>
        <p:nvSpPr>
          <p:cNvPr id="30" name="Text 28"/>
          <p:cNvSpPr/>
          <p:nvPr/>
        </p:nvSpPr>
        <p:spPr>
          <a:xfrm>
            <a:off x="7132320" y="49651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persistent median</a:t>
            </a:r>
            <a:endParaRPr lang="en-US" sz="1230" dirty="0"/>
          </a:p>
        </p:txBody>
      </p:sp>
      <p:sp>
        <p:nvSpPr>
          <p:cNvPr id="31" name="Text 29"/>
          <p:cNvSpPr/>
          <p:nvPr/>
        </p:nvSpPr>
        <p:spPr>
          <a:xfrm>
            <a:off x="9144000" y="45445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9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in one year</a:t>
            </a:r>
            <a:endParaRPr lang="en-US" sz="1590" dirty="0"/>
          </a:p>
        </p:txBody>
      </p:sp>
      <p:sp>
        <p:nvSpPr>
          <p:cNvPr id="32" name="Shape 30"/>
          <p:cNvSpPr/>
          <p:nvPr/>
        </p:nvSpPr>
        <p:spPr>
          <a:xfrm>
            <a:off x="640080" y="5669280"/>
            <a:ext cx="10881360" cy="777240"/>
          </a:xfrm>
          <a:prstGeom prst="roundRect">
            <a:avLst>
              <a:gd name="adj" fmla="val 5882"/>
            </a:avLst>
          </a:prstGeom>
          <a:solidFill>
            <a:srgbClr val="1F2A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51560" y="568756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Longitudinal span is not more data. It is a correction mechanism.</a:t>
            </a:r>
            <a:endParaRPr lang="en-US" sz="202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§15.7 and §16.2.</a:t>
            </a:r>
            <a:endParaRPr lang="en-US" sz="101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23/40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WORKED CASE · GE2025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election,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to finish.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mistake the pipeline caught before I published it</a:t>
            </a:r>
            <a:endParaRPr lang="en-US" sz="173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24/40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GE2025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pipeline, on one well-understood event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14 · the same four steps used everywhere else in the report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2487168" cy="1965960"/>
          </a:xfrm>
          <a:prstGeom prst="roundRect">
            <a:avLst>
              <a:gd name="adj" fmla="val 232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19202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2380" dirty="0"/>
          </a:p>
        </p:txBody>
      </p:sp>
      <p:sp>
        <p:nvSpPr>
          <p:cNvPr id="10" name="Text 8"/>
          <p:cNvSpPr/>
          <p:nvPr/>
        </p:nvSpPr>
        <p:spPr>
          <a:xfrm>
            <a:off x="896112" y="2450592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Exact-duplicate clustering,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multi-space filter</a:t>
            </a:r>
            <a:endParaRPr lang="en-US" sz="1590" dirty="0"/>
          </a:p>
        </p:txBody>
      </p:sp>
      <p:sp>
        <p:nvSpPr>
          <p:cNvPr id="11" name="Text 9"/>
          <p:cNvSpPr/>
          <p:nvPr/>
        </p:nvSpPr>
        <p:spPr>
          <a:xfrm>
            <a:off x="3145536" y="242316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12" name="Shape 10"/>
          <p:cNvSpPr/>
          <p:nvPr/>
        </p:nvSpPr>
        <p:spPr>
          <a:xfrm>
            <a:off x="3511296" y="1737360"/>
            <a:ext cx="2487168" cy="1965960"/>
          </a:xfrm>
          <a:prstGeom prst="roundRect">
            <a:avLst>
              <a:gd name="adj" fmla="val 232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67328" y="19202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</a:t>
            </a:r>
            <a:endParaRPr lang="en-US" sz="2380" dirty="0"/>
          </a:p>
        </p:txBody>
      </p:sp>
      <p:sp>
        <p:nvSpPr>
          <p:cNvPr id="14" name="Text 12"/>
          <p:cNvSpPr/>
          <p:nvPr/>
        </p:nvSpPr>
        <p:spPr>
          <a:xfrm>
            <a:off x="3767328" y="2450592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model, three passes,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 vote</a:t>
            </a:r>
            <a:endParaRPr lang="en-US" sz="1590" dirty="0"/>
          </a:p>
        </p:txBody>
      </p:sp>
      <p:sp>
        <p:nvSpPr>
          <p:cNvPr id="15" name="Text 13"/>
          <p:cNvSpPr/>
          <p:nvPr/>
        </p:nvSpPr>
        <p:spPr>
          <a:xfrm>
            <a:off x="6016752" y="242316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16" name="Shape 14"/>
          <p:cNvSpPr/>
          <p:nvPr/>
        </p:nvSpPr>
        <p:spPr>
          <a:xfrm>
            <a:off x="6382512" y="1737360"/>
            <a:ext cx="2487168" cy="1965960"/>
          </a:xfrm>
          <a:prstGeom prst="roundRect">
            <a:avLst>
              <a:gd name="adj" fmla="val 2326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38544" y="19202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2380" dirty="0"/>
          </a:p>
        </p:txBody>
      </p:sp>
      <p:sp>
        <p:nvSpPr>
          <p:cNvPr id="18" name="Text 16"/>
          <p:cNvSpPr/>
          <p:nvPr/>
        </p:nvSpPr>
        <p:spPr>
          <a:xfrm>
            <a:off x="6638544" y="2450592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deliberately worst-case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sample, as a gate</a:t>
            </a:r>
            <a:endParaRPr lang="en-US" sz="1590" dirty="0"/>
          </a:p>
        </p:txBody>
      </p:sp>
      <p:sp>
        <p:nvSpPr>
          <p:cNvPr id="19" name="Text 17"/>
          <p:cNvSpPr/>
          <p:nvPr/>
        </p:nvSpPr>
        <p:spPr>
          <a:xfrm>
            <a:off x="8887968" y="242316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20" name="Shape 18"/>
          <p:cNvSpPr/>
          <p:nvPr/>
        </p:nvSpPr>
        <p:spPr>
          <a:xfrm>
            <a:off x="9253728" y="1737360"/>
            <a:ext cx="2487168" cy="1965960"/>
          </a:xfrm>
          <a:prstGeom prst="roundRect">
            <a:avLst>
              <a:gd name="adj" fmla="val 232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09760" y="19202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2380" dirty="0"/>
          </a:p>
        </p:txBody>
      </p:sp>
      <p:sp>
        <p:nvSpPr>
          <p:cNvPr id="22" name="Text 20"/>
          <p:cNvSpPr/>
          <p:nvPr/>
        </p:nvSpPr>
        <p:spPr>
          <a:xfrm>
            <a:off x="9509760" y="2450592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re-label,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report v2</a:t>
            </a:r>
            <a:endParaRPr lang="en-US" sz="1590" dirty="0"/>
          </a:p>
        </p:txBody>
      </p:sp>
      <p:sp>
        <p:nvSpPr>
          <p:cNvPr id="23" name="Text 21"/>
          <p:cNvSpPr/>
          <p:nvPr/>
        </p:nvSpPr>
        <p:spPr>
          <a:xfrm>
            <a:off x="640080" y="39776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Political copypasta peaks in the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before Polling Day</a:t>
            </a:r>
            <a:pPr indent="0" marL="0">
              <a:spcAft>
                <a:spcPts val="7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collapses.</a:t>
            </a:r>
            <a:endParaRPr lang="en-US" sz="202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third box is the one people skip. It is the one that saved this chapter.</a:t>
            </a:r>
            <a:endParaRPr lang="en-US" sz="2020" dirty="0"/>
          </a:p>
        </p:txBody>
      </p:sp>
      <p:sp>
        <p:nvSpPr>
          <p:cNvPr id="24" name="Shape 22"/>
          <p:cNvSpPr/>
          <p:nvPr/>
        </p:nvSpPr>
        <p:spPr>
          <a:xfrm>
            <a:off x="640080" y="5074920"/>
            <a:ext cx="3503066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6636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49808" y="5641848"/>
            <a:ext cx="3283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coordination share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corpus</a:t>
            </a:r>
            <a:endParaRPr lang="en-US" sz="1230" dirty="0"/>
          </a:p>
        </p:txBody>
      </p:sp>
      <p:sp>
        <p:nvSpPr>
          <p:cNvPr id="27" name="Shape 25"/>
          <p:cNvSpPr/>
          <p:nvPr/>
        </p:nvSpPr>
        <p:spPr>
          <a:xfrm>
            <a:off x="4344314" y="5074920"/>
            <a:ext cx="3503066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44314" y="516636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22.0%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4454042" y="5641848"/>
            <a:ext cx="3283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peak, April 2025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read the next slide first</a:t>
            </a:r>
            <a:endParaRPr lang="en-US" sz="1230" dirty="0"/>
          </a:p>
        </p:txBody>
      </p:sp>
      <p:sp>
        <p:nvSpPr>
          <p:cNvPr id="30" name="Shape 28"/>
          <p:cNvSpPr/>
          <p:nvPr/>
        </p:nvSpPr>
        <p:spPr>
          <a:xfrm>
            <a:off x="8048549" y="5074920"/>
            <a:ext cx="3503066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48549" y="516636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8158277" y="5641848"/>
            <a:ext cx="3283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self-reported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confidence</a:t>
            </a:r>
            <a:endParaRPr lang="en-US" sz="1230" dirty="0"/>
          </a:p>
        </p:txBody>
      </p:sp>
      <p:sp>
        <p:nvSpPr>
          <p:cNvPr id="33" name="Text 31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Chapter 14 and §10.3.</a:t>
            </a:r>
            <a:endParaRPr lang="en-US" sz="101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25/40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GE2025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validation gate caught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3-billion-parameter model, confidently wrong in exactly one place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5257800" cy="3017520"/>
          </a:xfrm>
          <a:prstGeom prst="roundRect">
            <a:avLst>
              <a:gd name="adj" fmla="val 151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 · AS THE MODEL REPORTED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clusters · 1,925 items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1005840" y="278892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anti-opposition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on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pro/anti stance (80–100%)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with itself across all three passes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63640" y="1691640"/>
            <a:ext cx="5257800" cy="3017520"/>
          </a:xfrm>
          <a:prstGeom prst="roundRect">
            <a:avLst>
              <a:gd name="adj" fmla="val 1515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HUMAN REVIEWER FOUND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of 42 mislabelled — 38%</a:t>
            </a:r>
            <a:endParaRPr lang="en-US" sz="2380" dirty="0"/>
          </a:p>
        </p:txBody>
      </p:sp>
      <p:sp>
        <p:nvSpPr>
          <p:cNvPr id="15" name="Text 13"/>
          <p:cNvSpPr/>
          <p:nvPr/>
        </p:nvSpPr>
        <p:spPr>
          <a:xfrm>
            <a:off x="6629400" y="278892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Sarcastic anti-incumbent posts read as anti-opposition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structural commentary swept in with them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of the sixteen carried </a:t>
            </a:r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partisan valence at all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10881360" cy="1051560"/>
          </a:xfrm>
          <a:prstGeom prst="roundRect">
            <a:avLst>
              <a:gd name="adj" fmla="val 4348"/>
            </a:avLst>
          </a:prstGeom>
          <a:solidFill>
            <a:srgbClr val="1F2A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98348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Small-model labels are hypotheses, not measurements. </a:t>
            </a:r>
            <a:pPr indent="0" marL="0">
              <a:buNone/>
            </a:pPr>
            <a:r>
              <a:rPr lang="en-US" sz="2020" dirty="0">
                <a:solidFill>
                  <a:srgbClr val="C6CD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 is not correctness — it was most confident exactly where it was wrong.</a:t>
            </a:r>
            <a:endParaRPr lang="en-US" sz="202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§14.5–14.6 and §15.8. Model: Qwen2.5-3B, 3-pass majority.</a:t>
            </a:r>
            <a:endParaRPr lang="en-US" sz="101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26/40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GE2025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validated headline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v2 — the numbers I actually report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91640"/>
          <a:ext cx="5943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6903720" y="1783080"/>
            <a:ext cx="4617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: 1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cluster count ·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 : 1</a:t>
            </a:r>
            <a:pPr indent="0" marL="0">
              <a:spcAft>
                <a:spcPts val="10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item count</a:t>
            </a:r>
            <a:endParaRPr lang="en-US" sz="202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Pro-incumbent copypasta is a small set of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high-reach slogans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(73 items per cluster). Anti-incumbent is a wider variety of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critiques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(59 per cluster).</a:t>
            </a:r>
            <a:endParaRPr lang="en-US" sz="2020" dirty="0"/>
          </a:p>
        </p:txBody>
      </p:sp>
      <p:sp>
        <p:nvSpPr>
          <p:cNvPr id="10" name="Shape 7"/>
          <p:cNvSpPr/>
          <p:nvPr/>
        </p:nvSpPr>
        <p:spPr>
          <a:xfrm>
            <a:off x="6903720" y="3657600"/>
            <a:ext cx="4617720" cy="1051560"/>
          </a:xfrm>
          <a:prstGeom prst="roundRect">
            <a:avLst>
              <a:gd name="adj" fmla="val 4348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78040" y="3703320"/>
            <a:ext cx="4069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it is not: evidence of coordinated inauthentic behaviour, foreign interference, or manipulation.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4892040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High-volume criticism of a long-governing party at its most exposed moment is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pPr indent="0" marL="0">
              <a:spcAft>
                <a:spcPts val="7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a democracy. It is visible here only because some of it took verbatim, cross-space form.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week's largest raw cluster —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13,014 items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was Reddit AutoModerator boilerplate in a single space. </a:t>
            </a:r>
            <a:pPr indent="0" marL="0">
              <a:spcAft>
                <a:spcPts val="700"/>
              </a:spcAft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spread, never size.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§14.7 and §13.3.</a:t>
            </a:r>
            <a:endParaRPr lang="en-US" sz="101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27/40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PREPRINT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Hate has a different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in each language.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cross-lingual audit — the one piece of this work that is public</a:t>
            </a:r>
            <a:endParaRPr lang="en-US" sz="17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28/40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PREPRINT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targets, structural frames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8,561 candidates adjudicated · 2,190 confirmed hostile · three languages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91640"/>
          <a:ext cx="50292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989320" y="1783080"/>
            <a:ext cx="5532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language-specific. English hostility spreads broadly; Chinese concentrates on a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Malay–Chinese divide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Indonesian concentrates on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</a:t>
            </a:r>
            <a:pPr indent="0" marL="0">
              <a:spcAft>
                <a:spcPts val="9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</a:t>
            </a:r>
            <a:pPr indent="0" marL="0">
              <a:spcAft>
                <a:spcPts val="9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determined by the target's category, and are shared across communities.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Resonance</a:t>
            </a:r>
            <a:pPr indent="0" marL="0">
              <a:spcAft>
                <a:spcPts val="9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rewards nativist hostility over religious hostility.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Morals</a:t>
            </a:r>
            <a:pPr indent="0" marL="0">
              <a:spcAft>
                <a:spcPts val="9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lean in-group-protective — but under a labelling confound.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3704"/>
            </a:avLst>
          </a:prstGeom>
          <a:solidFill>
            <a:srgbClr val="EFEB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4754880"/>
            <a:ext cx="10149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four lenses replicate on the full 2020–2026 record. 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practical consequence: English-only monitoring systematically misses the Chinese- and Indonesian-language fault lines, because they target different groups entirely.</a:t>
            </a:r>
            <a:endParaRPr lang="en-US" sz="202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(2026), arXiv:2606.21996; CATOS report Chapter 9.</a:t>
            </a:r>
            <a:endParaRPr lang="en-US" sz="101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29/40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LESSONS · WHAT TRAVELS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Singapore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taught me.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stays behind. This is the part I hope does not.</a:t>
            </a:r>
            <a:endParaRPr lang="en-US" sz="173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30/40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gates, and what each one caught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them expensive. All three changed a headline.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10881360" cy="1298448"/>
          </a:xfrm>
          <a:prstGeom prst="roundRect">
            <a:avLst>
              <a:gd name="adj" fmla="val 3521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691640" y="192024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against a null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234086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detector gets a randomisation baseline and a sensitivity curve before its output is believed.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6675120" y="21031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flagged clusters, and reframed every count as a floor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3163824"/>
            <a:ext cx="10881360" cy="1298448"/>
          </a:xfrm>
          <a:prstGeom prst="roundRect">
            <a:avLst>
              <a:gd name="adj" fmla="val 3521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483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1691640" y="3346704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by measured precision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91640" y="3767328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raw count is multiplied through a gold-set precision estimate and reported as an explicit floor.</a:t>
            </a:r>
            <a:endParaRPr lang="en-US" sz="1230" dirty="0"/>
          </a:p>
        </p:txBody>
      </p:sp>
      <p:sp>
        <p:nvSpPr>
          <p:cNvPr id="17" name="Text 15"/>
          <p:cNvSpPr/>
          <p:nvPr/>
        </p:nvSpPr>
        <p:spPr>
          <a:xfrm>
            <a:off x="6675120" y="3529584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Turned 769,601 cue-hits into a defensible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160,307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0080" y="4590288"/>
            <a:ext cx="10881360" cy="1298448"/>
          </a:xfrm>
          <a:prstGeom prst="roundRect">
            <a:avLst>
              <a:gd name="adj" fmla="val 3521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9103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1691640" y="477316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against worst cases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91640" y="519379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label is checked against a deliberately adversarial human sample before it is reported.</a:t>
            </a:r>
            <a:endParaRPr lang="en-US" sz="1230" dirty="0"/>
          </a:p>
        </p:txBody>
      </p:sp>
      <p:sp>
        <p:nvSpPr>
          <p:cNvPr id="22" name="Text 20"/>
          <p:cNvSpPr/>
          <p:nvPr/>
        </p:nvSpPr>
        <p:spPr>
          <a:xfrm>
            <a:off x="6675120" y="495604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a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mislabel rate hiding behind 0.98 confidence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gate caught a real error that would otherwise have reached the headline.</a:t>
            </a:r>
            <a:endParaRPr lang="en-US" sz="202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31/40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spread, not size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spike in six years was a moderation bot talking to itself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737360"/>
          <a:ext cx="58521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6812280" y="182880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2025 shows a raw coordination share of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highest month in the corpus.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Event-anchoring traces the largest cluster to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space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Reddit's AutoModerator, posting rule text that is verbatim by construction.</a:t>
            </a:r>
            <a:endParaRPr lang="en-US" sz="180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trustworthy measure is the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multi-space fraction</a:t>
            </a:r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Raw size is a trap.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§10.4, §13.3 and §15.6.</a:t>
            </a:r>
            <a:endParaRPr lang="en-US" sz="101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32/40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things I'd tell whoever picks this up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report language — what I actually say to students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36776"/>
            <a:ext cx="10881360" cy="786384"/>
          </a:xfrm>
          <a:prstGeom prst="roundRect">
            <a:avLst>
              <a:gd name="adj" fmla="val 581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7373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80" dirty="0"/>
          </a:p>
        </p:txBody>
      </p:sp>
      <p:sp>
        <p:nvSpPr>
          <p:cNvPr id="10" name="Text 8"/>
          <p:cNvSpPr/>
          <p:nvPr/>
        </p:nvSpPr>
        <p:spPr>
          <a:xfrm>
            <a:off x="1508760" y="170992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floors, and say so every time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766560" y="170992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floor everyone understands beats an estimate nobody defends</a:t>
            </a:r>
            <a:endParaRPr lang="en-US" sz="1590" dirty="0"/>
          </a:p>
        </p:txBody>
      </p:sp>
      <p:sp>
        <p:nvSpPr>
          <p:cNvPr id="12" name="Text 10"/>
          <p:cNvSpPr/>
          <p:nvPr/>
        </p:nvSpPr>
        <p:spPr>
          <a:xfrm>
            <a:off x="914400" y="25146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380" dirty="0"/>
          </a:p>
        </p:txBody>
      </p:sp>
      <p:sp>
        <p:nvSpPr>
          <p:cNvPr id="13" name="Text 11"/>
          <p:cNvSpPr/>
          <p:nvPr/>
        </p:nvSpPr>
        <p:spPr>
          <a:xfrm>
            <a:off x="1508760" y="248716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use toxicity as a scam screen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766560" y="248716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harm here is polite. It is engineered to pass</a:t>
            </a:r>
            <a:endParaRPr lang="en-US" sz="1590" dirty="0"/>
          </a:p>
        </p:txBody>
      </p:sp>
      <p:sp>
        <p:nvSpPr>
          <p:cNvPr id="15" name="Shape 13"/>
          <p:cNvSpPr/>
          <p:nvPr/>
        </p:nvSpPr>
        <p:spPr>
          <a:xfrm>
            <a:off x="640080" y="3191256"/>
            <a:ext cx="10881360" cy="786384"/>
          </a:xfrm>
          <a:prstGeom prst="roundRect">
            <a:avLst>
              <a:gd name="adj" fmla="val 581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291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380" dirty="0"/>
          </a:p>
        </p:txBody>
      </p:sp>
      <p:sp>
        <p:nvSpPr>
          <p:cNvPr id="17" name="Text 15"/>
          <p:cNvSpPr/>
          <p:nvPr/>
        </p:nvSpPr>
        <p:spPr>
          <a:xfrm>
            <a:off x="1508760" y="326440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the model is confidently wrong somewhere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766560" y="326440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Sarcasm was the where. Next time it will be something else</a:t>
            </a:r>
            <a:endParaRPr lang="en-US" sz="1590" dirty="0"/>
          </a:p>
        </p:txBody>
      </p:sp>
      <p:sp>
        <p:nvSpPr>
          <p:cNvPr id="19" name="Text 17"/>
          <p:cNvSpPr/>
          <p:nvPr/>
        </p:nvSpPr>
        <p:spPr>
          <a:xfrm>
            <a:off x="914400" y="4069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380" dirty="0"/>
          </a:p>
        </p:txBody>
      </p:sp>
      <p:sp>
        <p:nvSpPr>
          <p:cNvPr id="20" name="Text 18"/>
          <p:cNvSpPr/>
          <p:nvPr/>
        </p:nvSpPr>
        <p:spPr>
          <a:xfrm>
            <a:off x="1508760" y="404164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more than one year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766560" y="404164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headline directions flipped at six years</a:t>
            </a:r>
            <a:endParaRPr lang="en-US" sz="1590" dirty="0"/>
          </a:p>
        </p:txBody>
      </p:sp>
      <p:sp>
        <p:nvSpPr>
          <p:cNvPr id="22" name="Shape 20"/>
          <p:cNvSpPr/>
          <p:nvPr/>
        </p:nvSpPr>
        <p:spPr>
          <a:xfrm>
            <a:off x="640080" y="4745736"/>
            <a:ext cx="10881360" cy="786384"/>
          </a:xfrm>
          <a:prstGeom prst="roundRect">
            <a:avLst>
              <a:gd name="adj" fmla="val 581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8463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380" dirty="0"/>
          </a:p>
        </p:txBody>
      </p:sp>
      <p:sp>
        <p:nvSpPr>
          <p:cNvPr id="24" name="Text 22"/>
          <p:cNvSpPr/>
          <p:nvPr/>
        </p:nvSpPr>
        <p:spPr>
          <a:xfrm>
            <a:off x="1508760" y="481888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negative results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766560" y="481888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report that only says what it found is not trustworthy</a:t>
            </a:r>
            <a:endParaRPr lang="en-US" sz="1590" dirty="0"/>
          </a:p>
        </p:txBody>
      </p:sp>
      <p:sp>
        <p:nvSpPr>
          <p:cNvPr id="26" name="Shape 24"/>
          <p:cNvSpPr/>
          <p:nvPr/>
        </p:nvSpPr>
        <p:spPr>
          <a:xfrm>
            <a:off x="640080" y="5577840"/>
            <a:ext cx="10881360" cy="777240"/>
          </a:xfrm>
          <a:prstGeom prst="roundRect">
            <a:avLst>
              <a:gd name="adj" fmla="val 5882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96128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negative-results chapter is the one I'd read first if someone handed me this report. It is Chapter 15.</a:t>
            </a:r>
            <a:endParaRPr lang="en-US" sz="202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33/40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would fund next, in order of leverage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gap is a specific, fundable capability — not a wish list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1965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80" dirty="0"/>
          </a:p>
        </p:txBody>
      </p:sp>
      <p:sp>
        <p:nvSpPr>
          <p:cNvPr id="10" name="Text 8"/>
          <p:cNvSpPr/>
          <p:nvPr/>
        </p:nvSpPr>
        <p:spPr>
          <a:xfrm>
            <a:off x="1508760" y="179222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Paraphrase-aware detection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166360" y="1792224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every floor into a bounded estimate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9692640" y="1792224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LEVERAGE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32888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66090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380" dirty="0"/>
          </a:p>
        </p:txBody>
      </p:sp>
      <p:sp>
        <p:nvSpPr>
          <p:cNvPr id="15" name="Text 13"/>
          <p:cNvSpPr/>
          <p:nvPr/>
        </p:nvSpPr>
        <p:spPr>
          <a:xfrm>
            <a:off x="1508760" y="263347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floors to prevalence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66360" y="2633472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work, not new collection</a:t>
            </a:r>
            <a:endParaRPr lang="en-US" sz="1230" dirty="0"/>
          </a:p>
        </p:txBody>
      </p:sp>
      <p:sp>
        <p:nvSpPr>
          <p:cNvPr id="17" name="Text 15"/>
          <p:cNvSpPr/>
          <p:nvPr/>
        </p:nvSpPr>
        <p:spPr>
          <a:xfrm>
            <a:off x="9692640" y="2633472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WIN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374136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50215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380" dirty="0"/>
          </a:p>
        </p:txBody>
      </p:sp>
      <p:sp>
        <p:nvSpPr>
          <p:cNvPr id="20" name="Text 18"/>
          <p:cNvSpPr/>
          <p:nvPr/>
        </p:nvSpPr>
        <p:spPr>
          <a:xfrm>
            <a:off x="1508760" y="347472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multi-model labelling stack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166360" y="3474720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modes published, not just accuracies</a:t>
            </a:r>
            <a:endParaRPr lang="en-US" sz="1230" dirty="0"/>
          </a:p>
        </p:txBody>
      </p:sp>
      <p:sp>
        <p:nvSpPr>
          <p:cNvPr id="22" name="Text 20"/>
          <p:cNvSpPr/>
          <p:nvPr/>
        </p:nvSpPr>
        <p:spPr>
          <a:xfrm>
            <a:off x="9692640" y="3474720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RIGOUR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215384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343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380" dirty="0"/>
          </a:p>
        </p:txBody>
      </p:sp>
      <p:sp>
        <p:nvSpPr>
          <p:cNvPr id="25" name="Text 23"/>
          <p:cNvSpPr/>
          <p:nvPr/>
        </p:nvSpPr>
        <p:spPr>
          <a:xfrm>
            <a:off x="1508760" y="431596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Instagram, TikTok, X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166360" y="4315968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but unanalysed; lead-lag is moving</a:t>
            </a:r>
            <a:endParaRPr lang="en-US" sz="1230" dirty="0"/>
          </a:p>
        </p:txBody>
      </p:sp>
      <p:sp>
        <p:nvSpPr>
          <p:cNvPr id="27" name="Text 25"/>
          <p:cNvSpPr/>
          <p:nvPr/>
        </p:nvSpPr>
        <p:spPr>
          <a:xfrm>
            <a:off x="9692640" y="4315968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WIDEST COVERAGE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056632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51846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380" dirty="0"/>
          </a:p>
        </p:txBody>
      </p:sp>
      <p:sp>
        <p:nvSpPr>
          <p:cNvPr id="30" name="Text 28"/>
          <p:cNvSpPr/>
          <p:nvPr/>
        </p:nvSpPr>
        <p:spPr>
          <a:xfrm>
            <a:off x="1508760" y="515721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Infrastructure-anchored monitoring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166360" y="5157216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91-day burner cycle needs a standing monitor</a:t>
            </a:r>
            <a:endParaRPr lang="en-US" sz="1230" dirty="0"/>
          </a:p>
        </p:txBody>
      </p:sp>
      <p:sp>
        <p:nvSpPr>
          <p:cNvPr id="32" name="Text 30"/>
          <p:cNvSpPr/>
          <p:nvPr/>
        </p:nvSpPr>
        <p:spPr>
          <a:xfrm>
            <a:off x="9692640" y="5157216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OPERATIONAL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" y="59436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first, then calibration, then labelling rigour, then coverage, then timeliness. Each arrives paired with the validation that bounds it — or it should not arrive at all.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§17.2.</a:t>
            </a:r>
            <a:endParaRPr lang="en-US" sz="101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34/40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SINGAPORE TAUGHT ME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came looking for the wrong thing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data spent six months telling me so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5257800" cy="3337560"/>
          </a:xfrm>
          <a:prstGeom prst="roundRect">
            <a:avLst>
              <a:gd name="adj" fmla="val 1370"/>
            </a:avLst>
          </a:prstGeom>
          <a:solidFill>
            <a:srgbClr val="E6E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65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ARRIVED EXPECTING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2860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 operations.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1005840" y="315468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Political manipulation, coordinated networks, an election to be defended.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years of my field points there.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63640" y="1737360"/>
            <a:ext cx="5257800" cy="3337560"/>
          </a:xfrm>
          <a:prstGeom prst="roundRect">
            <a:avLst>
              <a:gd name="adj" fmla="val 1370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965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KEPT SAYING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22860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Fraud, infrastructure,</a:t>
            </a:r>
            <a:endParaRPr lang="en-US" sz="2380" dirty="0"/>
          </a:p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language.</a:t>
            </a:r>
            <a:endParaRPr lang="en-US" sz="2380" dirty="0"/>
          </a:p>
        </p:txBody>
      </p:sp>
      <p:sp>
        <p:nvSpPr>
          <p:cNvPr id="15" name="Text 13"/>
          <p:cNvSpPr/>
          <p:nvPr/>
        </p:nvSpPr>
        <p:spPr>
          <a:xfrm>
            <a:off x="6629400" y="315468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harm is commercial.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durable signal is a domain, not a sentence.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lines differ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language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politics was real, bounded, and episodic. It was not the story.</a:t>
            </a:r>
            <a:endParaRPr lang="en-US" sz="202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35/40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SINGAPORE TAUGHT ME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correction that mattered most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did not come from a model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10881360" cy="1828800"/>
          </a:xfrm>
          <a:prstGeom prst="roundRect">
            <a:avLst>
              <a:gd name="adj" fmla="val 2500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18288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had the corpus down as Bahasa Indonesia. </a:t>
            </a:r>
            <a:pPr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colleague read the draft carefully and told me I was wrong — it is overwhelmingly Malay.</a:t>
            </a:r>
            <a:endParaRPr lang="en-US" sz="2380" dirty="0"/>
          </a:p>
        </p:txBody>
      </p:sp>
      <p:sp>
        <p:nvSpPr>
          <p:cNvPr id="10" name="Text 8"/>
          <p:cNvSpPr/>
          <p:nvPr/>
        </p:nvSpPr>
        <p:spPr>
          <a:xfrm>
            <a:off x="640080" y="3840480"/>
            <a:ext cx="108813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single correction changed a chapter, and it changed what the hate audit is allowed to claim.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amount of compute would have caught it. </a:t>
            </a:r>
            <a:pPr indent="0" marL="0">
              <a:spcAft>
                <a:spcPts val="1300"/>
              </a:spcAft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research centre would.</a:t>
            </a:r>
            <a:endParaRPr lang="en-US" sz="202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what CATOS was for me: a place where somebody knew the language, argued with my thresholds, checked my base rates, and told me when I had it wrong — early enough that it never reached print.</a:t>
            </a:r>
            <a:endParaRPr lang="en-US" sz="202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36/40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SINGAPORE TAUGHT ME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takeaways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everything else falls out of memory on the way to the lift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3502152" cy="3977640"/>
          </a:xfrm>
          <a:prstGeom prst="roundRect">
            <a:avLst>
              <a:gd name="adj" fmla="val 130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828800"/>
            <a:ext cx="3502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914400" y="292608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harm is commercial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914400" y="379476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beats politics, by volume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4434840"/>
            <a:ext cx="29535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is polite enough that toxicity classifiers score it below average</a:t>
            </a:r>
            <a:endParaRPr lang="en-US" sz="1590" dirty="0"/>
          </a:p>
        </p:txBody>
      </p:sp>
      <p:sp>
        <p:nvSpPr>
          <p:cNvPr id="13" name="Shape 11"/>
          <p:cNvSpPr/>
          <p:nvPr/>
        </p:nvSpPr>
        <p:spPr>
          <a:xfrm>
            <a:off x="4325112" y="1691640"/>
            <a:ext cx="3502152" cy="3977640"/>
          </a:xfrm>
          <a:prstGeom prst="roundRect">
            <a:avLst>
              <a:gd name="adj" fmla="val 130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828800"/>
            <a:ext cx="3502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600" dirty="0"/>
          </a:p>
        </p:txBody>
      </p:sp>
      <p:sp>
        <p:nvSpPr>
          <p:cNvPr id="15" name="Text 13"/>
          <p:cNvSpPr/>
          <p:nvPr/>
        </p:nvSpPr>
        <p:spPr>
          <a:xfrm>
            <a:off x="4599432" y="292608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count is a floor</a:t>
            </a:r>
            <a:endParaRPr lang="en-US" sz="2380" dirty="0"/>
          </a:p>
        </p:txBody>
      </p:sp>
      <p:sp>
        <p:nvSpPr>
          <p:cNvPr id="16" name="Text 14"/>
          <p:cNvSpPr/>
          <p:nvPr/>
        </p:nvSpPr>
        <p:spPr>
          <a:xfrm>
            <a:off x="4599432" y="379476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saying so is the point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9432" y="4434840"/>
            <a:ext cx="29535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floor everyone understands is worth more than an estimate nobody defends</a:t>
            </a:r>
            <a:endParaRPr lang="en-US" sz="1590" dirty="0"/>
          </a:p>
        </p:txBody>
      </p:sp>
      <p:sp>
        <p:nvSpPr>
          <p:cNvPr id="18" name="Shape 16"/>
          <p:cNvSpPr/>
          <p:nvPr/>
        </p:nvSpPr>
        <p:spPr>
          <a:xfrm>
            <a:off x="8010144" y="1691640"/>
            <a:ext cx="3502152" cy="3977640"/>
          </a:xfrm>
          <a:prstGeom prst="roundRect">
            <a:avLst>
              <a:gd name="adj" fmla="val 130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10144" y="1828800"/>
            <a:ext cx="3502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600" dirty="0"/>
          </a:p>
        </p:txBody>
      </p:sp>
      <p:sp>
        <p:nvSpPr>
          <p:cNvPr id="20" name="Text 18"/>
          <p:cNvSpPr/>
          <p:nvPr/>
        </p:nvSpPr>
        <p:spPr>
          <a:xfrm>
            <a:off x="8284464" y="292608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year can invert the truth</a:t>
            </a:r>
            <a:endParaRPr lang="en-US" sz="2380" dirty="0"/>
          </a:p>
        </p:txBody>
      </p:sp>
      <p:sp>
        <p:nvSpPr>
          <p:cNvPr id="21" name="Text 19"/>
          <p:cNvSpPr/>
          <p:nvPr/>
        </p:nvSpPr>
        <p:spPr>
          <a:xfrm>
            <a:off x="8284464" y="379476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long, or say you did not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284464" y="4434840"/>
            <a:ext cx="29535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headline directions flipped once six years were available</a:t>
            </a:r>
            <a:endParaRPr lang="en-US" sz="159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6916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640080" y="32461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Emilio Ferrara  ·  emiliofe@usc.edu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40233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data, the arguments, the corrections, and the year.</a:t>
            </a:r>
            <a:endParaRPr lang="en-US" sz="159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for Dr. Yinping Yang, who asked the questions this work tries to answer.</a:t>
            </a:r>
            <a:endParaRPr lang="en-US" sz="1590" dirty="0"/>
          </a:p>
        </p:txBody>
      </p:sp>
      <p:sp>
        <p:nvSpPr>
          <p:cNvPr id="6" name="Shape 4"/>
          <p:cNvSpPr/>
          <p:nvPr/>
        </p:nvSpPr>
        <p:spPr>
          <a:xfrm>
            <a:off x="8503920" y="1691640"/>
            <a:ext cx="3063240" cy="3566160"/>
          </a:xfrm>
          <a:prstGeom prst="roundRect">
            <a:avLst>
              <a:gd name="adj" fmla="val 149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0" y="19202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HANDED OVER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778240" y="233172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report</a:t>
            </a:r>
            <a:endParaRPr lang="en-US" sz="159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Preprint · arXiv:2606.21996</a:t>
            </a:r>
            <a:endParaRPr lang="en-US" sz="159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manifest</a:t>
            </a:r>
            <a:endParaRPr lang="en-US" sz="159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limitation, numbered</a:t>
            </a:r>
            <a:endParaRPr lang="en-US" sz="1590" dirty="0"/>
          </a:p>
        </p:txBody>
      </p:sp>
      <p:sp>
        <p:nvSpPr>
          <p:cNvPr id="9" name="Text 7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</a:t>
            </a:r>
            <a:endParaRPr lang="en-US" sz="94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38/40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and the coordination funnel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questions · every count is a floor unless stated otherwise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154,284,618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49808" y="225856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items, Jan 2020 – Jun 2026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3418256" y="169164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8256" y="178308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129,506,705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527984" y="225856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comments (84%)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6196432" y="169164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6432" y="178308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16,487,473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306160" y="225856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posts and comments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8974607" y="169164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607" y="178308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8,290,440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084335" y="225856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items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640080" y="288036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97180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858,728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749808" y="344728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exact-duplicate clusters, ≥5 items</a:t>
            </a:r>
            <a:endParaRPr lang="en-US" sz="1230" dirty="0"/>
          </a:p>
        </p:txBody>
      </p:sp>
      <p:sp>
        <p:nvSpPr>
          <p:cNvPr id="23" name="Shape 21"/>
          <p:cNvSpPr/>
          <p:nvPr/>
        </p:nvSpPr>
        <p:spPr>
          <a:xfrm>
            <a:off x="3418256" y="288036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18256" y="297180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50,124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3527984" y="344728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null (57.6% of 86,955)</a:t>
            </a:r>
            <a:endParaRPr lang="en-US" sz="1230" dirty="0"/>
          </a:p>
        </p:txBody>
      </p:sp>
      <p:sp>
        <p:nvSpPr>
          <p:cNvPr id="26" name="Shape 24"/>
          <p:cNvSpPr/>
          <p:nvPr/>
        </p:nvSpPr>
        <p:spPr>
          <a:xfrm>
            <a:off x="6196432" y="288036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96432" y="297180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44,214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6306160" y="344728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3 or more distinct spaces</a:t>
            </a:r>
            <a:endParaRPr lang="en-US" sz="1230" dirty="0"/>
          </a:p>
        </p:txBody>
      </p:sp>
      <p:sp>
        <p:nvSpPr>
          <p:cNvPr id="29" name="Shape 27"/>
          <p:cNvSpPr/>
          <p:nvPr/>
        </p:nvSpPr>
        <p:spPr>
          <a:xfrm>
            <a:off x="8974607" y="288036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74607" y="297180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239,336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084335" y="344728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in the largest single cluster</a:t>
            </a:r>
            <a:endParaRPr lang="en-US" sz="1230" dirty="0"/>
          </a:p>
        </p:txBody>
      </p:sp>
      <p:sp>
        <p:nvSpPr>
          <p:cNvPr id="32" name="Shape 30"/>
          <p:cNvSpPr/>
          <p:nvPr/>
        </p:nvSpPr>
        <p:spPr>
          <a:xfrm>
            <a:off x="640080" y="406908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16052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749808" y="463600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spaces</a:t>
            </a:r>
            <a:endParaRPr lang="en-US" sz="1230" dirty="0"/>
          </a:p>
        </p:txBody>
      </p:sp>
      <p:sp>
        <p:nvSpPr>
          <p:cNvPr id="35" name="Shape 33"/>
          <p:cNvSpPr/>
          <p:nvPr/>
        </p:nvSpPr>
        <p:spPr>
          <a:xfrm>
            <a:off x="3418256" y="406908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18256" y="416052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11,959,097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3527984" y="463600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URLs</a:t>
            </a:r>
            <a:endParaRPr lang="en-US" sz="1230" dirty="0"/>
          </a:p>
        </p:txBody>
      </p:sp>
      <p:sp>
        <p:nvSpPr>
          <p:cNvPr id="38" name="Shape 36"/>
          <p:cNvSpPr/>
          <p:nvPr/>
        </p:nvSpPr>
        <p:spPr>
          <a:xfrm>
            <a:off x="6196432" y="406908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96432" y="416052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105,022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6306160" y="463600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domains</a:t>
            </a:r>
            <a:endParaRPr lang="en-US" sz="1230" dirty="0"/>
          </a:p>
        </p:txBody>
      </p:sp>
      <p:sp>
        <p:nvSpPr>
          <p:cNvPr id="41" name="Shape 39"/>
          <p:cNvSpPr/>
          <p:nvPr/>
        </p:nvSpPr>
        <p:spPr>
          <a:xfrm>
            <a:off x="8974607" y="406908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974607" y="416052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2.21</a:t>
            </a:r>
            <a:endParaRPr lang="en-US" sz="2100" dirty="0"/>
          </a:p>
        </p:txBody>
      </p:sp>
      <p:sp>
        <p:nvSpPr>
          <p:cNvPr id="43" name="Text 41"/>
          <p:cNvSpPr/>
          <p:nvPr/>
        </p:nvSpPr>
        <p:spPr>
          <a:xfrm>
            <a:off x="9084335" y="463600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effect size among survivors</a:t>
            </a:r>
            <a:endParaRPr lang="en-US" sz="1230" dirty="0"/>
          </a:p>
        </p:txBody>
      </p:sp>
      <p:sp>
        <p:nvSpPr>
          <p:cNvPr id="44" name="Text 42"/>
          <p:cNvSpPr/>
          <p:nvPr/>
        </p:nvSpPr>
        <p:spPr>
          <a:xfrm>
            <a:off x="640080" y="53035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recall across rewording: 0.500 → 0.375 → 0.067 → 0.011 at 0 / 10 / 20 / 40 percent.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§1.2, §4.3–4.6, Table 15.A.</a:t>
            </a:r>
            <a:endParaRPr lang="en-US" sz="101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39/40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Harm, infrastructure and time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numbers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~160,307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49808" y="225856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floor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769,601 cue-hits × 0.208 precision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4344314" y="169164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4314" y="178308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~256,573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54042" y="225856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xenophobia floor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295,048 cue-hits × 0.870 precision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8048549" y="169164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8549" y="178308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5.6× / 1.4×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158277" y="225856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vs xenophobia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640080" y="310896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20040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0.152 / 0.163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49808" y="367588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toxicity vs corpus mean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scoring, Reddit only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4344314" y="310896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44314" y="320040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/ 1,865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454042" y="367588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burner vs persistent domain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lifespan, days</a:t>
            </a:r>
            <a:endParaRPr lang="en-US" sz="1230" dirty="0"/>
          </a:p>
        </p:txBody>
      </p:sp>
      <p:sp>
        <p:nvSpPr>
          <p:cNvPr id="23" name="Shape 21"/>
          <p:cNvSpPr/>
          <p:nvPr/>
        </p:nvSpPr>
        <p:spPr>
          <a:xfrm>
            <a:off x="8048549" y="310896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8549" y="320040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78.6%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8158277" y="367588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DGA synchrony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of 70 domains at q &lt; 0.05</a:t>
            </a:r>
            <a:endParaRPr lang="en-US" sz="1230" dirty="0"/>
          </a:p>
        </p:txBody>
      </p:sp>
      <p:sp>
        <p:nvSpPr>
          <p:cNvPr id="26" name="Shape 24"/>
          <p:cNvSpPr/>
          <p:nvPr/>
        </p:nvSpPr>
        <p:spPr>
          <a:xfrm>
            <a:off x="640080" y="452628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61772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 → 0.19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749808" y="509320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lift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→ 2025</a:t>
            </a:r>
            <a:endParaRPr lang="en-US" sz="1230" dirty="0"/>
          </a:p>
        </p:txBody>
      </p:sp>
      <p:sp>
        <p:nvSpPr>
          <p:cNvPr id="29" name="Shape 27"/>
          <p:cNvSpPr/>
          <p:nvPr/>
        </p:nvSpPr>
        <p:spPr>
          <a:xfrm>
            <a:off x="4344314" y="452628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44314" y="461772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 / 22.0%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4454042" y="509320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share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/ raw peak (Apr 2025)</a:t>
            </a:r>
            <a:endParaRPr lang="en-US" sz="1230" dirty="0"/>
          </a:p>
        </p:txBody>
      </p:sp>
      <p:sp>
        <p:nvSpPr>
          <p:cNvPr id="32" name="Shape 30"/>
          <p:cNvSpPr/>
          <p:nvPr/>
        </p:nvSpPr>
        <p:spPr>
          <a:xfrm>
            <a:off x="8048549" y="452628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8549" y="461772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2,190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8158277" y="509320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hostile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8,561 adjudicated</a:t>
            </a:r>
            <a:endParaRPr lang="en-US" sz="123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§5–7, §10–13, Chapter 9; arXiv:2606.21996.</a:t>
            </a:r>
            <a:endParaRPr lang="en-US" sz="101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40/40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study cannot do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15 · stated so that no finding is over-read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93852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attribution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257860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actor, group or state is identified. Structural, not cautious.</a:t>
            </a:r>
            <a:endParaRPr lang="en-US" sz="1590" dirty="0"/>
          </a:p>
        </p:txBody>
      </p:sp>
      <p:sp>
        <p:nvSpPr>
          <p:cNvPr id="11" name="Shape 9"/>
          <p:cNvSpPr/>
          <p:nvPr/>
        </p:nvSpPr>
        <p:spPr>
          <a:xfrm>
            <a:off x="4325112" y="173736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193852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prevalence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99432" y="257860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are floors, never population rates.</a:t>
            </a:r>
            <a:endParaRPr lang="en-US" sz="1590" dirty="0"/>
          </a:p>
        </p:txBody>
      </p:sp>
      <p:sp>
        <p:nvSpPr>
          <p:cNvPr id="14" name="Shape 12"/>
          <p:cNvSpPr/>
          <p:nvPr/>
        </p:nvSpPr>
        <p:spPr>
          <a:xfrm>
            <a:off x="8010144" y="173736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84464" y="193852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paraphrased coordination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84464" y="257860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falls to 0.011 at 40% rewording.</a:t>
            </a:r>
            <a:endParaRPr lang="en-US" sz="1590" dirty="0"/>
          </a:p>
        </p:txBody>
      </p:sp>
      <p:sp>
        <p:nvSpPr>
          <p:cNvPr id="17" name="Shape 15"/>
          <p:cNvSpPr/>
          <p:nvPr/>
        </p:nvSpPr>
        <p:spPr>
          <a:xfrm>
            <a:off x="640080" y="361188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81304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inauthenticity claim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445312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 is measured. Intent and automation are not.</a:t>
            </a:r>
            <a:endParaRPr lang="en-US" sz="1590" dirty="0"/>
          </a:p>
        </p:txBody>
      </p:sp>
      <p:sp>
        <p:nvSpPr>
          <p:cNvPr id="20" name="Shape 18"/>
          <p:cNvSpPr/>
          <p:nvPr/>
        </p:nvSpPr>
        <p:spPr>
          <a:xfrm>
            <a:off x="4325112" y="361188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99432" y="381304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platform coverage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599432" y="445312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Instagram, TikTok and X delivered but unanalysed.</a:t>
            </a:r>
            <a:endParaRPr lang="en-US" sz="1590" dirty="0"/>
          </a:p>
        </p:txBody>
      </p:sp>
      <p:sp>
        <p:nvSpPr>
          <p:cNvPr id="23" name="Shape 21"/>
          <p:cNvSpPr/>
          <p:nvPr/>
        </p:nvSpPr>
        <p:spPr>
          <a:xfrm>
            <a:off x="8010144" y="361188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84464" y="381304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is not incidence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84464" y="445312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Safety-screen indicators have unknown precision.</a:t>
            </a:r>
            <a:endParaRPr lang="en-US" sz="1590" dirty="0"/>
          </a:p>
        </p:txBody>
      </p:sp>
      <p:sp>
        <p:nvSpPr>
          <p:cNvPr id="26" name="Text 24"/>
          <p:cNvSpPr/>
          <p:nvPr/>
        </p:nvSpPr>
        <p:spPr>
          <a:xfrm>
            <a:off x="640080" y="55778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thresholds (q &lt; 0.05, Benjamini–Hochberg) control the false-discovery rate across a tested population. They do not certify any individual cluster, URL or domain.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A*STAR — Institute of High Performance Computing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the Data Says, and What Singapore Taught Me</dc:title>
  <dc:subject>PptxGenJS Presentation</dc:subject>
  <dc:creator>Emilio Ferrara</dc:creator>
  <cp:lastModifiedBy>Emilio Ferrara</cp:lastModifiedBy>
  <cp:revision>1</cp:revision>
  <dcterms:created xsi:type="dcterms:W3CDTF">2026-08-03T11:26:28Z</dcterms:created>
  <dcterms:modified xsi:type="dcterms:W3CDTF">2026-08-03T11:26:28Z</dcterms:modified>
</cp:coreProperties>
</file>