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4.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5.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7161A"/>
                </a:solidFill>
                <a:latin typeface="Calibri"/>
              </a:defRPr>
            </a:pPr>
            <a:r>
              <a:rPr sz="1200" b="0" i="0" u="none" strike="noStrike">
                <a:solidFill>
                  <a:srgbClr val="17161A"/>
                </a:solidFill>
                <a:latin typeface="Calibri"/>
              </a:rPr>
              <a:t>Corpus composition (millions of items)</a:t>
            </a:r>
          </a:p>
        </c:rich>
      </c:tx>
      <c:layout/>
      <c:overlay val="0"/>
    </c:title>
    <c:autoTitleDeleted val="0"/>
    <c:plotArea>
      <c:layout/>
      <c:barChart>
        <c:barDir val="bar"/>
        <c:grouping val="clustered"/>
        <c:varyColors val="0"/>
        <c:ser>
          <c:idx val="0"/>
          <c:order val="0"/>
          <c:tx>
            <c:strRef>
              <c:f>Sheet1!$B$1</c:f>
              <c:strCache>
                <c:ptCount val="1"/>
                <c:pt idx="0">
                  <c:v>Items (millions)</c:v>
                </c:pt>
              </c:strCache>
            </c:strRef>
          </c:tx>
          <c:spPr>
            <a:solidFill>
              <a:srgbClr val="C4432A"/>
            </a:solidFill>
            <a:effectLst/>
          </c:spPr>
          <c:invertIfNegative val="0"/>
          <c:dLbls>
            <c:numFmt formatCode="#,##0" sourceLinked="0"/>
            <c:txPr>
              <a:bodyPr/>
              <a:lstStyle/>
              <a:p>
                <a:pPr>
                  <a:defRPr b="0" i="0" strike="noStrike" sz="1100" u="none">
                    <a:solidFill>
                      <a:srgbClr val="55525C"/>
                    </a:solidFill>
                    <a:latin typeface="Calibri"/>
                  </a:defRPr>
                </a:pPr>
              </a:p>
            </c:txPr>
            <c:showLegendKey val="0"/>
            <c:showVal val="1"/>
            <c:showCatName val="0"/>
            <c:showSerName val="0"/>
            <c:showPercent val="0"/>
            <c:showBubbleSize val="0"/>
            <c:showLeaderLines val="0"/>
          </c:dLbls>
          <c:dPt>
            <c:idx val="0"/>
            <c:invertIfNegative val="0"/>
            <c:bubble3D val="0"/>
            <c:spPr>
              <a:solidFill>
                <a:srgbClr val="C4432A"/>
              </a:solidFill>
              <a:effectLst/>
            </c:spPr>
          </c:dPt>
          <c:dPt>
            <c:idx val="1"/>
            <c:invertIfNegative val="0"/>
            <c:bubble3D val="0"/>
            <c:spPr>
              <a:solidFill>
                <a:srgbClr val="C4432A"/>
              </a:solidFill>
              <a:effectLst/>
            </c:spPr>
          </c:dPt>
          <c:dPt>
            <c:idx val="2"/>
            <c:invertIfNegative val="0"/>
            <c:bubble3D val="0"/>
            <c:spPr>
              <a:solidFill>
                <a:srgbClr val="C4432A"/>
              </a:solidFill>
              <a:effectLst/>
            </c:spPr>
          </c:dPt>
          <c:cat>
            <c:multiLvlStrRef>
              <c:f>Sheet1!$A$2:$A$4</c:f>
              <c:multiLvlStrCache>
                <c:ptCount val="3"/>
                <c:lvl>
                  <c:pt idx="0">
                    <c:v>Facebook</c:v>
                  </c:pt>
                  <c:pt idx="1">
                    <c:v>Reddit</c:v>
                  </c:pt>
                  <c:pt idx="2">
                    <c:v>YouTube</c:v>
                  </c:pt>
                </c:lvl>
              </c:multiLvlStrCache>
            </c:multiLvlStrRef>
          </c:cat>
          <c:val>
            <c:numRef>
              <c:f>Sheet1!$B$2:$B$4</c:f>
              <c:numCache>
                <c:formatCode>General</c:formatCode>
                <c:ptCount val="3"/>
                <c:pt idx="0">
                  <c:v>129.5</c:v>
                </c:pt>
                <c:pt idx="1">
                  <c:v>16.5</c:v>
                </c:pt>
                <c:pt idx="2">
                  <c:v>8.3</c:v>
                </c:pt>
              </c:numCache>
            </c:numRef>
          </c:val>
        </c:ser>
        <c:dLbls>
          <c:numFmt formatCode="#,##0" sourceLinked="0"/>
          <c:txPr>
            <a:bodyPr/>
            <a:lstStyle/>
            <a:p>
              <a:pPr>
                <a:defRPr b="0" i="0" strike="noStrike" sz="1100" u="none">
                  <a:solidFill>
                    <a:srgbClr val="55525C"/>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5525C"/>
                </a:solidFill>
                <a:latin typeface="Calibri"/>
              </a:defRPr>
            </a:pPr>
            <a:endParaRPr lang="en-US"/>
          </a:p>
        </c:txPr>
        <c:crossAx val="2094734552"/>
        <c:crosses val="autoZero"/>
        <c:auto val="1"/>
        <c:lblAlgn val="ctr"/>
        <c:noMultiLvlLbl val="1"/>
      </c:catAx>
      <c:valAx>
        <c:axId val="2094734552"/>
        <c:scaling>
          <c:orientation val="minMax"/>
          <c:max val="15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7161A"/>
                </a:solidFill>
                <a:latin typeface="Calibri"/>
              </a:defRPr>
            </a:pPr>
            <a:r>
              <a:rPr sz="1200" b="0" i="0" u="none" strike="noStrike">
                <a:solidFill>
                  <a:srgbClr val="17161A"/>
                </a:solidFill>
                <a:latin typeface="Calibri"/>
              </a:rPr>
              <a:t>Recall against progressively reworded injected campaigns</a:t>
            </a:r>
          </a:p>
        </c:rich>
      </c:tx>
      <c:layout/>
      <c:overlay val="0"/>
    </c:title>
    <c:autoTitleDeleted val="0"/>
    <c:plotArea>
      <c:layout/>
      <c:lineChart>
        <c:varyColors val="0"/>
        <c:ser>
          <c:idx val="0"/>
          <c:order val="0"/>
          <c:tx>
            <c:strRef>
              <c:f>Sheet1!$B$1</c:f>
              <c:strCache>
                <c:ptCount val="1"/>
                <c:pt idx="0">
                  <c:v>Detector recall</c:v>
                </c:pt>
              </c:strCache>
            </c:strRef>
          </c:tx>
          <c:spPr>
            <a:solidFill>
              <a:srgbClr val="C4432A"/>
            </a:solidFill>
            <a:ln w="38100" cap="flat">
              <a:solidFill>
                <a:srgbClr val="C4432A"/>
              </a:solidFill>
              <a:prstDash val="solid"/>
              <a:round/>
            </a:ln>
            <a:effectLst/>
          </c:spPr>
          <c:invertIfNegative val="0"/>
          <c:dLbls>
            <c:numFmt formatCode="0.000" sourceLinked="0"/>
            <c:txPr>
              <a:bodyPr/>
              <a:lstStyle/>
              <a:p>
                <a:pPr>
                  <a:defRPr b="0" i="0" strike="noStrike" sz="1100" u="none">
                    <a:solidFill>
                      <a:srgbClr val="17161A"/>
                    </a:solidFill>
                    <a:latin typeface="Calibri"/>
                  </a:defRPr>
                </a:pPr>
              </a:p>
            </c:txPr>
            <c:dLblPos val="t"/>
            <c:showLegendKey val="0"/>
            <c:showVal val="1"/>
            <c:showCatName val="0"/>
            <c:showSerName val="0"/>
            <c:showPercent val="0"/>
            <c:showBubbleSize val="0"/>
            <c:showLeaderLines val="0"/>
          </c:dLbls>
          <c:marker>
            <c:symbol val="circle"/>
            <c:size val="8"/>
            <c:spPr>
              <a:solidFill>
                <a:srgbClr val="C4432A"/>
              </a:solidFill>
              <a:ln w="9525" cap="flat">
                <a:solidFill>
                  <a:srgbClr val="C4432A"/>
                </a:solidFill>
                <a:prstDash val="solid"/>
                <a:round/>
              </a:ln>
              <a:effectLst/>
            </c:spPr>
          </c:marker>
          <c:cat>
            <c:multiLvlStrRef>
              <c:f>Sheet1!$A$2:$A$5</c:f>
              <c:multiLvlStrCache>
                <c:ptCount val="4"/>
                <c:lvl>
                  <c:pt idx="0">
                    <c:v>0% (verbatim)</c:v>
                  </c:pt>
                  <c:pt idx="1">
                    <c:v>10% reworded</c:v>
                  </c:pt>
                  <c:pt idx="2">
                    <c:v>20% reworded</c:v>
                  </c:pt>
                  <c:pt idx="3">
                    <c:v>40% reworded</c:v>
                  </c:pt>
                </c:lvl>
              </c:multiLvlStrCache>
            </c:multiLvlStrRef>
          </c:cat>
          <c:val>
            <c:numRef>
              <c:f>Sheet1!$B$2:$B$5</c:f>
              <c:numCache>
                <c:formatCode>General</c:formatCode>
                <c:ptCount val="4"/>
                <c:pt idx="0">
                  <c:v>0.5</c:v>
                </c:pt>
                <c:pt idx="1">
                  <c:v>0.375</c:v>
                </c:pt>
                <c:pt idx="2">
                  <c:v>0.067</c:v>
                </c:pt>
                <c:pt idx="3">
                  <c:v>0.011</c:v>
                </c:pt>
              </c:numCache>
            </c:numRef>
          </c:val>
          <c:smooth val="0"/>
        </c:ser>
        <c:dLbls>
          <c:numFmt formatCode="0.000" sourceLinked="0"/>
          <c:txPr>
            <a:bodyPr/>
            <a:lstStyle/>
            <a:p>
              <a:pPr>
                <a:defRPr b="0" i="0" strike="noStrike" sz="1100" u="none">
                  <a:solidFill>
                    <a:srgbClr val="17161A"/>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5525C"/>
                </a:solidFill>
                <a:latin typeface="Calibri"/>
              </a:defRPr>
            </a:pPr>
            <a:endParaRPr lang="en-US"/>
          </a:p>
        </c:txPr>
        <c:crossAx val="2094734552"/>
        <c:crosses val="autoZero"/>
        <c:auto val="1"/>
        <c:lblAlgn val="ctr"/>
        <c:noMultiLvlLbl val="1"/>
      </c:catAx>
      <c:valAx>
        <c:axId val="2094734552"/>
        <c:scaling>
          <c:orientation val="minMax"/>
          <c:max val="0.6"/>
        </c:scaling>
        <c:delete val="0"/>
        <c:axPos val="l"/>
        <c:majorGridlines>
          <c:spPr>
            <a:ln w="12700" cap="flat">
              <a:solidFill>
                <a:srgbClr val="E4E1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5525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7161A"/>
                </a:solidFill>
                <a:latin typeface="Calibri"/>
              </a:defRPr>
            </a:pPr>
            <a:r>
              <a:rPr sz="1200" b="0" i="0" u="none" strike="noStrike">
                <a:solidFill>
                  <a:srgbClr val="17161A"/>
                </a:solidFill>
                <a:latin typeface="Calibri"/>
              </a:rPr>
              <a:t>Median domain lifespan (days)</a:t>
            </a:r>
          </a:p>
        </c:rich>
      </c:tx>
      <c:layout/>
      <c:overlay val="0"/>
    </c:title>
    <c:autoTitleDeleted val="0"/>
    <c:plotArea>
      <c:layout/>
      <c:barChart>
        <c:barDir val="bar"/>
        <c:grouping val="clustered"/>
        <c:varyColors val="0"/>
        <c:ser>
          <c:idx val="0"/>
          <c:order val="0"/>
          <c:tx>
            <c:strRef>
              <c:f>Sheet1!$B$1</c:f>
              <c:strCache>
                <c:ptCount val="1"/>
                <c:pt idx="0">
                  <c:v>Median observed lifespan (days)</c:v>
                </c:pt>
              </c:strCache>
            </c:strRef>
          </c:tx>
          <c:spPr>
            <a:solidFill>
              <a:srgbClr val="C4432A"/>
            </a:solidFill>
            <a:effectLst/>
          </c:spPr>
          <c:invertIfNegative val="0"/>
          <c:dLbls>
            <c:numFmt formatCode="#,##0" sourceLinked="0"/>
            <c:txPr>
              <a:bodyPr/>
              <a:lstStyle/>
              <a:p>
                <a:pPr>
                  <a:defRPr b="0" i="0" strike="noStrike" sz="1200" u="none">
                    <a:solidFill>
                      <a:srgbClr val="17161A"/>
                    </a:solidFill>
                    <a:latin typeface="Calibri"/>
                  </a:defRPr>
                </a:pPr>
              </a:p>
            </c:txPr>
            <c:showLegendKey val="0"/>
            <c:showVal val="1"/>
            <c:showCatName val="0"/>
            <c:showSerName val="0"/>
            <c:showPercent val="0"/>
            <c:showBubbleSize val="0"/>
            <c:showLeaderLines val="0"/>
          </c:dLbls>
          <c:dPt>
            <c:idx val="0"/>
            <c:invertIfNegative val="0"/>
            <c:bubble3D val="0"/>
            <c:spPr>
              <a:solidFill>
                <a:srgbClr val="C4432A"/>
              </a:solidFill>
              <a:effectLst/>
            </c:spPr>
          </c:dPt>
          <c:dPt>
            <c:idx val="1"/>
            <c:invertIfNegative val="0"/>
            <c:bubble3D val="0"/>
            <c:spPr>
              <a:solidFill>
                <a:srgbClr val="27607A"/>
              </a:solidFill>
              <a:effectLst/>
            </c:spPr>
          </c:dPt>
          <c:cat>
            <c:multiLvlStrRef>
              <c:f>Sheet1!$A$2:$A$3</c:f>
              <c:multiLvlStrCache>
                <c:ptCount val="2"/>
                <c:lvl>
                  <c:pt idx="0">
                    <c:v>Disposable / algorithmically-named</c:v>
                  </c:pt>
                  <c:pt idx="1">
                    <c:v>Persistent domains</c:v>
                  </c:pt>
                </c:lvl>
              </c:multiLvlStrCache>
            </c:multiLvlStrRef>
          </c:cat>
          <c:val>
            <c:numRef>
              <c:f>Sheet1!$B$2:$B$3</c:f>
              <c:numCache>
                <c:formatCode>General</c:formatCode>
                <c:ptCount val="2"/>
                <c:pt idx="0">
                  <c:v>91</c:v>
                </c:pt>
                <c:pt idx="1">
                  <c:v>1865</c:v>
                </c:pt>
              </c:numCache>
            </c:numRef>
          </c:val>
        </c:ser>
        <c:dLbls>
          <c:numFmt formatCode="#,##0" sourceLinked="0"/>
          <c:txPr>
            <a:bodyPr/>
            <a:lstStyle/>
            <a:p>
              <a:pPr>
                <a:defRPr b="0" i="0" strike="noStrike" sz="1200" u="none">
                  <a:solidFill>
                    <a:srgbClr val="17161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5525C"/>
                </a:solidFill>
                <a:latin typeface="Calibri"/>
              </a:defRPr>
            </a:pPr>
            <a:endParaRPr lang="en-US"/>
          </a:p>
        </c:txPr>
        <c:crossAx val="2094734552"/>
        <c:crosses val="autoZero"/>
        <c:auto val="1"/>
        <c:lblAlgn val="ctr"/>
        <c:noMultiLvlLbl val="1"/>
      </c:catAx>
      <c:valAx>
        <c:axId val="2094734552"/>
        <c:scaling>
          <c:orientation val="minMax"/>
          <c:max val="21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7161A"/>
                </a:solidFill>
                <a:latin typeface="Calibri"/>
              </a:defRPr>
            </a:pPr>
            <a:r>
              <a:rPr sz="1200" b="0" i="0" u="none" strike="noStrike">
                <a:solidFill>
                  <a:srgbClr val="17161A"/>
                </a:solidFill>
                <a:latin typeface="Calibri"/>
              </a:rPr>
              <a:t>Cue precision relative to corpus base rate (×)</a:t>
            </a:r>
          </a:p>
        </c:rich>
      </c:tx>
      <c:layout/>
      <c:overlay val="0"/>
    </c:title>
    <c:autoTitleDeleted val="0"/>
    <c:plotArea>
      <c:layout/>
      <c:barChart>
        <c:barDir val="col"/>
        <c:grouping val="clustered"/>
        <c:varyColors val="0"/>
        <c:ser>
          <c:idx val="0"/>
          <c:order val="0"/>
          <c:tx>
            <c:strRef>
              <c:f>Sheet1!$B$1</c:f>
              <c:strCache>
                <c:ptCount val="1"/>
                <c:pt idx="0">
                  <c:v>Enrichment over base rate</c:v>
                </c:pt>
              </c:strCache>
            </c:strRef>
          </c:tx>
          <c:spPr>
            <a:solidFill>
              <a:srgbClr val="27607A"/>
            </a:solidFill>
            <a:effectLst/>
          </c:spPr>
          <c:invertIfNegative val="0"/>
          <c:dLbls>
            <c:numFmt formatCode="0.0&quot;×&quot;" sourceLinked="0"/>
            <c:txPr>
              <a:bodyPr/>
              <a:lstStyle/>
              <a:p>
                <a:pPr>
                  <a:defRPr b="0" i="0" strike="noStrike" sz="1300" u="none">
                    <a:solidFill>
                      <a:srgbClr val="17161A"/>
                    </a:solidFill>
                    <a:latin typeface="Calibri"/>
                  </a:defRPr>
                </a:pPr>
              </a:p>
            </c:txPr>
            <c:showLegendKey val="0"/>
            <c:showVal val="1"/>
            <c:showCatName val="0"/>
            <c:showSerName val="0"/>
            <c:showPercent val="0"/>
            <c:showBubbleSize val="0"/>
            <c:showLeaderLines val="0"/>
          </c:dLbls>
          <c:dPt>
            <c:idx val="0"/>
            <c:invertIfNegative val="0"/>
            <c:bubble3D val="0"/>
            <c:spPr>
              <a:solidFill>
                <a:srgbClr val="27607A"/>
              </a:solidFill>
              <a:effectLst/>
            </c:spPr>
          </c:dPt>
          <c:dPt>
            <c:idx val="1"/>
            <c:invertIfNegative val="0"/>
            <c:bubble3D val="0"/>
            <c:spPr>
              <a:solidFill>
                <a:srgbClr val="C4432A"/>
              </a:solidFill>
              <a:effectLst/>
            </c:spPr>
          </c:dPt>
          <c:cat>
            <c:multiLvlStrRef>
              <c:f>Sheet1!$A$2:$A$3</c:f>
              <c:multiLvlStrCache>
                <c:ptCount val="2"/>
                <c:lvl>
                  <c:pt idx="0">
                    <c:v>Scam cues</c:v>
                  </c:pt>
                  <c:pt idx="1">
                    <c:v>Xenophobia cues</c:v>
                  </c:pt>
                </c:lvl>
              </c:multiLvlStrCache>
            </c:multiLvlStrRef>
          </c:cat>
          <c:val>
            <c:numRef>
              <c:f>Sheet1!$B$2:$B$3</c:f>
              <c:numCache>
                <c:formatCode>General</c:formatCode>
                <c:ptCount val="2"/>
                <c:pt idx="0">
                  <c:v>5.6</c:v>
                </c:pt>
                <c:pt idx="1">
                  <c:v>1.4</c:v>
                </c:pt>
              </c:numCache>
            </c:numRef>
          </c:val>
        </c:ser>
        <c:dLbls>
          <c:numFmt formatCode="0.0&quot;×&quot;" sourceLinked="0"/>
          <c:txPr>
            <a:bodyPr/>
            <a:lstStyle/>
            <a:p>
              <a:pPr>
                <a:defRPr b="0" i="0" strike="noStrike" sz="1300" u="none">
                  <a:solidFill>
                    <a:srgbClr val="17161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25C"/>
                </a:solidFill>
                <a:latin typeface="Calibri"/>
              </a:defRPr>
            </a:pPr>
            <a:endParaRPr lang="en-US"/>
          </a:p>
        </c:txPr>
        <c:crossAx val="2094734552"/>
        <c:crosses val="autoZero"/>
        <c:auto val="1"/>
        <c:lblAlgn val="ctr"/>
        <c:noMultiLvlLbl val="1"/>
      </c:catAx>
      <c:valAx>
        <c:axId val="2094734552"/>
        <c:scaling>
          <c:orientation val="minMax"/>
          <c:max val="6.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7161A"/>
                </a:solidFill>
                <a:latin typeface="Calibri"/>
              </a:defRPr>
            </a:pPr>
            <a:r>
              <a:rPr sz="1200" b="0" i="0" u="none" strike="noStrike">
                <a:solidFill>
                  <a:srgbClr val="17161A"/>
                </a:solidFill>
                <a:latin typeface="Calibri"/>
              </a:rPr>
              <a:t>Copypasta clusters by stance (validated v2)</a:t>
            </a:r>
          </a:p>
        </c:rich>
      </c:tx>
      <c:layout/>
      <c:overlay val="0"/>
    </c:title>
    <c:autoTitleDeleted val="0"/>
    <c:plotArea>
      <c:layout/>
      <c:barChart>
        <c:barDir val="col"/>
        <c:grouping val="clustered"/>
        <c:varyColors val="0"/>
        <c:ser>
          <c:idx val="0"/>
          <c:order val="0"/>
          <c:tx>
            <c:strRef>
              <c:f>Sheet1!$B$1</c:f>
              <c:strCache>
                <c:ptCount val="1"/>
                <c:pt idx="0">
                  <c:v>Clusters</c:v>
                </c:pt>
              </c:strCache>
            </c:strRef>
          </c:tx>
          <c:spPr>
            <a:solidFill>
              <a:srgbClr val="C4432A"/>
            </a:solidFill>
            <a:effectLst/>
          </c:spPr>
          <c:invertIfNegative val="0"/>
          <c:dLbls>
            <c:numFmt formatCode="#,##0" sourceLinked="0"/>
            <c:txPr>
              <a:bodyPr/>
              <a:lstStyle/>
              <a:p>
                <a:pPr>
                  <a:defRPr b="0" i="0" strike="noStrike" sz="1300" u="none">
                    <a:solidFill>
                      <a:srgbClr val="17161A"/>
                    </a:solidFill>
                    <a:latin typeface="Calibri"/>
                  </a:defRPr>
                </a:pPr>
              </a:p>
            </c:txPr>
            <c:showLegendKey val="0"/>
            <c:showVal val="1"/>
            <c:showCatName val="0"/>
            <c:showSerName val="0"/>
            <c:showPercent val="0"/>
            <c:showBubbleSize val="0"/>
            <c:showLeaderLines val="0"/>
          </c:dLbls>
          <c:dPt>
            <c:idx val="0"/>
            <c:invertIfNegative val="0"/>
            <c:bubble3D val="0"/>
            <c:spPr>
              <a:solidFill>
                <a:srgbClr val="C4432A"/>
              </a:solidFill>
              <a:effectLst/>
            </c:spPr>
          </c:dPt>
          <c:dPt>
            <c:idx val="1"/>
            <c:invertIfNegative val="0"/>
            <c:bubble3D val="0"/>
            <c:spPr>
              <a:solidFill>
                <a:srgbClr val="27607A"/>
              </a:solidFill>
              <a:effectLst/>
            </c:spPr>
          </c:dPt>
          <c:cat>
            <c:multiLvlStrRef>
              <c:f>Sheet1!$A$2:$A$3</c:f>
              <c:multiLvlStrCache>
                <c:ptCount val="2"/>
                <c:lvl>
                  <c:pt idx="0">
                    <c:v>Anti-incumbent</c:v>
                  </c:pt>
                  <c:pt idx="1">
                    <c:v>Pro-incumbent</c:v>
                  </c:pt>
                </c:lvl>
              </c:multiLvlStrCache>
            </c:multiLvlStrRef>
          </c:cat>
          <c:val>
            <c:numRef>
              <c:f>Sheet1!$B$2:$B$3</c:f>
              <c:numCache>
                <c:formatCode>General</c:formatCode>
                <c:ptCount val="2"/>
                <c:pt idx="0">
                  <c:v>125</c:v>
                </c:pt>
                <c:pt idx="1">
                  <c:v>53</c:v>
                </c:pt>
              </c:numCache>
            </c:numRef>
          </c:val>
        </c:ser>
        <c:dLbls>
          <c:numFmt formatCode="#,##0" sourceLinked="0"/>
          <c:txPr>
            <a:bodyPr/>
            <a:lstStyle/>
            <a:p>
              <a:pPr>
                <a:defRPr b="0" i="0" strike="noStrike" sz="1300" u="none">
                  <a:solidFill>
                    <a:srgbClr val="17161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25C"/>
                </a:solidFill>
                <a:latin typeface="Calibri"/>
              </a:defRPr>
            </a:pPr>
            <a:endParaRPr lang="en-US"/>
          </a:p>
        </c:txPr>
        <c:crossAx val="2094734552"/>
        <c:crosses val="autoZero"/>
        <c:auto val="1"/>
        <c:lblAlgn val="ctr"/>
        <c:noMultiLvlLbl val="1"/>
      </c:catAx>
      <c:valAx>
        <c:axId val="2094734552"/>
        <c:scaling>
          <c:orientation val="minMax"/>
          <c:max val="15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warmly. This is a farewell, not a status report — but the way to say thank you to a research centre is to tell them honestly what the work found. Frame the hour: ~35 minutes, five parts, and I'll leave time for questions. Say up front: every number here is a floor, and I'll explain why that's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Say this slowly and simply — do not rush past it. Yinping commissioned the study; the dedication is printed at the front of the report. Then move on without ceremony; the rest of the talk is the 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45 seconds. Signal that Part 5 — lessons — is the part that matters most to them after I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was deliberately open. The one thing I committed to was the conservative posture: floors not prevalence, repetition not attribution. That posture is what makes the positive findings 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the grid — let them read it. Spend the time on the last line: the durable output of a visiting appointment is usually the connections, not the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everything in Part 3 depends on understanding this constraint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Facebook share now and call back to it on the safety blind-spot slide. The linguistic diversity is the reason this environment is worth studying and the reason it is hard to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for interpreting everything after it. Be blunt: I could not have done bot detection here if I had wanted to. The constraint forced a better-disciplined study than I would otherwise have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last line looking at the room. This is the discipline that lets a report like this be handed to a ministry without it becoming an accusation. It is also what stops the work being weaponised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substance section, roughly 12 minutes. Keep moving; the detail is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funnel is the story: 858K raw → 50K statistically survivable → 44K that actually crossed community boundaries. If you remember one number from this slide, remember 42% — that's what the null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the report honest. It also converts a limitation into a funding pitch — paraphrase-robust detection is the single highest-leverage gap, and I'll come back to it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correction: 769,601 raw cue-hits × 0.208 measured gold-set precision = the ~160K floor. I report the corrected floor, never the raw number. Anyone quoting 769,601 is quoting the wrong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bullet matters — I put a whole table in the report showing where the disposable-domain flag over-triggers, including recognisable publishers. Never present a heuristic as a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finding with the most direct operational consequence for CATOS partners. Recommendation I'd repeat to any regulator in the room: toxicity-classifier audits should test scam performance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slide, big point. The mismatch is the finding — it's the clearest architectural recommendation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coordinated-campaign result would have been a more comfortable finding to deliver — it comes with an obvious intervention. This one doesn't, and saying so is part of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room takes away one thing for how CATOS designs future monitoring, it should be this slide. The 2025-only predecessor corpus was not wrong — it was under-determined, and in two of three cases it pointed the wrong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5 minutes. The point of this section is the error, not the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 third box is highlighted deliberately — validation is the step people skip, and it is the step that saved this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as the most transferable slide in the deck. Irony is the failure mode, and it is exactly the register political speech uses. Any team doing LLM labelling on Singaporean political content will hit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right-hand column out loud, in full. This is the slide most likely to be screenshotted, and the caveat must travel with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light on detail — this is an appetiser, and the room can read the preprint. The one line worth landing: English-only monitoring systematically misses the Chinese- and Indonesian-language fault lines, because they target different groups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is the section with the longest half-life for the people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cheapness. None of these gates required new collection or new compute — they required deciding in advance that a result isn't finished until it has been attacked.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Conversational delivery. These are the things I actually say to students, not report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the leadership in the room. Every item maps to a specific limitation in Chapter 15 and to a specific section of Chapter 17. It is a fundable roadmap, not a wish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Raj here if it feels right — he caught the Malay / Bahasa Indonesia error on the June draft, and it changed a chapter. Genuine, specific credit lands better than general thanks.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Yinping, not on myself. Then open the floor. Anticipated questions: (1) can we share the corpus — CATOS internal, needs a decision above me; (2) can you name actors — no, and the report explains why that is structural, not cautious; (3) is the anti-incumbent skew evidence of interference —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 leave up during Q&amp;A rather than walking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Useful if anyone pushes for a claim the data can't support — point at the relevant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61A"/>
        </a:solidFill>
      </p:bgPr>
    </p:bg>
    <p:spTree>
      <p:nvGrpSpPr>
        <p:cNvPr id="1" name=""/>
        <p:cNvGrpSpPr/>
        <p:nvPr/>
      </p:nvGrpSpPr>
      <p:grpSpPr>
        <a:xfrm>
          <a:off x="0" y="0"/>
          <a:ext cx="0" cy="0"/>
          <a:chOff x="0" y="0"/>
          <a:chExt cx="0" cy="0"/>
        </a:xfrm>
      </p:grpSpPr>
      <p:sp>
        <p:nvSpPr>
          <p:cNvPr id="2" name="Text 0"/>
          <p:cNvSpPr/>
          <p:nvPr/>
        </p:nvSpPr>
        <p:spPr>
          <a:xfrm>
            <a:off x="640080" y="1234440"/>
            <a:ext cx="9144000" cy="274320"/>
          </a:xfrm>
          <a:prstGeom prst="rect">
            <a:avLst/>
          </a:prstGeom>
          <a:noFill/>
          <a:ln/>
        </p:spPr>
        <p:txBody>
          <a:bodyPr wrap="square" lIns="0" tIns="0" rIns="0" bIns="0" rtlCol="0" anchor="ctr"/>
          <a:lstStyle/>
          <a:p>
            <a:pPr indent="0" marL="0">
              <a:buNone/>
            </a:pPr>
            <a:r>
              <a:rPr lang="en-US" sz="1100" b="1" spc="200" kern="0" dirty="0">
                <a:solidFill>
                  <a:srgbClr val="8A8691"/>
                </a:solidFill>
                <a:latin typeface="Calibri" pitchFamily="34" charset="0"/>
                <a:ea typeface="Calibri" pitchFamily="34" charset="-122"/>
                <a:cs typeface="Calibri" pitchFamily="34" charset="-120"/>
              </a:rPr>
              <a:t>A*STAR · INSTITUTE OF HIGH PERFORMANCE COMPUTING</a:t>
            </a:r>
            <a:endParaRPr lang="en-US" sz="1100" dirty="0"/>
          </a:p>
        </p:txBody>
      </p:sp>
      <p:sp>
        <p:nvSpPr>
          <p:cNvPr id="3" name="Text 1"/>
          <p:cNvSpPr/>
          <p:nvPr/>
        </p:nvSpPr>
        <p:spPr>
          <a:xfrm>
            <a:off x="640080" y="1737360"/>
            <a:ext cx="9601200" cy="201168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What the Data Said,</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and What It Taught Us</a:t>
            </a:r>
            <a:endParaRPr lang="en-US" sz="5000" dirty="0"/>
          </a:p>
        </p:txBody>
      </p:sp>
      <p:sp>
        <p:nvSpPr>
          <p:cNvPr id="4" name="Text 2"/>
          <p:cNvSpPr/>
          <p:nvPr/>
        </p:nvSpPr>
        <p:spPr>
          <a:xfrm>
            <a:off x="640080" y="3931920"/>
            <a:ext cx="8138160" cy="914400"/>
          </a:xfrm>
          <a:prstGeom prst="rect">
            <a:avLst/>
          </a:prstGeom>
          <a:noFill/>
          <a:ln/>
        </p:spPr>
        <p:txBody>
          <a:bodyPr wrap="square" lIns="0" tIns="0" rIns="0" bIns="0" rtlCol="0" anchor="ctr"/>
          <a:lstStyle/>
          <a:p>
            <a:pPr indent="0" marL="0">
              <a:buNone/>
            </a:pPr>
            <a:r>
              <a:rPr lang="en-US" sz="1600" dirty="0">
                <a:solidFill>
                  <a:srgbClr val="B9B5BF"/>
                </a:solidFill>
                <a:latin typeface="Calibri" pitchFamily="34" charset="0"/>
                <a:ea typeface="Calibri" pitchFamily="34" charset="-122"/>
                <a:cs typeface="Calibri" pitchFamily="34" charset="-120"/>
              </a:rPr>
              <a:t>Closing remarks on a year with CATOS: 154 million posts, six and a half years, three platforms, and the findings I trust — with the reasons I trust them.</a:t>
            </a:r>
            <a:endParaRPr lang="en-US" sz="1600" dirty="0"/>
          </a:p>
        </p:txBody>
      </p:sp>
      <p:sp>
        <p:nvSpPr>
          <p:cNvPr id="5" name="Text 3"/>
          <p:cNvSpPr/>
          <p:nvPr/>
        </p:nvSpPr>
        <p:spPr>
          <a:xfrm>
            <a:off x="640080" y="5120640"/>
            <a:ext cx="8229600" cy="10058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Emilio Ferrara</a:t>
            </a:r>
            <a:endParaRPr lang="en-US" sz="1300" dirty="0"/>
          </a:p>
          <a:p>
            <a:pPr indent="0" marL="0">
              <a:buNone/>
            </a:pPr>
            <a:r>
              <a:rPr lang="en-US" sz="1300" dirty="0">
                <a:solidFill>
                  <a:srgbClr val="8A8691"/>
                </a:solidFill>
                <a:latin typeface="Calibri" pitchFamily="34" charset="0"/>
                <a:ea typeface="Calibri" pitchFamily="34" charset="-122"/>
                <a:cs typeface="Calibri" pitchFamily="34" charset="-120"/>
              </a:rPr>
              <a:t>Professor of Computer Science, University of Southern California</a:t>
            </a:r>
            <a:endParaRPr lang="en-US" sz="1300" dirty="0"/>
          </a:p>
          <a:p>
            <a:pPr indent="0" marL="0">
              <a:buNone/>
            </a:pPr>
            <a:r>
              <a:rPr lang="en-US" sz="1300" dirty="0">
                <a:solidFill>
                  <a:srgbClr val="8A8691"/>
                </a:solidFill>
                <a:latin typeface="Calibri" pitchFamily="34" charset="0"/>
                <a:ea typeface="Calibri" pitchFamily="34" charset="-122"/>
                <a:cs typeface="Calibri" pitchFamily="34" charset="-120"/>
              </a:rPr>
              <a:t>Visiting Scientist, CATOS · A*STAR IHPC   ·   August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640080" y="1965960"/>
            <a:ext cx="41148" cy="2194560"/>
          </a:xfrm>
          <a:prstGeom prst="rect">
            <a:avLst/>
          </a:prstGeom>
          <a:solidFill>
            <a:srgbClr val="C4432A"/>
          </a:solidFill>
          <a:ln w="12700">
            <a:solidFill>
              <a:srgbClr val="333333"/>
            </a:solidFill>
            <a:prstDash val="solid"/>
          </a:ln>
        </p:spPr>
      </p:sp>
      <p:sp>
        <p:nvSpPr>
          <p:cNvPr id="3" name="Text 1"/>
          <p:cNvSpPr/>
          <p:nvPr/>
        </p:nvSpPr>
        <p:spPr>
          <a:xfrm>
            <a:off x="1051560" y="1965960"/>
            <a:ext cx="8595360" cy="1097280"/>
          </a:xfrm>
          <a:prstGeom prst="rect">
            <a:avLst/>
          </a:prstGeom>
          <a:noFill/>
          <a:ln/>
        </p:spPr>
        <p:txBody>
          <a:bodyPr wrap="square" lIns="0" tIns="0" rIns="0" bIns="0" rtlCol="0" anchor="ctr"/>
          <a:lstStyle/>
          <a:p>
            <a:pPr indent="0" marL="0">
              <a:lnSpc>
                <a:spcPts val="3400"/>
              </a:lnSpc>
              <a:buNone/>
            </a:pPr>
            <a:r>
              <a:rPr lang="en-US" sz="2600" b="1" dirty="0">
                <a:solidFill>
                  <a:srgbClr val="FFFFFF"/>
                </a:solidFill>
                <a:latin typeface="Cambria" pitchFamily="34" charset="0"/>
                <a:ea typeface="Cambria" pitchFamily="34" charset="-122"/>
                <a:cs typeface="Cambria" pitchFamily="34" charset="-120"/>
              </a:rPr>
              <a:t>This work was commissioned by Dr. Yinping Yang</a:t>
            </a:r>
            <a:endParaRPr lang="en-US" sz="2600" dirty="0"/>
          </a:p>
          <a:p>
            <a:pPr indent="0" marL="0">
              <a:lnSpc>
                <a:spcPts val="3400"/>
              </a:lnSpc>
              <a:buNone/>
            </a:pPr>
            <a:r>
              <a:rPr lang="en-US" sz="2600" b="1" dirty="0">
                <a:solidFill>
                  <a:srgbClr val="FFFFFF"/>
                </a:solidFill>
                <a:latin typeface="Cambria" pitchFamily="34" charset="0"/>
                <a:ea typeface="Cambria" pitchFamily="34" charset="-122"/>
                <a:cs typeface="Cambria" pitchFamily="34" charset="-120"/>
              </a:rPr>
              <a:t>in her capacity as CATOS Director.</a:t>
            </a:r>
            <a:endParaRPr lang="en-US" sz="2600" dirty="0"/>
          </a:p>
        </p:txBody>
      </p:sp>
      <p:sp>
        <p:nvSpPr>
          <p:cNvPr id="4" name="Text 2"/>
          <p:cNvSpPr/>
          <p:nvPr/>
        </p:nvSpPr>
        <p:spPr>
          <a:xfrm>
            <a:off x="1051560" y="3200400"/>
            <a:ext cx="8138160" cy="1463040"/>
          </a:xfrm>
          <a:prstGeom prst="rect">
            <a:avLst/>
          </a:prstGeom>
          <a:noFill/>
          <a:ln/>
        </p:spPr>
        <p:txBody>
          <a:bodyPr wrap="square" lIns="0" tIns="0" rIns="0" bIns="0" rtlCol="0" anchor="ctr"/>
          <a:lstStyle/>
          <a:p>
            <a:pPr indent="0" marL="0">
              <a:lnSpc>
                <a:spcPts val="2400"/>
              </a:lnSpc>
              <a:buNone/>
            </a:pPr>
            <a:r>
              <a:rPr lang="en-US" sz="1600" dirty="0">
                <a:solidFill>
                  <a:srgbClr val="B9B5BF"/>
                </a:solidFill>
                <a:latin typeface="Calibri" pitchFamily="34" charset="0"/>
                <a:ea typeface="Calibri" pitchFamily="34" charset="-122"/>
                <a:cs typeface="Calibri" pitchFamily="34" charset="-120"/>
              </a:rPr>
              <a:t>The report is dedicated to her memory, with the hope that it captured some of her vision and her commitment to understanding online harm in the Singapore information ecosystem.</a:t>
            </a:r>
            <a:endParaRPr lang="en-US" sz="1600" dirty="0"/>
          </a:p>
          <a:p>
            <a:pPr indent="0" marL="0">
              <a:lnSpc>
                <a:spcPts val="2400"/>
              </a:lnSpc>
              <a:buNone/>
            </a:pPr>
            <a:endParaRPr lang="en-US" sz="1600" dirty="0"/>
          </a:p>
          <a:p>
            <a:pPr indent="0" marL="0">
              <a:lnSpc>
                <a:spcPts val="2400"/>
              </a:lnSpc>
              <a:buNone/>
            </a:pPr>
            <a:r>
              <a:rPr lang="en-US" sz="1600" dirty="0">
                <a:solidFill>
                  <a:srgbClr val="B9B5BF"/>
                </a:solidFill>
                <a:latin typeface="Calibri" pitchFamily="34" charset="0"/>
                <a:ea typeface="Calibri" pitchFamily="34" charset="-122"/>
                <a:cs typeface="Calibri" pitchFamily="34" charset="-120"/>
              </a:rPr>
              <a:t>She asked the questions. What follows is my attempt at answers.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ROADMAP</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Where we're going</a:t>
            </a:r>
            <a:endParaRPr lang="en-US" sz="3400" dirty="0"/>
          </a:p>
        </p:txBody>
      </p:sp>
      <p:sp>
        <p:nvSpPr>
          <p:cNvPr id="4" name="Shape 2"/>
          <p:cNvSpPr/>
          <p:nvPr/>
        </p:nvSpPr>
        <p:spPr>
          <a:xfrm>
            <a:off x="640080" y="1837944"/>
            <a:ext cx="420624" cy="420624"/>
          </a:xfrm>
          <a:prstGeom prst="ellipse">
            <a:avLst/>
          </a:prstGeom>
          <a:solidFill>
            <a:srgbClr val="C4432A"/>
          </a:solidFill>
          <a:ln w="12700">
            <a:solidFill>
              <a:srgbClr val="C4432A"/>
            </a:solidFill>
            <a:prstDash val="solid"/>
          </a:ln>
        </p:spPr>
      </p:sp>
      <p:sp>
        <p:nvSpPr>
          <p:cNvPr id="5" name="Text 3"/>
          <p:cNvSpPr/>
          <p:nvPr/>
        </p:nvSpPr>
        <p:spPr>
          <a:xfrm>
            <a:off x="640080" y="1837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298448" y="1783080"/>
            <a:ext cx="5669280" cy="310896"/>
          </a:xfrm>
          <a:prstGeom prst="rect">
            <a:avLst/>
          </a:prstGeom>
          <a:noFill/>
          <a:ln/>
        </p:spPr>
        <p:txBody>
          <a:bodyPr wrap="square" lIns="0" tIns="0" rIns="0" bIns="0" rtlCol="0" anchor="ctr"/>
          <a:lstStyle/>
          <a:p>
            <a:pPr indent="0" marL="0">
              <a:buNone/>
            </a:pPr>
            <a:r>
              <a:rPr lang="en-US" sz="1600" b="1" dirty="0">
                <a:solidFill>
                  <a:srgbClr val="17161A"/>
                </a:solidFill>
                <a:latin typeface="Calibri" pitchFamily="34" charset="0"/>
                <a:ea typeface="Calibri" pitchFamily="34" charset="-122"/>
                <a:cs typeface="Calibri" pitchFamily="34" charset="-120"/>
              </a:rPr>
              <a:t>The brief, and what came of it</a:t>
            </a:r>
            <a:endParaRPr lang="en-US" sz="1600" dirty="0"/>
          </a:p>
        </p:txBody>
      </p:sp>
      <p:sp>
        <p:nvSpPr>
          <p:cNvPr id="7" name="Text 5"/>
          <p:cNvSpPr/>
          <p:nvPr/>
        </p:nvSpPr>
        <p:spPr>
          <a:xfrm>
            <a:off x="1298448" y="2084832"/>
            <a:ext cx="7772400" cy="310896"/>
          </a:xfrm>
          <a:prstGeom prst="rect">
            <a:avLst/>
          </a:prstGeom>
          <a:noFill/>
          <a:ln/>
        </p:spPr>
        <p:txBody>
          <a:bodyPr wrap="square" lIns="0" tIns="0" rIns="0" bIns="0" rtlCol="0" anchor="ctr"/>
          <a:lstStyle/>
          <a:p>
            <a:pPr indent="0" marL="0">
              <a:buNone/>
            </a:pPr>
            <a:r>
              <a:rPr lang="en-US" sz="1300" dirty="0">
                <a:solidFill>
                  <a:srgbClr val="8A8691"/>
                </a:solidFill>
                <a:latin typeface="Calibri" pitchFamily="34" charset="0"/>
                <a:ea typeface="Calibri" pitchFamily="34" charset="-122"/>
                <a:cs typeface="Calibri" pitchFamily="34" charset="-120"/>
              </a:rPr>
              <a:t>What Yinping asked for, and the year's deliverables</a:t>
            </a:r>
            <a:endParaRPr lang="en-US" sz="1300" dirty="0"/>
          </a:p>
        </p:txBody>
      </p:sp>
      <p:sp>
        <p:nvSpPr>
          <p:cNvPr id="8" name="Shape 6"/>
          <p:cNvSpPr/>
          <p:nvPr/>
        </p:nvSpPr>
        <p:spPr>
          <a:xfrm>
            <a:off x="640080" y="2679192"/>
            <a:ext cx="420624" cy="420624"/>
          </a:xfrm>
          <a:prstGeom prst="ellipse">
            <a:avLst/>
          </a:prstGeom>
          <a:solidFill>
            <a:srgbClr val="C4432A"/>
          </a:solidFill>
          <a:ln w="12700">
            <a:solidFill>
              <a:srgbClr val="C4432A"/>
            </a:solidFill>
            <a:prstDash val="solid"/>
          </a:ln>
        </p:spPr>
      </p:sp>
      <p:sp>
        <p:nvSpPr>
          <p:cNvPr id="9" name="Text 7"/>
          <p:cNvSpPr/>
          <p:nvPr/>
        </p:nvSpPr>
        <p:spPr>
          <a:xfrm>
            <a:off x="640080" y="26791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298448" y="2624328"/>
            <a:ext cx="5669280" cy="310896"/>
          </a:xfrm>
          <a:prstGeom prst="rect">
            <a:avLst/>
          </a:prstGeom>
          <a:noFill/>
          <a:ln/>
        </p:spPr>
        <p:txBody>
          <a:bodyPr wrap="square" lIns="0" tIns="0" rIns="0" bIns="0" rtlCol="0" anchor="ctr"/>
          <a:lstStyle/>
          <a:p>
            <a:pPr indent="0" marL="0">
              <a:buNone/>
            </a:pPr>
            <a:r>
              <a:rPr lang="en-US" sz="1600" b="1" dirty="0">
                <a:solidFill>
                  <a:srgbClr val="17161A"/>
                </a:solidFill>
                <a:latin typeface="Calibri" pitchFamily="34" charset="0"/>
                <a:ea typeface="Calibri" pitchFamily="34" charset="-122"/>
                <a:cs typeface="Calibri" pitchFamily="34" charset="-120"/>
              </a:rPr>
              <a:t>The data, and its one binding constraint</a:t>
            </a:r>
            <a:endParaRPr lang="en-US" sz="1600" dirty="0"/>
          </a:p>
        </p:txBody>
      </p:sp>
      <p:sp>
        <p:nvSpPr>
          <p:cNvPr id="11" name="Text 9"/>
          <p:cNvSpPr/>
          <p:nvPr/>
        </p:nvSpPr>
        <p:spPr>
          <a:xfrm>
            <a:off x="1298448" y="2926080"/>
            <a:ext cx="7772400" cy="310896"/>
          </a:xfrm>
          <a:prstGeom prst="rect">
            <a:avLst/>
          </a:prstGeom>
          <a:noFill/>
          <a:ln/>
        </p:spPr>
        <p:txBody>
          <a:bodyPr wrap="square" lIns="0" tIns="0" rIns="0" bIns="0" rtlCol="0" anchor="ctr"/>
          <a:lstStyle/>
          <a:p>
            <a:pPr indent="0" marL="0">
              <a:buNone/>
            </a:pPr>
            <a:r>
              <a:rPr lang="en-US" sz="1300" dirty="0">
                <a:solidFill>
                  <a:srgbClr val="8A8691"/>
                </a:solidFill>
                <a:latin typeface="Calibri" pitchFamily="34" charset="0"/>
                <a:ea typeface="Calibri" pitchFamily="34" charset="-122"/>
                <a:cs typeface="Calibri" pitchFamily="34" charset="-120"/>
              </a:rPr>
              <a:t>154M items — and no account identities, ever</a:t>
            </a:r>
            <a:endParaRPr lang="en-US" sz="1300" dirty="0"/>
          </a:p>
        </p:txBody>
      </p:sp>
      <p:sp>
        <p:nvSpPr>
          <p:cNvPr id="12" name="Shape 10"/>
          <p:cNvSpPr/>
          <p:nvPr/>
        </p:nvSpPr>
        <p:spPr>
          <a:xfrm>
            <a:off x="640080" y="3520440"/>
            <a:ext cx="420624" cy="420624"/>
          </a:xfrm>
          <a:prstGeom prst="ellipse">
            <a:avLst/>
          </a:prstGeom>
          <a:solidFill>
            <a:srgbClr val="C4432A"/>
          </a:solidFill>
          <a:ln w="12700">
            <a:solidFill>
              <a:srgbClr val="C4432A"/>
            </a:solidFill>
            <a:prstDash val="solid"/>
          </a:ln>
        </p:spPr>
      </p:sp>
      <p:sp>
        <p:nvSpPr>
          <p:cNvPr id="13" name="Text 11"/>
          <p:cNvSpPr/>
          <p:nvPr/>
        </p:nvSpPr>
        <p:spPr>
          <a:xfrm>
            <a:off x="640080" y="35204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98448" y="3465576"/>
            <a:ext cx="5669280" cy="310896"/>
          </a:xfrm>
          <a:prstGeom prst="rect">
            <a:avLst/>
          </a:prstGeom>
          <a:noFill/>
          <a:ln/>
        </p:spPr>
        <p:txBody>
          <a:bodyPr wrap="square" lIns="0" tIns="0" rIns="0" bIns="0" rtlCol="0" anchor="ctr"/>
          <a:lstStyle/>
          <a:p>
            <a:pPr indent="0" marL="0">
              <a:buNone/>
            </a:pPr>
            <a:r>
              <a:rPr lang="en-US" sz="1600" b="1" dirty="0">
                <a:solidFill>
                  <a:srgbClr val="17161A"/>
                </a:solidFill>
                <a:latin typeface="Calibri" pitchFamily="34" charset="0"/>
                <a:ea typeface="Calibri" pitchFamily="34" charset="-122"/>
                <a:cs typeface="Calibri" pitchFamily="34" charset="-120"/>
              </a:rPr>
              <a:t>Five findings I'd defend anywhere</a:t>
            </a:r>
            <a:endParaRPr lang="en-US" sz="1600" dirty="0"/>
          </a:p>
        </p:txBody>
      </p:sp>
      <p:sp>
        <p:nvSpPr>
          <p:cNvPr id="15" name="Text 13"/>
          <p:cNvSpPr/>
          <p:nvPr/>
        </p:nvSpPr>
        <p:spPr>
          <a:xfrm>
            <a:off x="1298448" y="3767328"/>
            <a:ext cx="7772400" cy="310896"/>
          </a:xfrm>
          <a:prstGeom prst="rect">
            <a:avLst/>
          </a:prstGeom>
          <a:noFill/>
          <a:ln/>
        </p:spPr>
        <p:txBody>
          <a:bodyPr wrap="square" lIns="0" tIns="0" rIns="0" bIns="0" rtlCol="0" anchor="ctr"/>
          <a:lstStyle/>
          <a:p>
            <a:pPr indent="0" marL="0">
              <a:buNone/>
            </a:pPr>
            <a:r>
              <a:rPr lang="en-US" sz="1300" dirty="0">
                <a:solidFill>
                  <a:srgbClr val="8A8691"/>
                </a:solidFill>
                <a:latin typeface="Calibri" pitchFamily="34" charset="0"/>
                <a:ea typeface="Calibri" pitchFamily="34" charset="-122"/>
                <a:cs typeface="Calibri" pitchFamily="34" charset="-120"/>
              </a:rPr>
              <a:t>Coordination, scams, the safety blind spot, xenophobia, time</a:t>
            </a:r>
            <a:endParaRPr lang="en-US" sz="1300" dirty="0"/>
          </a:p>
        </p:txBody>
      </p:sp>
      <p:sp>
        <p:nvSpPr>
          <p:cNvPr id="16" name="Shape 14"/>
          <p:cNvSpPr/>
          <p:nvPr/>
        </p:nvSpPr>
        <p:spPr>
          <a:xfrm>
            <a:off x="640080" y="4361688"/>
            <a:ext cx="420624" cy="420624"/>
          </a:xfrm>
          <a:prstGeom prst="ellipse">
            <a:avLst/>
          </a:prstGeom>
          <a:solidFill>
            <a:srgbClr val="C4432A"/>
          </a:solidFill>
          <a:ln w="12700">
            <a:solidFill>
              <a:srgbClr val="C4432A"/>
            </a:solidFill>
            <a:prstDash val="solid"/>
          </a:ln>
        </p:spPr>
      </p:sp>
      <p:sp>
        <p:nvSpPr>
          <p:cNvPr id="17" name="Text 15"/>
          <p:cNvSpPr/>
          <p:nvPr/>
        </p:nvSpPr>
        <p:spPr>
          <a:xfrm>
            <a:off x="640080" y="43616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298448" y="4306824"/>
            <a:ext cx="5669280" cy="310896"/>
          </a:xfrm>
          <a:prstGeom prst="rect">
            <a:avLst/>
          </a:prstGeom>
          <a:noFill/>
          <a:ln/>
        </p:spPr>
        <p:txBody>
          <a:bodyPr wrap="square" lIns="0" tIns="0" rIns="0" bIns="0" rtlCol="0" anchor="ctr"/>
          <a:lstStyle/>
          <a:p>
            <a:pPr indent="0" marL="0">
              <a:buNone/>
            </a:pPr>
            <a:r>
              <a:rPr lang="en-US" sz="1600" b="1" dirty="0">
                <a:solidFill>
                  <a:srgbClr val="17161A"/>
                </a:solidFill>
                <a:latin typeface="Calibri" pitchFamily="34" charset="0"/>
                <a:ea typeface="Calibri" pitchFamily="34" charset="-122"/>
                <a:cs typeface="Calibri" pitchFamily="34" charset="-120"/>
              </a:rPr>
              <a:t>One worked example, end to end</a:t>
            </a:r>
            <a:endParaRPr lang="en-US" sz="1600" dirty="0"/>
          </a:p>
        </p:txBody>
      </p:sp>
      <p:sp>
        <p:nvSpPr>
          <p:cNvPr id="19" name="Text 17"/>
          <p:cNvSpPr/>
          <p:nvPr/>
        </p:nvSpPr>
        <p:spPr>
          <a:xfrm>
            <a:off x="1298448" y="4608576"/>
            <a:ext cx="7772400" cy="310896"/>
          </a:xfrm>
          <a:prstGeom prst="rect">
            <a:avLst/>
          </a:prstGeom>
          <a:noFill/>
          <a:ln/>
        </p:spPr>
        <p:txBody>
          <a:bodyPr wrap="square" lIns="0" tIns="0" rIns="0" bIns="0" rtlCol="0" anchor="ctr"/>
          <a:lstStyle/>
          <a:p>
            <a:pPr indent="0" marL="0">
              <a:buNone/>
            </a:pPr>
            <a:r>
              <a:rPr lang="en-US" sz="1300" dirty="0">
                <a:solidFill>
                  <a:srgbClr val="8A8691"/>
                </a:solidFill>
                <a:latin typeface="Calibri" pitchFamily="34" charset="0"/>
                <a:ea typeface="Calibri" pitchFamily="34" charset="-122"/>
                <a:cs typeface="Calibri" pitchFamily="34" charset="-120"/>
              </a:rPr>
              <a:t>GE2025 — including the mistake the pipeline caught</a:t>
            </a:r>
            <a:endParaRPr lang="en-US" sz="1300" dirty="0"/>
          </a:p>
        </p:txBody>
      </p:sp>
      <p:sp>
        <p:nvSpPr>
          <p:cNvPr id="20" name="Shape 18"/>
          <p:cNvSpPr/>
          <p:nvPr/>
        </p:nvSpPr>
        <p:spPr>
          <a:xfrm>
            <a:off x="640080" y="5202936"/>
            <a:ext cx="420624" cy="420624"/>
          </a:xfrm>
          <a:prstGeom prst="ellipse">
            <a:avLst/>
          </a:prstGeom>
          <a:solidFill>
            <a:srgbClr val="C4432A"/>
          </a:solidFill>
          <a:ln w="12700">
            <a:solidFill>
              <a:srgbClr val="C4432A"/>
            </a:solidFill>
            <a:prstDash val="solid"/>
          </a:ln>
        </p:spPr>
      </p:sp>
      <p:sp>
        <p:nvSpPr>
          <p:cNvPr id="21" name="Text 19"/>
          <p:cNvSpPr/>
          <p:nvPr/>
        </p:nvSpPr>
        <p:spPr>
          <a:xfrm>
            <a:off x="640080" y="52029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1298448" y="5148072"/>
            <a:ext cx="5669280" cy="310896"/>
          </a:xfrm>
          <a:prstGeom prst="rect">
            <a:avLst/>
          </a:prstGeom>
          <a:noFill/>
          <a:ln/>
        </p:spPr>
        <p:txBody>
          <a:bodyPr wrap="square" lIns="0" tIns="0" rIns="0" bIns="0" rtlCol="0" anchor="ctr"/>
          <a:lstStyle/>
          <a:p>
            <a:pPr indent="0" marL="0">
              <a:buNone/>
            </a:pPr>
            <a:r>
              <a:rPr lang="en-US" sz="1600" b="1" dirty="0">
                <a:solidFill>
                  <a:srgbClr val="17161A"/>
                </a:solidFill>
                <a:latin typeface="Calibri" pitchFamily="34" charset="0"/>
                <a:ea typeface="Calibri" pitchFamily="34" charset="-122"/>
                <a:cs typeface="Calibri" pitchFamily="34" charset="-120"/>
              </a:rPr>
              <a:t>Lessons, and what I'd fund next</a:t>
            </a:r>
            <a:endParaRPr lang="en-US" sz="1600" dirty="0"/>
          </a:p>
        </p:txBody>
      </p:sp>
      <p:sp>
        <p:nvSpPr>
          <p:cNvPr id="23" name="Text 21"/>
          <p:cNvSpPr/>
          <p:nvPr/>
        </p:nvSpPr>
        <p:spPr>
          <a:xfrm>
            <a:off x="1298448" y="5449824"/>
            <a:ext cx="7772400" cy="310896"/>
          </a:xfrm>
          <a:prstGeom prst="rect">
            <a:avLst/>
          </a:prstGeom>
          <a:noFill/>
          <a:ln/>
        </p:spPr>
        <p:txBody>
          <a:bodyPr wrap="square" lIns="0" tIns="0" rIns="0" bIns="0" rtlCol="0" anchor="ctr"/>
          <a:lstStyle/>
          <a:p>
            <a:pPr indent="0" marL="0">
              <a:buNone/>
            </a:pPr>
            <a:r>
              <a:rPr lang="en-US" sz="1300" dirty="0">
                <a:solidFill>
                  <a:srgbClr val="8A8691"/>
                </a:solidFill>
                <a:latin typeface="Calibri" pitchFamily="34" charset="0"/>
                <a:ea typeface="Calibri" pitchFamily="34" charset="-122"/>
                <a:cs typeface="Calibri" pitchFamily="34" charset="-120"/>
              </a:rPr>
              <a:t>The part that outlives the dataset</a:t>
            </a:r>
            <a:endParaRPr lang="en-US" sz="1300" dirty="0"/>
          </a:p>
        </p:txBody>
      </p:sp>
      <p:sp>
        <p:nvSpPr>
          <p:cNvPr id="24" name="Shape 22"/>
          <p:cNvSpPr/>
          <p:nvPr/>
        </p:nvSpPr>
        <p:spPr>
          <a:xfrm>
            <a:off x="9052560" y="1737360"/>
            <a:ext cx="2514600" cy="3063240"/>
          </a:xfrm>
          <a:prstGeom prst="roundRect">
            <a:avLst>
              <a:gd name="adj" fmla="val 2182"/>
            </a:avLst>
          </a:prstGeom>
          <a:solidFill>
            <a:srgbClr val="FBF0ED"/>
          </a:solidFill>
          <a:ln w="12700">
            <a:solidFill>
              <a:srgbClr val="FBF0ED"/>
            </a:solidFill>
            <a:prstDash val="solid"/>
          </a:ln>
        </p:spPr>
      </p:sp>
      <p:sp>
        <p:nvSpPr>
          <p:cNvPr id="25" name="Text 23"/>
          <p:cNvSpPr/>
          <p:nvPr/>
        </p:nvSpPr>
        <p:spPr>
          <a:xfrm>
            <a:off x="9281160" y="1965960"/>
            <a:ext cx="2057400" cy="1097280"/>
          </a:xfrm>
          <a:prstGeom prst="rect">
            <a:avLst/>
          </a:prstGeom>
          <a:noFill/>
          <a:ln/>
        </p:spPr>
        <p:txBody>
          <a:bodyPr wrap="square" lIns="0" tIns="0" rIns="0" bIns="0" rtlCol="0" anchor="ctr"/>
          <a:lstStyle/>
          <a:p>
            <a:pPr indent="0" marL="0">
              <a:lnSpc>
                <a:spcPts val="3200"/>
              </a:lnSpc>
              <a:buNone/>
            </a:pPr>
            <a:r>
              <a:rPr lang="en-US" sz="3000" b="1" dirty="0">
                <a:solidFill>
                  <a:srgbClr val="C4432A"/>
                </a:solidFill>
                <a:latin typeface="Cambria" pitchFamily="34" charset="0"/>
                <a:ea typeface="Cambria" pitchFamily="34" charset="-122"/>
                <a:cs typeface="Cambria" pitchFamily="34" charset="-120"/>
              </a:rPr>
              <a:t>35</a:t>
            </a:r>
            <a:endParaRPr lang="en-US" sz="3000" dirty="0"/>
          </a:p>
          <a:p>
            <a:pPr indent="0" marL="0">
              <a:lnSpc>
                <a:spcPts val="3200"/>
              </a:lnSpc>
              <a:buNone/>
            </a:pPr>
            <a:r>
              <a:rPr lang="en-US" sz="3000" b="1" dirty="0">
                <a:solidFill>
                  <a:srgbClr val="C4432A"/>
                </a:solidFill>
                <a:latin typeface="Cambria" pitchFamily="34" charset="0"/>
                <a:ea typeface="Cambria" pitchFamily="34" charset="-122"/>
                <a:cs typeface="Cambria" pitchFamily="34" charset="-120"/>
              </a:rPr>
              <a:t>minutes</a:t>
            </a:r>
            <a:endParaRPr lang="en-US" sz="3000" dirty="0"/>
          </a:p>
        </p:txBody>
      </p:sp>
      <p:sp>
        <p:nvSpPr>
          <p:cNvPr id="26" name="Text 24"/>
          <p:cNvSpPr/>
          <p:nvPr/>
        </p:nvSpPr>
        <p:spPr>
          <a:xfrm>
            <a:off x="9281160" y="3200400"/>
            <a:ext cx="2057400" cy="146304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Then questions — including the awkward ones. I have answers for most of them, and honest 'we can't know that' for the rest.</a:t>
            </a:r>
            <a:endParaRPr lang="en-US" sz="1200" dirty="0"/>
          </a:p>
        </p:txBody>
      </p:sp>
      <p:sp>
        <p:nvSpPr>
          <p:cNvPr id="27" name="Text 25"/>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28" name="Text 26"/>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PART 1 · HOW THIS STARTED</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The brief</a:t>
            </a:r>
            <a:endParaRPr lang="en-US" sz="3400" dirty="0"/>
          </a:p>
        </p:txBody>
      </p:sp>
      <p:sp>
        <p:nvSpPr>
          <p:cNvPr id="4" name="Text 2"/>
          <p:cNvSpPr/>
          <p:nvPr/>
        </p:nvSpPr>
        <p:spPr>
          <a:xfrm>
            <a:off x="640080" y="1600200"/>
            <a:ext cx="6675120" cy="1371600"/>
          </a:xfrm>
          <a:prstGeom prst="rect">
            <a:avLst/>
          </a:prstGeom>
          <a:noFill/>
          <a:ln/>
        </p:spPr>
        <p:txBody>
          <a:bodyPr wrap="square" lIns="0" tIns="0" rIns="0" bIns="0" rtlCol="0" anchor="ctr"/>
          <a:lstStyle/>
          <a:p>
            <a:pPr indent="0" marL="0">
              <a:lnSpc>
                <a:spcPts val="2400"/>
              </a:lnSpc>
              <a:buNone/>
            </a:pPr>
            <a:r>
              <a:rPr lang="en-US" sz="1600" dirty="0">
                <a:solidFill>
                  <a:srgbClr val="55525C"/>
                </a:solidFill>
                <a:latin typeface="Calibri" pitchFamily="34" charset="0"/>
                <a:ea typeface="Calibri" pitchFamily="34" charset="-122"/>
                <a:cs typeface="Calibri" pitchFamily="34" charset="-120"/>
              </a:rPr>
              <a:t>Take the CATOS Dataset — the time-extended successor to a corpus that covered only 2025 — and say what is actually in Singapore's online information environment. Conservatively. With every claim paired to the limitation that constrains it.</a:t>
            </a:r>
            <a:endParaRPr lang="en-US" sz="1600" dirty="0"/>
          </a:p>
        </p:txBody>
      </p:sp>
      <p:sp>
        <p:nvSpPr>
          <p:cNvPr id="5" name="Text 3"/>
          <p:cNvSpPr/>
          <p:nvPr/>
        </p:nvSpPr>
        <p:spPr>
          <a:xfrm>
            <a:off x="640080" y="3063240"/>
            <a:ext cx="6675120"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FOUR RESEARCH QUESTIONS</a:t>
            </a:r>
            <a:endParaRPr lang="en-US" sz="1100" dirty="0"/>
          </a:p>
        </p:txBody>
      </p:sp>
      <p:sp>
        <p:nvSpPr>
          <p:cNvPr id="6" name="Text 4"/>
          <p:cNvSpPr/>
          <p:nvPr/>
        </p:nvSpPr>
        <p:spPr>
          <a:xfrm>
            <a:off x="640080" y="3429000"/>
            <a:ext cx="6675120" cy="18288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55525C"/>
                </a:solidFill>
                <a:latin typeface="Calibri" pitchFamily="34" charset="0"/>
                <a:ea typeface="Calibri" pitchFamily="34" charset="-122"/>
                <a:cs typeface="Calibri" pitchFamily="34" charset="-120"/>
              </a:rPr>
              <a:t>How much coordinated manipulation is there, and what infrastructure supports it?</a:t>
            </a:r>
            <a:endParaRPr lang="en-US" sz="1500" dirty="0"/>
          </a:p>
          <a:p>
            <a:pPr marL="228600" indent="-228600">
              <a:spcAft>
                <a:spcPts val="1000"/>
              </a:spcAft>
              <a:buSzPct val="100000"/>
              <a:buChar char="•"/>
            </a:pPr>
            <a:r>
              <a:rPr lang="en-US" sz="1500" dirty="0">
                <a:solidFill>
                  <a:srgbClr val="55525C"/>
                </a:solidFill>
                <a:latin typeface="Calibri" pitchFamily="34" charset="0"/>
                <a:ea typeface="Calibri" pitchFamily="34" charset="-122"/>
                <a:cs typeface="Calibri" pitchFamily="34" charset="-120"/>
              </a:rPr>
              <a:t>What harms are present, and how large are they?</a:t>
            </a:r>
            <a:endParaRPr lang="en-US" sz="1500" dirty="0"/>
          </a:p>
          <a:p>
            <a:pPr marL="228600" indent="-228600">
              <a:spcAft>
                <a:spcPts val="1000"/>
              </a:spcAft>
              <a:buSzPct val="100000"/>
              <a:buChar char="•"/>
            </a:pPr>
            <a:r>
              <a:rPr lang="en-US" sz="1500" dirty="0">
                <a:solidFill>
                  <a:srgbClr val="55525C"/>
                </a:solidFill>
                <a:latin typeface="Calibri" pitchFamily="34" charset="0"/>
                <a:ea typeface="Calibri" pitchFamily="34" charset="-122"/>
                <a:cs typeface="Calibri" pitchFamily="34" charset="-120"/>
              </a:rPr>
              <a:t>How has the picture changed over six and a half years?</a:t>
            </a:r>
            <a:endParaRPr lang="en-US" sz="1500" dirty="0"/>
          </a:p>
          <a:p>
            <a:pPr marL="228600" indent="-228600">
              <a:spcAft>
                <a:spcPts val="1000"/>
              </a:spcAft>
              <a:buSzPct val="100000"/>
              <a:buChar char="•"/>
            </a:pPr>
            <a:r>
              <a:rPr lang="en-US" sz="1500" dirty="0">
                <a:solidFill>
                  <a:srgbClr val="55525C"/>
                </a:solidFill>
                <a:latin typeface="Calibri" pitchFamily="34" charset="0"/>
                <a:ea typeface="Calibri" pitchFamily="34" charset="-122"/>
                <a:cs typeface="Calibri" pitchFamily="34" charset="-120"/>
              </a:rPr>
              <a:t>What does a complete worked example look like, start to finish?</a:t>
            </a:r>
            <a:endParaRPr lang="en-US" sz="1500" dirty="0"/>
          </a:p>
        </p:txBody>
      </p:sp>
      <p:sp>
        <p:nvSpPr>
          <p:cNvPr id="7" name="Shape 5"/>
          <p:cNvSpPr/>
          <p:nvPr/>
        </p:nvSpPr>
        <p:spPr>
          <a:xfrm>
            <a:off x="7863840" y="1572768"/>
            <a:ext cx="3703320" cy="3703320"/>
          </a:xfrm>
          <a:prstGeom prst="roundRect">
            <a:avLst>
              <a:gd name="adj" fmla="val 1481"/>
            </a:avLst>
          </a:prstGeom>
          <a:solidFill>
            <a:srgbClr val="FAF9F8"/>
          </a:solidFill>
          <a:ln w="12700">
            <a:solidFill>
              <a:srgbClr val="E4E1DE"/>
            </a:solidFill>
            <a:prstDash val="solid"/>
          </a:ln>
        </p:spPr>
      </p:sp>
      <p:sp>
        <p:nvSpPr>
          <p:cNvPr id="8" name="Text 6"/>
          <p:cNvSpPr/>
          <p:nvPr/>
        </p:nvSpPr>
        <p:spPr>
          <a:xfrm>
            <a:off x="8183880" y="1828800"/>
            <a:ext cx="3108960" cy="411480"/>
          </a:xfrm>
          <a:prstGeom prst="rect">
            <a:avLst/>
          </a:prstGeom>
          <a:noFill/>
          <a:ln/>
        </p:spPr>
        <p:txBody>
          <a:bodyPr wrap="square" lIns="0" tIns="0" rIns="0" bIns="0" rtlCol="0" anchor="ctr"/>
          <a:lstStyle/>
          <a:p>
            <a:pPr indent="0" marL="0">
              <a:buNone/>
            </a:pPr>
            <a:r>
              <a:rPr lang="en-US" sz="1400" b="1" dirty="0">
                <a:solidFill>
                  <a:srgbClr val="17161A"/>
                </a:solidFill>
                <a:latin typeface="Calibri" pitchFamily="34" charset="0"/>
                <a:ea typeface="Calibri" pitchFamily="34" charset="-122"/>
                <a:cs typeface="Calibri" pitchFamily="34" charset="-120"/>
              </a:rPr>
              <a:t>The premise I was asked to test</a:t>
            </a:r>
            <a:endParaRPr lang="en-US" sz="1400" dirty="0"/>
          </a:p>
        </p:txBody>
      </p:sp>
      <p:sp>
        <p:nvSpPr>
          <p:cNvPr id="9" name="Text 7"/>
          <p:cNvSpPr/>
          <p:nvPr/>
        </p:nvSpPr>
        <p:spPr>
          <a:xfrm>
            <a:off x="8183880" y="2286000"/>
            <a:ext cx="3108960" cy="2743200"/>
          </a:xfrm>
          <a:prstGeom prst="rect">
            <a:avLst/>
          </a:prstGeom>
          <a:noFill/>
          <a:ln/>
        </p:spPr>
        <p:txBody>
          <a:bodyPr wrap="square" lIns="0" tIns="0" rIns="0" bIns="0" rtlCol="0" anchor="ctr"/>
          <a:lstStyle/>
          <a:p>
            <a:pPr indent="0" marL="0">
              <a:lnSpc>
                <a:spcPts val="2000"/>
              </a:lnSpc>
              <a:buNone/>
            </a:pPr>
            <a:r>
              <a:rPr lang="en-US" sz="1300" dirty="0">
                <a:solidFill>
                  <a:srgbClr val="55525C"/>
                </a:solidFill>
                <a:latin typeface="Calibri" pitchFamily="34" charset="0"/>
                <a:ea typeface="Calibri" pitchFamily="34" charset="-122"/>
                <a:cs typeface="Calibri" pitchFamily="34" charset="-120"/>
              </a:rPr>
              <a:t>That extending the corpus in time was not a quantitative convenience but a qualitative one.</a:t>
            </a:r>
            <a:endParaRPr lang="en-US" sz="1300" dirty="0"/>
          </a:p>
          <a:p>
            <a:pPr indent="0" marL="0">
              <a:lnSpc>
                <a:spcPts val="2000"/>
              </a:lnSpc>
              <a:buNone/>
            </a:pPr>
            <a:endParaRPr lang="en-US" sz="1300" dirty="0"/>
          </a:p>
          <a:p>
            <a:pPr indent="0" marL="0">
              <a:lnSpc>
                <a:spcPts val="2000"/>
              </a:lnSpc>
              <a:buNone/>
            </a:pPr>
            <a:r>
              <a:rPr lang="en-US" sz="1300" dirty="0">
                <a:solidFill>
                  <a:srgbClr val="55525C"/>
                </a:solidFill>
                <a:latin typeface="Calibri" pitchFamily="34" charset="0"/>
                <a:ea typeface="Calibri" pitchFamily="34" charset="-122"/>
                <a:cs typeface="Calibri" pitchFamily="34" charset="-120"/>
              </a:rPr>
              <a:t>It was. Three conclusions a 2025-only study would have supported are overturned by the full span.</a:t>
            </a:r>
            <a:endParaRPr lang="en-US" sz="1300" dirty="0"/>
          </a:p>
          <a:p>
            <a:pPr indent="0" marL="0">
              <a:lnSpc>
                <a:spcPts val="2000"/>
              </a:lnSpc>
              <a:buNone/>
            </a:pPr>
            <a:endParaRPr lang="en-US" sz="1300" dirty="0"/>
          </a:p>
          <a:p>
            <a:pPr indent="0" marL="0">
              <a:lnSpc>
                <a:spcPts val="2000"/>
              </a:lnSpc>
              <a:buNone/>
            </a:pPr>
            <a:r>
              <a:rPr lang="en-US" sz="1300" dirty="0">
                <a:solidFill>
                  <a:srgbClr val="55525C"/>
                </a:solidFill>
                <a:latin typeface="Calibri" pitchFamily="34" charset="0"/>
                <a:ea typeface="Calibri" pitchFamily="34" charset="-122"/>
                <a:cs typeface="Calibri" pitchFamily="34" charset="-120"/>
              </a:rPr>
              <a:t>That finding is the spine of the report.</a:t>
            </a:r>
            <a:endParaRPr lang="en-US" sz="1300" dirty="0"/>
          </a:p>
        </p:txBody>
      </p:sp>
      <p:sp>
        <p:nvSpPr>
          <p:cNvPr id="10" name="Text 8"/>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11" name="Text 9"/>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PART 1 · THE RECORD</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What the year produced</a:t>
            </a:r>
            <a:endParaRPr lang="en-US" sz="3400" dirty="0"/>
          </a:p>
        </p:txBody>
      </p:sp>
      <p:sp>
        <p:nvSpPr>
          <p:cNvPr id="4" name="Shape 2"/>
          <p:cNvSpPr/>
          <p:nvPr/>
        </p:nvSpPr>
        <p:spPr>
          <a:xfrm>
            <a:off x="640080" y="1691640"/>
            <a:ext cx="3520440" cy="1417320"/>
          </a:xfrm>
          <a:prstGeom prst="roundRect">
            <a:avLst>
              <a:gd name="adj" fmla="val 3871"/>
            </a:avLst>
          </a:prstGeom>
          <a:solidFill>
            <a:srgbClr val="FAF9F8"/>
          </a:solidFill>
          <a:ln w="12700">
            <a:solidFill>
              <a:srgbClr val="E4E1DE"/>
            </a:solidFill>
            <a:prstDash val="solid"/>
          </a:ln>
        </p:spPr>
      </p:sp>
      <p:sp>
        <p:nvSpPr>
          <p:cNvPr id="5" name="Shape 3"/>
          <p:cNvSpPr/>
          <p:nvPr/>
        </p:nvSpPr>
        <p:spPr>
          <a:xfrm>
            <a:off x="896112" y="1947672"/>
            <a:ext cx="201168" cy="201168"/>
          </a:xfrm>
          <a:prstGeom prst="ellipse">
            <a:avLst/>
          </a:prstGeom>
          <a:solidFill>
            <a:srgbClr val="C4432A"/>
          </a:solidFill>
          <a:ln w="12700">
            <a:solidFill>
              <a:srgbClr val="333333"/>
            </a:solidFill>
            <a:prstDash val="solid"/>
          </a:ln>
        </p:spPr>
      </p:sp>
      <p:sp>
        <p:nvSpPr>
          <p:cNvPr id="6" name="Text 4"/>
          <p:cNvSpPr/>
          <p:nvPr/>
        </p:nvSpPr>
        <p:spPr>
          <a:xfrm>
            <a:off x="1207008" y="1874520"/>
            <a:ext cx="2697480" cy="347472"/>
          </a:xfrm>
          <a:prstGeom prst="rect">
            <a:avLst/>
          </a:prstGeom>
          <a:noFill/>
          <a:ln/>
        </p:spPr>
        <p:txBody>
          <a:bodyPr wrap="square" lIns="0" tIns="0" rIns="0" bIns="0" rtlCol="0" anchor="ctr"/>
          <a:lstStyle/>
          <a:p>
            <a:pPr indent="0" marL="0">
              <a:buNone/>
            </a:pPr>
            <a:r>
              <a:rPr lang="en-US" sz="1500" b="1" dirty="0">
                <a:solidFill>
                  <a:srgbClr val="17161A"/>
                </a:solidFill>
                <a:latin typeface="Calibri" pitchFamily="34" charset="0"/>
                <a:ea typeface="Calibri" pitchFamily="34" charset="-122"/>
                <a:cs typeface="Calibri" pitchFamily="34" charset="-120"/>
              </a:rPr>
              <a:t>Technical report</a:t>
            </a:r>
            <a:endParaRPr lang="en-US" sz="1500" dirty="0"/>
          </a:p>
        </p:txBody>
      </p:sp>
      <p:sp>
        <p:nvSpPr>
          <p:cNvPr id="7" name="Text 5"/>
          <p:cNvSpPr/>
          <p:nvPr/>
        </p:nvSpPr>
        <p:spPr>
          <a:xfrm>
            <a:off x="896112" y="2286000"/>
            <a:ext cx="3008376" cy="73152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~150 pages, 17 chapters, 6 appendices. Delivered and handed over.</a:t>
            </a:r>
            <a:endParaRPr lang="en-US" sz="1200" dirty="0"/>
          </a:p>
        </p:txBody>
      </p:sp>
      <p:sp>
        <p:nvSpPr>
          <p:cNvPr id="8" name="Shape 6"/>
          <p:cNvSpPr/>
          <p:nvPr/>
        </p:nvSpPr>
        <p:spPr>
          <a:xfrm>
            <a:off x="4416552" y="1691640"/>
            <a:ext cx="3520440" cy="1417320"/>
          </a:xfrm>
          <a:prstGeom prst="roundRect">
            <a:avLst>
              <a:gd name="adj" fmla="val 3871"/>
            </a:avLst>
          </a:prstGeom>
          <a:solidFill>
            <a:srgbClr val="FAF9F8"/>
          </a:solidFill>
          <a:ln w="12700">
            <a:solidFill>
              <a:srgbClr val="E4E1DE"/>
            </a:solidFill>
            <a:prstDash val="solid"/>
          </a:ln>
        </p:spPr>
      </p:sp>
      <p:sp>
        <p:nvSpPr>
          <p:cNvPr id="9" name="Shape 7"/>
          <p:cNvSpPr/>
          <p:nvPr/>
        </p:nvSpPr>
        <p:spPr>
          <a:xfrm>
            <a:off x="4672584" y="1947672"/>
            <a:ext cx="201168" cy="201168"/>
          </a:xfrm>
          <a:prstGeom prst="ellipse">
            <a:avLst/>
          </a:prstGeom>
          <a:solidFill>
            <a:srgbClr val="27607A"/>
          </a:solidFill>
          <a:ln w="12700">
            <a:solidFill>
              <a:srgbClr val="333333"/>
            </a:solidFill>
            <a:prstDash val="solid"/>
          </a:ln>
        </p:spPr>
      </p:sp>
      <p:sp>
        <p:nvSpPr>
          <p:cNvPr id="10" name="Text 8"/>
          <p:cNvSpPr/>
          <p:nvPr/>
        </p:nvSpPr>
        <p:spPr>
          <a:xfrm>
            <a:off x="4983480" y="1874520"/>
            <a:ext cx="2697480" cy="347472"/>
          </a:xfrm>
          <a:prstGeom prst="rect">
            <a:avLst/>
          </a:prstGeom>
          <a:noFill/>
          <a:ln/>
        </p:spPr>
        <p:txBody>
          <a:bodyPr wrap="square" lIns="0" tIns="0" rIns="0" bIns="0" rtlCol="0" anchor="ctr"/>
          <a:lstStyle/>
          <a:p>
            <a:pPr indent="0" marL="0">
              <a:buNone/>
            </a:pPr>
            <a:r>
              <a:rPr lang="en-US" sz="1500" b="1" dirty="0">
                <a:solidFill>
                  <a:srgbClr val="17161A"/>
                </a:solidFill>
                <a:latin typeface="Calibri" pitchFamily="34" charset="0"/>
                <a:ea typeface="Calibri" pitchFamily="34" charset="-122"/>
                <a:cs typeface="Calibri" pitchFamily="34" charset="-120"/>
              </a:rPr>
              <a:t>Preprint</a:t>
            </a:r>
            <a:endParaRPr lang="en-US" sz="1500" dirty="0"/>
          </a:p>
        </p:txBody>
      </p:sp>
      <p:sp>
        <p:nvSpPr>
          <p:cNvPr id="11" name="Text 9"/>
          <p:cNvSpPr/>
          <p:nvPr/>
        </p:nvSpPr>
        <p:spPr>
          <a:xfrm>
            <a:off x="4672584" y="2286000"/>
            <a:ext cx="3008376" cy="73152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Cross-lingual audit of online hate in multicultural Singapore. arXiv:2606.21996.</a:t>
            </a:r>
            <a:endParaRPr lang="en-US" sz="1200" dirty="0"/>
          </a:p>
        </p:txBody>
      </p:sp>
      <p:sp>
        <p:nvSpPr>
          <p:cNvPr id="12" name="Shape 10"/>
          <p:cNvSpPr/>
          <p:nvPr/>
        </p:nvSpPr>
        <p:spPr>
          <a:xfrm>
            <a:off x="8193024" y="1691640"/>
            <a:ext cx="3520440" cy="1417320"/>
          </a:xfrm>
          <a:prstGeom prst="roundRect">
            <a:avLst>
              <a:gd name="adj" fmla="val 3871"/>
            </a:avLst>
          </a:prstGeom>
          <a:solidFill>
            <a:srgbClr val="FAF9F8"/>
          </a:solidFill>
          <a:ln w="12700">
            <a:solidFill>
              <a:srgbClr val="E4E1DE"/>
            </a:solidFill>
            <a:prstDash val="solid"/>
          </a:ln>
        </p:spPr>
      </p:sp>
      <p:sp>
        <p:nvSpPr>
          <p:cNvPr id="13" name="Shape 11"/>
          <p:cNvSpPr/>
          <p:nvPr/>
        </p:nvSpPr>
        <p:spPr>
          <a:xfrm>
            <a:off x="8449056" y="1947672"/>
            <a:ext cx="201168" cy="201168"/>
          </a:xfrm>
          <a:prstGeom prst="ellipse">
            <a:avLst/>
          </a:prstGeom>
          <a:solidFill>
            <a:srgbClr val="C4432A"/>
          </a:solidFill>
          <a:ln w="12700">
            <a:solidFill>
              <a:srgbClr val="333333"/>
            </a:solidFill>
            <a:prstDash val="solid"/>
          </a:ln>
        </p:spPr>
      </p:sp>
      <p:sp>
        <p:nvSpPr>
          <p:cNvPr id="14" name="Text 12"/>
          <p:cNvSpPr/>
          <p:nvPr/>
        </p:nvSpPr>
        <p:spPr>
          <a:xfrm>
            <a:off x="8759952" y="1874520"/>
            <a:ext cx="2697480" cy="347472"/>
          </a:xfrm>
          <a:prstGeom prst="rect">
            <a:avLst/>
          </a:prstGeom>
          <a:noFill/>
          <a:ln/>
        </p:spPr>
        <p:txBody>
          <a:bodyPr wrap="square" lIns="0" tIns="0" rIns="0" bIns="0" rtlCol="0" anchor="ctr"/>
          <a:lstStyle/>
          <a:p>
            <a:pPr indent="0" marL="0">
              <a:buNone/>
            </a:pPr>
            <a:r>
              <a:rPr lang="en-US" sz="1500" b="1" dirty="0">
                <a:solidFill>
                  <a:srgbClr val="17161A"/>
                </a:solidFill>
                <a:latin typeface="Calibri" pitchFamily="34" charset="0"/>
                <a:ea typeface="Calibri" pitchFamily="34" charset="-122"/>
                <a:cs typeface="Calibri" pitchFamily="34" charset="-120"/>
              </a:rPr>
              <a:t>OTS Grant Call 3</a:t>
            </a:r>
            <a:endParaRPr lang="en-US" sz="1500" dirty="0"/>
          </a:p>
        </p:txBody>
      </p:sp>
      <p:sp>
        <p:nvSpPr>
          <p:cNvPr id="15" name="Text 13"/>
          <p:cNvSpPr/>
          <p:nvPr/>
        </p:nvSpPr>
        <p:spPr>
          <a:xfrm>
            <a:off x="8449056" y="2286000"/>
            <a:ext cx="3008376" cy="73152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Revised the call to open an AI-safety frontier: agentic systems, companions, multimodal.</a:t>
            </a:r>
            <a:endParaRPr lang="en-US" sz="1200" dirty="0"/>
          </a:p>
        </p:txBody>
      </p:sp>
      <p:sp>
        <p:nvSpPr>
          <p:cNvPr id="16" name="Shape 14"/>
          <p:cNvSpPr/>
          <p:nvPr/>
        </p:nvSpPr>
        <p:spPr>
          <a:xfrm>
            <a:off x="640080" y="3383280"/>
            <a:ext cx="3520440" cy="1417320"/>
          </a:xfrm>
          <a:prstGeom prst="roundRect">
            <a:avLst>
              <a:gd name="adj" fmla="val 3871"/>
            </a:avLst>
          </a:prstGeom>
          <a:solidFill>
            <a:srgbClr val="FAF9F8"/>
          </a:solidFill>
          <a:ln w="12700">
            <a:solidFill>
              <a:srgbClr val="E4E1DE"/>
            </a:solidFill>
            <a:prstDash val="solid"/>
          </a:ln>
        </p:spPr>
      </p:sp>
      <p:sp>
        <p:nvSpPr>
          <p:cNvPr id="17" name="Shape 15"/>
          <p:cNvSpPr/>
          <p:nvPr/>
        </p:nvSpPr>
        <p:spPr>
          <a:xfrm>
            <a:off x="896112" y="3639312"/>
            <a:ext cx="201168" cy="201168"/>
          </a:xfrm>
          <a:prstGeom prst="ellipse">
            <a:avLst/>
          </a:prstGeom>
          <a:solidFill>
            <a:srgbClr val="27607A"/>
          </a:solidFill>
          <a:ln w="12700">
            <a:solidFill>
              <a:srgbClr val="333333"/>
            </a:solidFill>
            <a:prstDash val="solid"/>
          </a:ln>
        </p:spPr>
      </p:sp>
      <p:sp>
        <p:nvSpPr>
          <p:cNvPr id="18" name="Text 16"/>
          <p:cNvSpPr/>
          <p:nvPr/>
        </p:nvSpPr>
        <p:spPr>
          <a:xfrm>
            <a:off x="1207008" y="3566160"/>
            <a:ext cx="2697480" cy="347472"/>
          </a:xfrm>
          <a:prstGeom prst="rect">
            <a:avLst/>
          </a:prstGeom>
          <a:noFill/>
          <a:ln/>
        </p:spPr>
        <p:txBody>
          <a:bodyPr wrap="square" lIns="0" tIns="0" rIns="0" bIns="0" rtlCol="0" anchor="ctr"/>
          <a:lstStyle/>
          <a:p>
            <a:pPr indent="0" marL="0">
              <a:buNone/>
            </a:pPr>
            <a:r>
              <a:rPr lang="en-US" sz="1500" b="1" dirty="0">
                <a:solidFill>
                  <a:srgbClr val="17161A"/>
                </a:solidFill>
                <a:latin typeface="Calibri" pitchFamily="34" charset="0"/>
                <a:ea typeface="Calibri" pitchFamily="34" charset="-122"/>
                <a:cs typeface="Calibri" pitchFamily="34" charset="-120"/>
              </a:rPr>
              <a:t>Reproducibility manifest</a:t>
            </a:r>
            <a:endParaRPr lang="en-US" sz="1500" dirty="0"/>
          </a:p>
        </p:txBody>
      </p:sp>
      <p:sp>
        <p:nvSpPr>
          <p:cNvPr id="19" name="Text 17"/>
          <p:cNvSpPr/>
          <p:nvPr/>
        </p:nvSpPr>
        <p:spPr>
          <a:xfrm>
            <a:off x="896112" y="3977640"/>
            <a:ext cx="3008376" cy="73152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Corpus, compute, model configs, finding codes — so this can be re-run without me.</a:t>
            </a:r>
            <a:endParaRPr lang="en-US" sz="1200" dirty="0"/>
          </a:p>
        </p:txBody>
      </p:sp>
      <p:sp>
        <p:nvSpPr>
          <p:cNvPr id="20" name="Shape 18"/>
          <p:cNvSpPr/>
          <p:nvPr/>
        </p:nvSpPr>
        <p:spPr>
          <a:xfrm>
            <a:off x="4416552" y="3383280"/>
            <a:ext cx="3520440" cy="1417320"/>
          </a:xfrm>
          <a:prstGeom prst="roundRect">
            <a:avLst>
              <a:gd name="adj" fmla="val 3871"/>
            </a:avLst>
          </a:prstGeom>
          <a:solidFill>
            <a:srgbClr val="FAF9F8"/>
          </a:solidFill>
          <a:ln w="12700">
            <a:solidFill>
              <a:srgbClr val="E4E1DE"/>
            </a:solidFill>
            <a:prstDash val="solid"/>
          </a:ln>
        </p:spPr>
      </p:sp>
      <p:sp>
        <p:nvSpPr>
          <p:cNvPr id="21" name="Shape 19"/>
          <p:cNvSpPr/>
          <p:nvPr/>
        </p:nvSpPr>
        <p:spPr>
          <a:xfrm>
            <a:off x="4672584" y="3639312"/>
            <a:ext cx="201168" cy="201168"/>
          </a:xfrm>
          <a:prstGeom prst="ellipse">
            <a:avLst/>
          </a:prstGeom>
          <a:solidFill>
            <a:srgbClr val="C4432A"/>
          </a:solidFill>
          <a:ln w="12700">
            <a:solidFill>
              <a:srgbClr val="333333"/>
            </a:solidFill>
            <a:prstDash val="solid"/>
          </a:ln>
        </p:spPr>
      </p:sp>
      <p:sp>
        <p:nvSpPr>
          <p:cNvPr id="22" name="Text 20"/>
          <p:cNvSpPr/>
          <p:nvPr/>
        </p:nvSpPr>
        <p:spPr>
          <a:xfrm>
            <a:off x="4983480" y="3566160"/>
            <a:ext cx="2697480" cy="347472"/>
          </a:xfrm>
          <a:prstGeom prst="rect">
            <a:avLst/>
          </a:prstGeom>
          <a:noFill/>
          <a:ln/>
        </p:spPr>
        <p:txBody>
          <a:bodyPr wrap="square" lIns="0" tIns="0" rIns="0" bIns="0" rtlCol="0" anchor="ctr"/>
          <a:lstStyle/>
          <a:p>
            <a:pPr indent="0" marL="0">
              <a:buNone/>
            </a:pPr>
            <a:r>
              <a:rPr lang="en-US" sz="1500" b="1" dirty="0">
                <a:solidFill>
                  <a:srgbClr val="17161A"/>
                </a:solidFill>
                <a:latin typeface="Calibri" pitchFamily="34" charset="0"/>
                <a:ea typeface="Calibri" pitchFamily="34" charset="-122"/>
                <a:cs typeface="Calibri" pitchFamily="34" charset="-120"/>
              </a:rPr>
              <a:t>Talks and briefings</a:t>
            </a:r>
            <a:endParaRPr lang="en-US" sz="1500" dirty="0"/>
          </a:p>
        </p:txBody>
      </p:sp>
      <p:sp>
        <p:nvSpPr>
          <p:cNvPr id="23" name="Text 21"/>
          <p:cNvSpPr/>
          <p:nvPr/>
        </p:nvSpPr>
        <p:spPr>
          <a:xfrm>
            <a:off x="4672584" y="3977640"/>
            <a:ext cx="3008376" cy="73152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OTS Forum &amp; Content Authenticity Summit, DSO, DSTA, MDDI, Lorong AI.</a:t>
            </a:r>
            <a:endParaRPr lang="en-US" sz="1200" dirty="0"/>
          </a:p>
        </p:txBody>
      </p:sp>
      <p:sp>
        <p:nvSpPr>
          <p:cNvPr id="24" name="Shape 22"/>
          <p:cNvSpPr/>
          <p:nvPr/>
        </p:nvSpPr>
        <p:spPr>
          <a:xfrm>
            <a:off x="8193024" y="3383280"/>
            <a:ext cx="3520440" cy="1417320"/>
          </a:xfrm>
          <a:prstGeom prst="roundRect">
            <a:avLst>
              <a:gd name="adj" fmla="val 3871"/>
            </a:avLst>
          </a:prstGeom>
          <a:solidFill>
            <a:srgbClr val="FAF9F8"/>
          </a:solidFill>
          <a:ln w="12700">
            <a:solidFill>
              <a:srgbClr val="E4E1DE"/>
            </a:solidFill>
            <a:prstDash val="solid"/>
          </a:ln>
        </p:spPr>
      </p:sp>
      <p:sp>
        <p:nvSpPr>
          <p:cNvPr id="25" name="Shape 23"/>
          <p:cNvSpPr/>
          <p:nvPr/>
        </p:nvSpPr>
        <p:spPr>
          <a:xfrm>
            <a:off x="8449056" y="3639312"/>
            <a:ext cx="201168" cy="201168"/>
          </a:xfrm>
          <a:prstGeom prst="ellipse">
            <a:avLst/>
          </a:prstGeom>
          <a:solidFill>
            <a:srgbClr val="27607A"/>
          </a:solidFill>
          <a:ln w="12700">
            <a:solidFill>
              <a:srgbClr val="333333"/>
            </a:solidFill>
            <a:prstDash val="solid"/>
          </a:ln>
        </p:spPr>
      </p:sp>
      <p:sp>
        <p:nvSpPr>
          <p:cNvPr id="26" name="Text 24"/>
          <p:cNvSpPr/>
          <p:nvPr/>
        </p:nvSpPr>
        <p:spPr>
          <a:xfrm>
            <a:off x="8759952" y="3566160"/>
            <a:ext cx="2697480" cy="347472"/>
          </a:xfrm>
          <a:prstGeom prst="rect">
            <a:avLst/>
          </a:prstGeom>
          <a:noFill/>
          <a:ln/>
        </p:spPr>
        <p:txBody>
          <a:bodyPr wrap="square" lIns="0" tIns="0" rIns="0" bIns="0" rtlCol="0" anchor="ctr"/>
          <a:lstStyle/>
          <a:p>
            <a:pPr indent="0" marL="0">
              <a:buNone/>
            </a:pPr>
            <a:r>
              <a:rPr lang="en-US" sz="1500" b="1" dirty="0">
                <a:solidFill>
                  <a:srgbClr val="17161A"/>
                </a:solidFill>
                <a:latin typeface="Calibri" pitchFamily="34" charset="0"/>
                <a:ea typeface="Calibri" pitchFamily="34" charset="-122"/>
                <a:cs typeface="Calibri" pitchFamily="34" charset="-120"/>
              </a:rPr>
              <a:t>Network handover</a:t>
            </a:r>
            <a:endParaRPr lang="en-US" sz="1500" dirty="0"/>
          </a:p>
        </p:txBody>
      </p:sp>
      <p:sp>
        <p:nvSpPr>
          <p:cNvPr id="27" name="Text 25"/>
          <p:cNvSpPr/>
          <p:nvPr/>
        </p:nvSpPr>
        <p:spPr>
          <a:xfrm>
            <a:off x="8449056" y="3977640"/>
            <a:ext cx="3008376" cy="73152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MDDI, IMDA, SUTD, MLCommons/DeepMind introductions left open and warm.</a:t>
            </a:r>
            <a:endParaRPr lang="en-US" sz="1200" dirty="0"/>
          </a:p>
        </p:txBody>
      </p:sp>
      <p:sp>
        <p:nvSpPr>
          <p:cNvPr id="28" name="Text 26"/>
          <p:cNvSpPr/>
          <p:nvPr/>
        </p:nvSpPr>
        <p:spPr>
          <a:xfrm>
            <a:off x="640080" y="5074920"/>
            <a:ext cx="10881360" cy="457200"/>
          </a:xfrm>
          <a:prstGeom prst="rect">
            <a:avLst/>
          </a:prstGeom>
          <a:noFill/>
          <a:ln/>
        </p:spPr>
        <p:txBody>
          <a:bodyPr wrap="square" lIns="0" tIns="0" rIns="0" bIns="0" rtlCol="0" anchor="ctr"/>
          <a:lstStyle/>
          <a:p>
            <a:pPr indent="0" marL="0">
              <a:buNone/>
            </a:pPr>
            <a:r>
              <a:rPr lang="en-US" sz="1300" i="1" dirty="0">
                <a:solidFill>
                  <a:srgbClr val="8A8691"/>
                </a:solidFill>
                <a:latin typeface="Calibri" pitchFamily="34" charset="0"/>
                <a:ea typeface="Calibri" pitchFamily="34" charset="-122"/>
                <a:cs typeface="Calibri" pitchFamily="34" charset="-120"/>
              </a:rPr>
              <a:t>The report and the preprint are the deliverables. The grant call and the introductions are the part that keeps working after the contract ends.</a:t>
            </a:r>
            <a:endParaRPr lang="en-US" sz="1300" dirty="0"/>
          </a:p>
        </p:txBody>
      </p:sp>
      <p:sp>
        <p:nvSpPr>
          <p:cNvPr id="29" name="Text 27"/>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30" name="Text 28"/>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161A"/>
        </a:solidFill>
      </p:bgPr>
    </p:bg>
    <p:spTree>
      <p:nvGrpSpPr>
        <p:cNvPr id="1" name=""/>
        <p:cNvGrpSpPr/>
        <p:nvPr/>
      </p:nvGrpSpPr>
      <p:grpSpPr>
        <a:xfrm>
          <a:off x="0" y="0"/>
          <a:ext cx="0" cy="0"/>
          <a:chOff x="0" y="0"/>
          <a:chExt cx="0" cy="0"/>
        </a:xfrm>
      </p:grpSpPr>
      <p:sp>
        <p:nvSpPr>
          <p:cNvPr id="2" name="Text 0"/>
          <p:cNvSpPr/>
          <p:nvPr/>
        </p:nvSpPr>
        <p:spPr>
          <a:xfrm>
            <a:off x="640080" y="2286000"/>
            <a:ext cx="5486400" cy="320040"/>
          </a:xfrm>
          <a:prstGeom prst="rect">
            <a:avLst/>
          </a:prstGeom>
          <a:noFill/>
          <a:ln/>
        </p:spPr>
        <p:txBody>
          <a:bodyPr wrap="square" lIns="0" tIns="0" rIns="0" bIns="0" rtlCol="0" anchor="ctr"/>
          <a:lstStyle/>
          <a:p>
            <a:pPr indent="0" marL="0">
              <a:buNone/>
            </a:pPr>
            <a:r>
              <a:rPr lang="en-US" sz="1200" b="1" spc="300" kern="0" dirty="0">
                <a:solidFill>
                  <a:srgbClr val="C4432A"/>
                </a:solidFill>
                <a:latin typeface="Calibri" pitchFamily="34" charset="0"/>
                <a:ea typeface="Calibri" pitchFamily="34" charset="-122"/>
                <a:cs typeface="Calibri" pitchFamily="34" charset="-120"/>
              </a:rPr>
              <a:t>PART 2</a:t>
            </a:r>
            <a:endParaRPr lang="en-US" sz="1200" dirty="0"/>
          </a:p>
        </p:txBody>
      </p:sp>
      <p:sp>
        <p:nvSpPr>
          <p:cNvPr id="3" name="Text 1"/>
          <p:cNvSpPr/>
          <p:nvPr/>
        </p:nvSpPr>
        <p:spPr>
          <a:xfrm>
            <a:off x="640080" y="2697480"/>
            <a:ext cx="7863840" cy="13716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The data, and</a:t>
            </a:r>
            <a:endParaRPr lang="en-US" sz="4200" dirty="0"/>
          </a:p>
          <a:p>
            <a:pPr indent="0" marL="0">
              <a:buNone/>
            </a:pPr>
            <a:r>
              <a:rPr lang="en-US" sz="4200" b="1" dirty="0">
                <a:solidFill>
                  <a:srgbClr val="FFFFFF"/>
                </a:solidFill>
                <a:latin typeface="Cambria" pitchFamily="34" charset="0"/>
                <a:ea typeface="Cambria" pitchFamily="34" charset="-122"/>
                <a:cs typeface="Cambria" pitchFamily="34" charset="-120"/>
              </a:rPr>
              <a:t>its one constraint</a:t>
            </a:r>
            <a:endParaRPr lang="en-US" sz="4200" dirty="0"/>
          </a:p>
        </p:txBody>
      </p:sp>
      <p:sp>
        <p:nvSpPr>
          <p:cNvPr id="4" name="Text 2"/>
          <p:cNvSpPr/>
          <p:nvPr/>
        </p:nvSpPr>
        <p:spPr>
          <a:xfrm>
            <a:off x="640080" y="4114800"/>
            <a:ext cx="6949440" cy="914400"/>
          </a:xfrm>
          <a:prstGeom prst="rect">
            <a:avLst/>
          </a:prstGeom>
          <a:noFill/>
          <a:ln/>
        </p:spPr>
        <p:txBody>
          <a:bodyPr wrap="square" lIns="0" tIns="0" rIns="0" bIns="0" rtlCol="0" anchor="ctr"/>
          <a:lstStyle/>
          <a:p>
            <a:pPr indent="0" marL="0">
              <a:buNone/>
            </a:pPr>
            <a:r>
              <a:rPr lang="en-US" sz="1500" dirty="0">
                <a:solidFill>
                  <a:srgbClr val="B9B5BF"/>
                </a:solidFill>
                <a:latin typeface="Calibri" pitchFamily="34" charset="0"/>
                <a:ea typeface="Calibri" pitchFamily="34" charset="-122"/>
                <a:cs typeface="Calibri" pitchFamily="34" charset="-120"/>
              </a:rPr>
              <a:t>What 154 million items can tell you — and the thing they can never tell you.</a:t>
            </a:r>
            <a:endParaRPr lang="en-US" sz="1500" dirty="0"/>
          </a:p>
        </p:txBody>
      </p:sp>
      <p:sp>
        <p:nvSpPr>
          <p:cNvPr id="5" name="Shape 3"/>
          <p:cNvSpPr/>
          <p:nvPr/>
        </p:nvSpPr>
        <p:spPr>
          <a:xfrm>
            <a:off x="9814255" y="2651760"/>
            <a:ext cx="1280160" cy="1280160"/>
          </a:xfrm>
          <a:prstGeom prst="ellipse">
            <a:avLst/>
          </a:prstGeom>
          <a:solidFill>
            <a:srgbClr val="241F26"/>
          </a:solidFill>
          <a:ln w="12700">
            <a:solidFill>
              <a:srgbClr val="241F26"/>
            </a:solidFill>
            <a:prstDash val="solid"/>
          </a:ln>
        </p:spPr>
      </p:sp>
      <p:sp>
        <p:nvSpPr>
          <p:cNvPr id="6" name="Text 4"/>
          <p:cNvSpPr/>
          <p:nvPr/>
        </p:nvSpPr>
        <p:spPr>
          <a:xfrm>
            <a:off x="9814255" y="2651760"/>
            <a:ext cx="1280160" cy="1280160"/>
          </a:xfrm>
          <a:prstGeom prst="rect">
            <a:avLst/>
          </a:prstGeom>
          <a:noFill/>
          <a:ln/>
        </p:spPr>
        <p:txBody>
          <a:bodyPr wrap="square" lIns="0" tIns="0" rIns="0" bIns="0" rtlCol="0" anchor="ctr"/>
          <a:lstStyle/>
          <a:p>
            <a:pPr algn="ctr" indent="0" marL="0">
              <a:buNone/>
            </a:pPr>
            <a:r>
              <a:rPr lang="en-US" sz="4400" b="1" dirty="0">
                <a:solidFill>
                  <a:srgbClr val="C4432A"/>
                </a:solidFill>
                <a:latin typeface="Calibri" pitchFamily="34" charset="0"/>
                <a:ea typeface="Calibri" pitchFamily="34" charset="-122"/>
                <a:cs typeface="Calibri" pitchFamily="34" charset="-120"/>
              </a:rPr>
              <a:t>2</a:t>
            </a:r>
            <a:endParaRPr lang="en-US" sz="4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PART 2 · PROVENANCE</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The CATOS Dataset at a glance</a:t>
            </a:r>
            <a:endParaRPr lang="en-US" sz="3400" dirty="0"/>
          </a:p>
        </p:txBody>
      </p:sp>
      <p:sp>
        <p:nvSpPr>
          <p:cNvPr id="4" name="Text 2"/>
          <p:cNvSpPr/>
          <p:nvPr/>
        </p:nvSpPr>
        <p:spPr>
          <a:xfrm>
            <a:off x="640080" y="1600200"/>
            <a:ext cx="2377440" cy="777240"/>
          </a:xfrm>
          <a:prstGeom prst="rect">
            <a:avLst/>
          </a:prstGeom>
          <a:noFill/>
          <a:ln/>
        </p:spPr>
        <p:txBody>
          <a:bodyPr wrap="square" lIns="0" tIns="0" rIns="0" bIns="0" rtlCol="0" anchor="ctr"/>
          <a:lstStyle/>
          <a:p>
            <a:pPr indent="0" marL="0">
              <a:buNone/>
            </a:pPr>
            <a:r>
              <a:rPr lang="en-US" sz="4200" b="1" dirty="0">
                <a:solidFill>
                  <a:srgbClr val="C4432A"/>
                </a:solidFill>
                <a:latin typeface="Cambria" pitchFamily="34" charset="0"/>
                <a:ea typeface="Cambria" pitchFamily="34" charset="-122"/>
                <a:cs typeface="Cambria" pitchFamily="34" charset="-120"/>
              </a:rPr>
              <a:t>154.3M</a:t>
            </a:r>
            <a:endParaRPr lang="en-US" sz="4200" dirty="0"/>
          </a:p>
        </p:txBody>
      </p:sp>
      <p:sp>
        <p:nvSpPr>
          <p:cNvPr id="5" name="Text 3"/>
          <p:cNvSpPr/>
          <p:nvPr/>
        </p:nvSpPr>
        <p:spPr>
          <a:xfrm>
            <a:off x="640080" y="2350008"/>
            <a:ext cx="2377440" cy="640080"/>
          </a:xfrm>
          <a:prstGeom prst="rect">
            <a:avLst/>
          </a:prstGeom>
          <a:noFill/>
          <a:ln/>
        </p:spPr>
        <p:txBody>
          <a:bodyPr wrap="square" lIns="0" tIns="0" rIns="0" bIns="0" rtlCol="0" anchor="t"/>
          <a:lstStyle/>
          <a:p>
            <a:pPr indent="0" marL="0">
              <a:buNone/>
            </a:pPr>
            <a:r>
              <a:rPr lang="en-US" sz="1200" dirty="0">
                <a:solidFill>
                  <a:srgbClr val="55525C"/>
                </a:solidFill>
                <a:latin typeface="Calibri" pitchFamily="34" charset="0"/>
                <a:ea typeface="Calibri" pitchFamily="34" charset="-122"/>
                <a:cs typeface="Calibri" pitchFamily="34" charset="-120"/>
              </a:rPr>
              <a:t>posts and comments</a:t>
            </a:r>
            <a:endParaRPr lang="en-US" sz="1200" dirty="0"/>
          </a:p>
          <a:p>
            <a:pPr indent="0" marL="0">
              <a:buNone/>
            </a:pPr>
            <a:r>
              <a:rPr lang="en-US" sz="1200" dirty="0">
                <a:solidFill>
                  <a:srgbClr val="55525C"/>
                </a:solidFill>
                <a:latin typeface="Calibri" pitchFamily="34" charset="0"/>
                <a:ea typeface="Calibri" pitchFamily="34" charset="-122"/>
                <a:cs typeface="Calibri" pitchFamily="34" charset="-120"/>
              </a:rPr>
              <a:t>Jan 2020 – Jun 2026</a:t>
            </a:r>
            <a:endParaRPr lang="en-US" sz="1200" dirty="0"/>
          </a:p>
        </p:txBody>
      </p:sp>
      <p:sp>
        <p:nvSpPr>
          <p:cNvPr id="6" name="Text 4"/>
          <p:cNvSpPr/>
          <p:nvPr/>
        </p:nvSpPr>
        <p:spPr>
          <a:xfrm>
            <a:off x="3154680" y="1600200"/>
            <a:ext cx="2377440" cy="777240"/>
          </a:xfrm>
          <a:prstGeom prst="rect">
            <a:avLst/>
          </a:prstGeom>
          <a:noFill/>
          <a:ln/>
        </p:spPr>
        <p:txBody>
          <a:bodyPr wrap="square" lIns="0" tIns="0" rIns="0" bIns="0" rtlCol="0" anchor="ctr"/>
          <a:lstStyle/>
          <a:p>
            <a:pPr indent="0" marL="0">
              <a:buNone/>
            </a:pPr>
            <a:r>
              <a:rPr lang="en-US" sz="4200" b="1" dirty="0">
                <a:solidFill>
                  <a:srgbClr val="27607A"/>
                </a:solidFill>
                <a:latin typeface="Cambria" pitchFamily="34" charset="0"/>
                <a:ea typeface="Cambria" pitchFamily="34" charset="-122"/>
                <a:cs typeface="Cambria" pitchFamily="34" charset="-120"/>
              </a:rPr>
              <a:t>267</a:t>
            </a:r>
            <a:endParaRPr lang="en-US" sz="4200" dirty="0"/>
          </a:p>
        </p:txBody>
      </p:sp>
      <p:sp>
        <p:nvSpPr>
          <p:cNvPr id="7" name="Text 5"/>
          <p:cNvSpPr/>
          <p:nvPr/>
        </p:nvSpPr>
        <p:spPr>
          <a:xfrm>
            <a:off x="3154680" y="2350008"/>
            <a:ext cx="2377440" cy="640080"/>
          </a:xfrm>
          <a:prstGeom prst="rect">
            <a:avLst/>
          </a:prstGeom>
          <a:noFill/>
          <a:ln/>
        </p:spPr>
        <p:txBody>
          <a:bodyPr wrap="square" lIns="0" tIns="0" rIns="0" bIns="0" rtlCol="0" anchor="t"/>
          <a:lstStyle/>
          <a:p>
            <a:pPr indent="0" marL="0">
              <a:buNone/>
            </a:pPr>
            <a:r>
              <a:rPr lang="en-US" sz="1200" dirty="0">
                <a:solidFill>
                  <a:srgbClr val="55525C"/>
                </a:solidFill>
                <a:latin typeface="Calibri" pitchFamily="34" charset="0"/>
                <a:ea typeface="Calibri" pitchFamily="34" charset="-122"/>
                <a:cs typeface="Calibri" pitchFamily="34" charset="-120"/>
              </a:rPr>
              <a:t>distinct spaces</a:t>
            </a:r>
            <a:endParaRPr lang="en-US" sz="1200" dirty="0"/>
          </a:p>
          <a:p>
            <a:pPr indent="0" marL="0">
              <a:buNone/>
            </a:pPr>
            <a:r>
              <a:rPr lang="en-US" sz="1200" dirty="0">
                <a:solidFill>
                  <a:srgbClr val="55525C"/>
                </a:solidFill>
                <a:latin typeface="Calibri" pitchFamily="34" charset="0"/>
                <a:ea typeface="Calibri" pitchFamily="34" charset="-122"/>
                <a:cs typeface="Calibri" pitchFamily="34" charset="-120"/>
              </a:rPr>
              <a:t>pages, subreddits, channels</a:t>
            </a:r>
            <a:endParaRPr lang="en-US" sz="1200" dirty="0"/>
          </a:p>
        </p:txBody>
      </p:sp>
      <p:sp>
        <p:nvSpPr>
          <p:cNvPr id="8" name="Text 6"/>
          <p:cNvSpPr/>
          <p:nvPr/>
        </p:nvSpPr>
        <p:spPr>
          <a:xfrm>
            <a:off x="5669280" y="1600200"/>
            <a:ext cx="2377440" cy="777240"/>
          </a:xfrm>
          <a:prstGeom prst="rect">
            <a:avLst/>
          </a:prstGeom>
          <a:noFill/>
          <a:ln/>
        </p:spPr>
        <p:txBody>
          <a:bodyPr wrap="square" lIns="0" tIns="0" rIns="0" bIns="0" rtlCol="0" anchor="ctr"/>
          <a:lstStyle/>
          <a:p>
            <a:pPr indent="0" marL="0">
              <a:buNone/>
            </a:pPr>
            <a:r>
              <a:rPr lang="en-US" sz="3600" b="1" dirty="0">
                <a:solidFill>
                  <a:srgbClr val="C4432A"/>
                </a:solidFill>
                <a:latin typeface="Cambria" pitchFamily="34" charset="0"/>
                <a:ea typeface="Cambria" pitchFamily="34" charset="-122"/>
                <a:cs typeface="Cambria" pitchFamily="34" charset="-120"/>
              </a:rPr>
              <a:t>105,022</a:t>
            </a:r>
            <a:endParaRPr lang="en-US" sz="3600" dirty="0"/>
          </a:p>
        </p:txBody>
      </p:sp>
      <p:sp>
        <p:nvSpPr>
          <p:cNvPr id="9" name="Text 7"/>
          <p:cNvSpPr/>
          <p:nvPr/>
        </p:nvSpPr>
        <p:spPr>
          <a:xfrm>
            <a:off x="5669280" y="2350008"/>
            <a:ext cx="2377440" cy="640080"/>
          </a:xfrm>
          <a:prstGeom prst="rect">
            <a:avLst/>
          </a:prstGeom>
          <a:noFill/>
          <a:ln/>
        </p:spPr>
        <p:txBody>
          <a:bodyPr wrap="square" lIns="0" tIns="0" rIns="0" bIns="0" rtlCol="0" anchor="t"/>
          <a:lstStyle/>
          <a:p>
            <a:pPr indent="0" marL="0">
              <a:buNone/>
            </a:pPr>
            <a:r>
              <a:rPr lang="en-US" sz="1200" dirty="0">
                <a:solidFill>
                  <a:srgbClr val="55525C"/>
                </a:solidFill>
                <a:latin typeface="Calibri" pitchFamily="34" charset="0"/>
                <a:ea typeface="Calibri" pitchFamily="34" charset="-122"/>
                <a:cs typeface="Calibri" pitchFamily="34" charset="-120"/>
              </a:rPr>
              <a:t>domains behind</a:t>
            </a:r>
            <a:endParaRPr lang="en-US" sz="1200" dirty="0"/>
          </a:p>
          <a:p>
            <a:pPr indent="0" marL="0">
              <a:buNone/>
            </a:pPr>
            <a:r>
              <a:rPr lang="en-US" sz="1200" dirty="0">
                <a:solidFill>
                  <a:srgbClr val="55525C"/>
                </a:solidFill>
                <a:latin typeface="Calibri" pitchFamily="34" charset="0"/>
                <a:ea typeface="Calibri" pitchFamily="34" charset="-122"/>
                <a:cs typeface="Calibri" pitchFamily="34" charset="-120"/>
              </a:rPr>
              <a:t>11.96M URLs</a:t>
            </a:r>
            <a:endParaRPr lang="en-US" sz="1200" dirty="0"/>
          </a:p>
        </p:txBody>
      </p:sp>
      <p:graphicFrame>
        <p:nvGraphicFramePr>
          <p:cNvPr id="10" name="Chart 0" descr=""/>
          <p:cNvGraphicFramePr/>
          <p:nvPr/>
        </p:nvGraphicFramePr>
        <p:xfrm>
          <a:off x="7635240" y="1463040"/>
          <a:ext cx="3931920" cy="274320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p:nvPr/>
        </p:nvSpPr>
        <p:spPr>
          <a:xfrm>
            <a:off x="640080" y="3840480"/>
            <a:ext cx="6675120" cy="822960"/>
          </a:xfrm>
          <a:prstGeom prst="rect">
            <a:avLst/>
          </a:prstGeom>
          <a:noFill/>
          <a:ln/>
        </p:spPr>
        <p:txBody>
          <a:bodyPr wrap="square" lIns="0" tIns="0" rIns="0" bIns="0" rtlCol="0" anchor="ctr"/>
          <a:lstStyle/>
          <a:p>
            <a:pPr indent="0" marL="0">
              <a:buNone/>
            </a:pPr>
            <a:r>
              <a:rPr lang="en-US" sz="1500" b="1" dirty="0">
                <a:solidFill>
                  <a:srgbClr val="C4432A"/>
                </a:solidFill>
                <a:latin typeface="Calibri" pitchFamily="34" charset="0"/>
                <a:ea typeface="Calibri" pitchFamily="34" charset="-122"/>
                <a:cs typeface="Calibri" pitchFamily="34" charset="-120"/>
              </a:rPr>
              <a:t>84%</a:t>
            </a:r>
            <a:pPr indent="0" marL="0">
              <a:buNone/>
            </a:pPr>
            <a:r>
              <a:rPr lang="en-US" sz="1500" dirty="0">
                <a:solidFill>
                  <a:srgbClr val="55525C"/>
                </a:solidFill>
                <a:latin typeface="Calibri" pitchFamily="34" charset="0"/>
                <a:ea typeface="Calibri" pitchFamily="34" charset="-122"/>
                <a:cs typeface="Calibri" pitchFamily="34" charset="-120"/>
              </a:rPr>
              <a:t> of the corpus is Facebook — which matters enormously in a moment, because it is also the platform with no provider safety score at all.</a:t>
            </a:r>
            <a:endParaRPr lang="en-US" sz="1500" dirty="0"/>
          </a:p>
        </p:txBody>
      </p:sp>
      <p:sp>
        <p:nvSpPr>
          <p:cNvPr id="12" name="Text 9"/>
          <p:cNvSpPr/>
          <p:nvPr/>
        </p:nvSpPr>
        <p:spPr>
          <a:xfrm>
            <a:off x="640080" y="4709160"/>
            <a:ext cx="10881360" cy="777240"/>
          </a:xfrm>
          <a:prstGeom prst="rect">
            <a:avLst/>
          </a:prstGeom>
          <a:noFill/>
          <a:ln/>
        </p:spPr>
        <p:txBody>
          <a:bodyPr wrap="square" lIns="0" tIns="0" rIns="0" bIns="0" rtlCol="0" anchor="ctr"/>
          <a:lstStyle/>
          <a:p>
            <a:pPr indent="0" marL="0">
              <a:buNone/>
            </a:pPr>
            <a:r>
              <a:rPr lang="en-US" sz="1400" dirty="0">
                <a:solidFill>
                  <a:srgbClr val="55525C"/>
                </a:solidFill>
                <a:latin typeface="Calibri" pitchFamily="34" charset="0"/>
                <a:ea typeface="Calibri" pitchFamily="34" charset="-122"/>
                <a:cs typeface="Calibri" pitchFamily="34" charset="-120"/>
              </a:rPr>
              <a:t>One national conversation, running simultaneously in English, Malay, Mandarin and other Chinese varieties, and Tamil — across three platforms and into the messaging apps people are funnelled toward.</a:t>
            </a:r>
            <a:endParaRPr lang="en-US" sz="1400" dirty="0"/>
          </a:p>
        </p:txBody>
      </p:sp>
      <p:sp>
        <p:nvSpPr>
          <p:cNvPr id="13" name="Text 10"/>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14" name="Text 11"/>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PART 2 · F000, THE ACTOR-LESS CORPUS</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The constraint that shaped everything</a:t>
            </a:r>
            <a:endParaRPr lang="en-US" sz="3400" dirty="0"/>
          </a:p>
        </p:txBody>
      </p:sp>
      <p:sp>
        <p:nvSpPr>
          <p:cNvPr id="4" name="Text 2"/>
          <p:cNvSpPr/>
          <p:nvPr/>
        </p:nvSpPr>
        <p:spPr>
          <a:xfrm>
            <a:off x="640080" y="1572768"/>
            <a:ext cx="10881360" cy="411480"/>
          </a:xfrm>
          <a:prstGeom prst="rect">
            <a:avLst/>
          </a:prstGeom>
          <a:noFill/>
          <a:ln/>
        </p:spPr>
        <p:txBody>
          <a:bodyPr wrap="square" lIns="0" tIns="0" rIns="0" bIns="0" rtlCol="0" anchor="ctr"/>
          <a:lstStyle/>
          <a:p>
            <a:pPr indent="0" marL="0">
              <a:buNone/>
            </a:pPr>
            <a:r>
              <a:rPr lang="en-US" sz="1800" b="1" dirty="0">
                <a:solidFill>
                  <a:srgbClr val="C4432A"/>
                </a:solidFill>
                <a:latin typeface="Calibri" pitchFamily="34" charset="0"/>
                <a:ea typeface="Calibri" pitchFamily="34" charset="-122"/>
                <a:cs typeface="Calibri" pitchFamily="34" charset="-120"/>
              </a:rPr>
              <a:t>The dataset carries no usable account identities. None.</a:t>
            </a:r>
            <a:endParaRPr lang="en-US" sz="1800" dirty="0"/>
          </a:p>
        </p:txBody>
      </p:sp>
      <p:sp>
        <p:nvSpPr>
          <p:cNvPr id="5" name="Shape 3"/>
          <p:cNvSpPr/>
          <p:nvPr/>
        </p:nvSpPr>
        <p:spPr>
          <a:xfrm>
            <a:off x="640080" y="2194560"/>
            <a:ext cx="5257800" cy="2606040"/>
          </a:xfrm>
          <a:prstGeom prst="roundRect">
            <a:avLst>
              <a:gd name="adj" fmla="val 2105"/>
            </a:avLst>
          </a:prstGeom>
          <a:solidFill>
            <a:srgbClr val="EAF0F3"/>
          </a:solidFill>
          <a:ln w="12700">
            <a:solidFill>
              <a:srgbClr val="EAF0F3"/>
            </a:solidFill>
            <a:prstDash val="solid"/>
          </a:ln>
        </p:spPr>
      </p:sp>
      <p:sp>
        <p:nvSpPr>
          <p:cNvPr id="6" name="Text 4"/>
          <p:cNvSpPr/>
          <p:nvPr/>
        </p:nvSpPr>
        <p:spPr>
          <a:xfrm>
            <a:off x="960120" y="2395728"/>
            <a:ext cx="4617720" cy="320040"/>
          </a:xfrm>
          <a:prstGeom prst="rect">
            <a:avLst/>
          </a:prstGeom>
          <a:noFill/>
          <a:ln/>
        </p:spPr>
        <p:txBody>
          <a:bodyPr wrap="square" lIns="0" tIns="0" rIns="0" bIns="0" rtlCol="0" anchor="ctr"/>
          <a:lstStyle/>
          <a:p>
            <a:pPr indent="0" marL="0">
              <a:buNone/>
            </a:pPr>
            <a:r>
              <a:rPr lang="en-US" sz="1500" b="1" dirty="0">
                <a:solidFill>
                  <a:srgbClr val="27607A"/>
                </a:solidFill>
                <a:latin typeface="Calibri" pitchFamily="34" charset="0"/>
                <a:ea typeface="Calibri" pitchFamily="34" charset="-122"/>
                <a:cs typeface="Calibri" pitchFamily="34" charset="-120"/>
              </a:rPr>
              <a:t>What that lets us see</a:t>
            </a:r>
            <a:endParaRPr lang="en-US" sz="1500" dirty="0"/>
          </a:p>
        </p:txBody>
      </p:sp>
      <p:sp>
        <p:nvSpPr>
          <p:cNvPr id="7" name="Text 5"/>
          <p:cNvSpPr/>
          <p:nvPr/>
        </p:nvSpPr>
        <p:spPr>
          <a:xfrm>
            <a:off x="960120" y="2788920"/>
            <a:ext cx="4617720" cy="1828800"/>
          </a:xfrm>
          <a:prstGeom prst="rect">
            <a:avLst/>
          </a:prstGeom>
          <a:noFill/>
          <a:ln/>
        </p:spPr>
        <p:txBody>
          <a:bodyPr wrap="square" lIns="0" tIns="0" rIns="0" bIns="0" rtlCol="0" anchor="t"/>
          <a:lstStyle/>
          <a:p>
            <a:pPr marL="228600" indent="-228600">
              <a:spcAft>
                <a:spcPts val="1000"/>
              </a:spcAft>
              <a:buSzPct val="100000"/>
              <a:buChar char="•"/>
            </a:pPr>
            <a:r>
              <a:rPr lang="en-US" sz="1350" dirty="0">
                <a:solidFill>
                  <a:srgbClr val="17161A"/>
                </a:solidFill>
                <a:latin typeface="Calibri" pitchFamily="34" charset="0"/>
                <a:ea typeface="Calibri" pitchFamily="34" charset="-122"/>
                <a:cs typeface="Calibri" pitchFamily="34" charset="-120"/>
              </a:rPr>
              <a:t>What was said — the content itself</a:t>
            </a:r>
            <a:endParaRPr lang="en-US" sz="1350" dirty="0"/>
          </a:p>
          <a:p>
            <a:pPr marL="228600" indent="-228600">
              <a:spcAft>
                <a:spcPts val="1000"/>
              </a:spcAft>
              <a:buSzPct val="100000"/>
              <a:buChar char="•"/>
            </a:pPr>
            <a:r>
              <a:rPr lang="en-US" sz="1350" dirty="0">
                <a:solidFill>
                  <a:srgbClr val="17161A"/>
                </a:solidFill>
                <a:latin typeface="Calibri" pitchFamily="34" charset="0"/>
                <a:ea typeface="Calibri" pitchFamily="34" charset="-122"/>
                <a:cs typeface="Calibri" pitchFamily="34" charset="-120"/>
              </a:rPr>
              <a:t>When it was said — to the second</a:t>
            </a:r>
            <a:endParaRPr lang="en-US" sz="1350" dirty="0"/>
          </a:p>
          <a:p>
            <a:pPr marL="228600" indent="-228600">
              <a:spcAft>
                <a:spcPts val="1000"/>
              </a:spcAft>
              <a:buSzPct val="100000"/>
              <a:buChar char="•"/>
            </a:pPr>
            <a:r>
              <a:rPr lang="en-US" sz="1350" dirty="0">
                <a:solidFill>
                  <a:srgbClr val="17161A"/>
                </a:solidFill>
                <a:latin typeface="Calibri" pitchFamily="34" charset="0"/>
                <a:ea typeface="Calibri" pitchFamily="34" charset="-122"/>
                <a:cs typeface="Calibri" pitchFamily="34" charset="-120"/>
              </a:rPr>
              <a:t>Where it appeared — which page, subreddit, channel</a:t>
            </a:r>
            <a:endParaRPr lang="en-US" sz="1350" dirty="0"/>
          </a:p>
          <a:p>
            <a:pPr marL="228600" indent="-228600">
              <a:spcAft>
                <a:spcPts val="1000"/>
              </a:spcAft>
              <a:buSzPct val="100000"/>
              <a:buChar char="•"/>
            </a:pPr>
            <a:r>
              <a:rPr lang="en-US" sz="1350" dirty="0">
                <a:solidFill>
                  <a:srgbClr val="17161A"/>
                </a:solidFill>
                <a:latin typeface="Calibri" pitchFamily="34" charset="0"/>
                <a:ea typeface="Calibri" pitchFamily="34" charset="-122"/>
                <a:cs typeface="Calibri" pitchFamily="34" charset="-120"/>
              </a:rPr>
              <a:t>What it linked to — URLs, domains, infrastructure</a:t>
            </a:r>
            <a:endParaRPr lang="en-US" sz="1350" dirty="0"/>
          </a:p>
        </p:txBody>
      </p:sp>
      <p:sp>
        <p:nvSpPr>
          <p:cNvPr id="8" name="Shape 6"/>
          <p:cNvSpPr/>
          <p:nvPr/>
        </p:nvSpPr>
        <p:spPr>
          <a:xfrm>
            <a:off x="6263640" y="2194560"/>
            <a:ext cx="5257800" cy="2606040"/>
          </a:xfrm>
          <a:prstGeom prst="roundRect">
            <a:avLst>
              <a:gd name="adj" fmla="val 2105"/>
            </a:avLst>
          </a:prstGeom>
          <a:solidFill>
            <a:srgbClr val="FBF0ED"/>
          </a:solidFill>
          <a:ln w="12700">
            <a:solidFill>
              <a:srgbClr val="FBF0ED"/>
            </a:solidFill>
            <a:prstDash val="solid"/>
          </a:ln>
        </p:spPr>
      </p:sp>
      <p:sp>
        <p:nvSpPr>
          <p:cNvPr id="9" name="Text 7"/>
          <p:cNvSpPr/>
          <p:nvPr/>
        </p:nvSpPr>
        <p:spPr>
          <a:xfrm>
            <a:off x="6583680" y="2395728"/>
            <a:ext cx="4617720" cy="320040"/>
          </a:xfrm>
          <a:prstGeom prst="rect">
            <a:avLst/>
          </a:prstGeom>
          <a:noFill/>
          <a:ln/>
        </p:spPr>
        <p:txBody>
          <a:bodyPr wrap="square" lIns="0" tIns="0" rIns="0" bIns="0" rtlCol="0" anchor="ctr"/>
          <a:lstStyle/>
          <a:p>
            <a:pPr indent="0" marL="0">
              <a:buNone/>
            </a:pPr>
            <a:r>
              <a:rPr lang="en-US" sz="1500" b="1" dirty="0">
                <a:solidFill>
                  <a:srgbClr val="C4432A"/>
                </a:solidFill>
                <a:latin typeface="Calibri" pitchFamily="34" charset="0"/>
                <a:ea typeface="Calibri" pitchFamily="34" charset="-122"/>
                <a:cs typeface="Calibri" pitchFamily="34" charset="-120"/>
              </a:rPr>
              <a:t>What it puts permanently out of reach</a:t>
            </a:r>
            <a:endParaRPr lang="en-US" sz="1500" dirty="0"/>
          </a:p>
        </p:txBody>
      </p:sp>
      <p:sp>
        <p:nvSpPr>
          <p:cNvPr id="10" name="Text 8"/>
          <p:cNvSpPr/>
          <p:nvPr/>
        </p:nvSpPr>
        <p:spPr>
          <a:xfrm>
            <a:off x="6583680" y="2788920"/>
            <a:ext cx="4617720" cy="1828800"/>
          </a:xfrm>
          <a:prstGeom prst="rect">
            <a:avLst/>
          </a:prstGeom>
          <a:noFill/>
          <a:ln/>
        </p:spPr>
        <p:txBody>
          <a:bodyPr wrap="square" lIns="0" tIns="0" rIns="0" bIns="0" rtlCol="0" anchor="t"/>
          <a:lstStyle/>
          <a:p>
            <a:pPr marL="228600" indent="-228600">
              <a:spcAft>
                <a:spcPts val="1000"/>
              </a:spcAft>
              <a:buSzPct val="100000"/>
              <a:buChar char="•"/>
            </a:pPr>
            <a:r>
              <a:rPr lang="en-US" sz="1350" dirty="0">
                <a:solidFill>
                  <a:srgbClr val="17161A"/>
                </a:solidFill>
                <a:latin typeface="Calibri" pitchFamily="34" charset="0"/>
                <a:ea typeface="Calibri" pitchFamily="34" charset="-122"/>
                <a:cs typeface="Calibri" pitchFamily="34" charset="-120"/>
              </a:rPr>
              <a:t>Who said it — no accounts, no operators</a:t>
            </a:r>
            <a:endParaRPr lang="en-US" sz="1350" dirty="0"/>
          </a:p>
          <a:p>
            <a:pPr marL="228600" indent="-228600">
              <a:spcAft>
                <a:spcPts val="1000"/>
              </a:spcAft>
              <a:buSzPct val="100000"/>
              <a:buChar char="•"/>
            </a:pPr>
            <a:r>
              <a:rPr lang="en-US" sz="1350" dirty="0">
                <a:solidFill>
                  <a:srgbClr val="17161A"/>
                </a:solidFill>
                <a:latin typeface="Calibri" pitchFamily="34" charset="0"/>
                <a:ea typeface="Calibri" pitchFamily="34" charset="-122"/>
                <a:cs typeface="Calibri" pitchFamily="34" charset="-120"/>
              </a:rPr>
              <a:t>Sockpuppet detection and bot-network mapping</a:t>
            </a:r>
            <a:endParaRPr lang="en-US" sz="1350" dirty="0"/>
          </a:p>
          <a:p>
            <a:pPr marL="228600" indent="-228600">
              <a:spcAft>
                <a:spcPts val="1000"/>
              </a:spcAft>
              <a:buSzPct val="100000"/>
              <a:buChar char="•"/>
            </a:pPr>
            <a:r>
              <a:rPr lang="en-US" sz="1350" dirty="0">
                <a:solidFill>
                  <a:srgbClr val="17161A"/>
                </a:solidFill>
                <a:latin typeface="Calibri" pitchFamily="34" charset="0"/>
                <a:ea typeface="Calibri" pitchFamily="34" charset="-122"/>
                <a:cs typeface="Calibri" pitchFamily="34" charset="-120"/>
              </a:rPr>
              <a:t>Attribution to any actor, group, or state</a:t>
            </a:r>
            <a:endParaRPr lang="en-US" sz="1350" dirty="0"/>
          </a:p>
          <a:p>
            <a:pPr marL="228600" indent="-228600">
              <a:spcAft>
                <a:spcPts val="1000"/>
              </a:spcAft>
              <a:buSzPct val="100000"/>
              <a:buChar char="•"/>
            </a:pPr>
            <a:r>
              <a:rPr lang="en-US" sz="1350" dirty="0">
                <a:solidFill>
                  <a:srgbClr val="17161A"/>
                </a:solidFill>
                <a:latin typeface="Calibri" pitchFamily="34" charset="0"/>
                <a:ea typeface="Calibri" pitchFamily="34" charset="-122"/>
                <a:cs typeface="Calibri" pitchFamily="34" charset="-120"/>
              </a:rPr>
              <a:t>Whether repetition was authentic or inauthentic</a:t>
            </a:r>
            <a:endParaRPr lang="en-US" sz="1350" dirty="0"/>
          </a:p>
        </p:txBody>
      </p:sp>
      <p:sp>
        <p:nvSpPr>
          <p:cNvPr id="11" name="Text 9"/>
          <p:cNvSpPr/>
          <p:nvPr/>
        </p:nvSpPr>
        <p:spPr>
          <a:xfrm>
            <a:off x="640080" y="5029200"/>
            <a:ext cx="10881360" cy="731520"/>
          </a:xfrm>
          <a:prstGeom prst="rect">
            <a:avLst/>
          </a:prstGeom>
          <a:noFill/>
          <a:ln/>
        </p:spPr>
        <p:txBody>
          <a:bodyPr wrap="square" lIns="0" tIns="0" rIns="0" bIns="0" rtlCol="0" anchor="ctr"/>
          <a:lstStyle/>
          <a:p>
            <a:pPr indent="0" marL="0">
              <a:buNone/>
            </a:pPr>
            <a:r>
              <a:rPr lang="en-US" sz="1400" dirty="0">
                <a:solidFill>
                  <a:srgbClr val="55525C"/>
                </a:solidFill>
                <a:latin typeface="Calibri" pitchFamily="34" charset="0"/>
                <a:ea typeface="Calibri" pitchFamily="34" charset="-122"/>
                <a:cs typeface="Calibri" pitchFamily="34" charset="-120"/>
              </a:rPr>
              <a:t>The entire account-level toolkit that platform-integrity work usually centres on is out of scope by construction. So the study was rebuilt around content, timing, and infrastructure — the three things the data can actually carry.</a:t>
            </a:r>
            <a:endParaRPr lang="en-US" sz="1400" dirty="0"/>
          </a:p>
        </p:txBody>
      </p:sp>
      <p:sp>
        <p:nvSpPr>
          <p:cNvPr id="12" name="Text 10"/>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13" name="Text 11"/>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PART 2 · VOCABULARY DISCIPLINE</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So when this report says 'coordinated'…</a:t>
            </a:r>
            <a:endParaRPr lang="en-US" sz="3400" dirty="0"/>
          </a:p>
        </p:txBody>
      </p:sp>
      <p:sp>
        <p:nvSpPr>
          <p:cNvPr id="4" name="Shape 2"/>
          <p:cNvSpPr/>
          <p:nvPr/>
        </p:nvSpPr>
        <p:spPr>
          <a:xfrm>
            <a:off x="640080" y="1572768"/>
            <a:ext cx="10881360" cy="1051560"/>
          </a:xfrm>
          <a:prstGeom prst="roundRect">
            <a:avLst>
              <a:gd name="adj" fmla="val 5217"/>
            </a:avLst>
          </a:prstGeom>
          <a:solidFill>
            <a:srgbClr val="17161A"/>
          </a:solidFill>
          <a:ln w="12700">
            <a:solidFill>
              <a:srgbClr val="17161A"/>
            </a:solidFill>
            <a:prstDash val="solid"/>
          </a:ln>
        </p:spPr>
      </p:sp>
      <p:sp>
        <p:nvSpPr>
          <p:cNvPr id="5" name="Text 3"/>
          <p:cNvSpPr/>
          <p:nvPr/>
        </p:nvSpPr>
        <p:spPr>
          <a:xfrm>
            <a:off x="1005840" y="1700784"/>
            <a:ext cx="10149840" cy="8229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…it means one thing only: the same text, verbatim, reposted across several distinct communities, in a temporal pattern tighter than chance predicts.</a:t>
            </a:r>
            <a:endParaRPr lang="en-US" sz="1600" dirty="0"/>
          </a:p>
        </p:txBody>
      </p:sp>
      <p:sp>
        <p:nvSpPr>
          <p:cNvPr id="6" name="Text 4"/>
          <p:cNvSpPr/>
          <p:nvPr/>
        </p:nvSpPr>
        <p:spPr>
          <a:xfrm>
            <a:off x="640080" y="2834640"/>
            <a:ext cx="10881360" cy="365760"/>
          </a:xfrm>
          <a:prstGeom prst="rect">
            <a:avLst/>
          </a:prstGeom>
          <a:noFill/>
          <a:ln/>
        </p:spPr>
        <p:txBody>
          <a:bodyPr wrap="square" lIns="0" tIns="0" rIns="0" bIns="0" rtlCol="0" anchor="ctr"/>
          <a:lstStyle/>
          <a:p>
            <a:pPr indent="0" marL="0">
              <a:buNone/>
            </a:pPr>
            <a:r>
              <a:rPr lang="en-US" sz="1500" dirty="0">
                <a:solidFill>
                  <a:srgbClr val="17161A"/>
                </a:solidFill>
                <a:latin typeface="Calibri" pitchFamily="34" charset="0"/>
                <a:ea typeface="Calibri" pitchFamily="34" charset="-122"/>
                <a:cs typeface="Calibri" pitchFamily="34" charset="-120"/>
              </a:rPr>
              <a:t>Read 'coordinated' as 'verbatim-repeated across spaces' — and no more. It is equally consistent with:</a:t>
            </a:r>
            <a:endParaRPr lang="en-US" sz="1500" dirty="0"/>
          </a:p>
        </p:txBody>
      </p:sp>
      <p:sp>
        <p:nvSpPr>
          <p:cNvPr id="7" name="Shape 5"/>
          <p:cNvSpPr/>
          <p:nvPr/>
        </p:nvSpPr>
        <p:spPr>
          <a:xfrm>
            <a:off x="640080" y="3383280"/>
            <a:ext cx="2606040" cy="1600200"/>
          </a:xfrm>
          <a:prstGeom prst="roundRect">
            <a:avLst>
              <a:gd name="adj" fmla="val 3429"/>
            </a:avLst>
          </a:prstGeom>
          <a:solidFill>
            <a:srgbClr val="FAF9F8"/>
          </a:solidFill>
          <a:ln w="12700">
            <a:solidFill>
              <a:srgbClr val="E4E1DE"/>
            </a:solidFill>
            <a:prstDash val="solid"/>
          </a:ln>
        </p:spPr>
      </p:sp>
      <p:sp>
        <p:nvSpPr>
          <p:cNvPr id="8" name="Text 6"/>
          <p:cNvSpPr/>
          <p:nvPr/>
        </p:nvSpPr>
        <p:spPr>
          <a:xfrm>
            <a:off x="868680" y="3584448"/>
            <a:ext cx="2148840" cy="548640"/>
          </a:xfrm>
          <a:prstGeom prst="rect">
            <a:avLst/>
          </a:prstGeom>
          <a:noFill/>
          <a:ln/>
        </p:spPr>
        <p:txBody>
          <a:bodyPr wrap="square" lIns="0" tIns="0" rIns="0" bIns="0" rtlCol="0" anchor="ctr"/>
          <a:lstStyle/>
          <a:p>
            <a:pPr indent="0" marL="0">
              <a:buNone/>
            </a:pPr>
            <a:r>
              <a:rPr lang="en-US" sz="1400" b="1" dirty="0">
                <a:solidFill>
                  <a:srgbClr val="C4432A"/>
                </a:solidFill>
                <a:latin typeface="Calibri" pitchFamily="34" charset="0"/>
                <a:ea typeface="Calibri" pitchFamily="34" charset="-122"/>
                <a:cs typeface="Calibri" pitchFamily="34" charset="-120"/>
              </a:rPr>
              <a:t>An organised campaign</a:t>
            </a:r>
            <a:endParaRPr lang="en-US" sz="1400" dirty="0"/>
          </a:p>
        </p:txBody>
      </p:sp>
      <p:sp>
        <p:nvSpPr>
          <p:cNvPr id="9" name="Text 7"/>
          <p:cNvSpPr/>
          <p:nvPr/>
        </p:nvSpPr>
        <p:spPr>
          <a:xfrm>
            <a:off x="868680" y="4114800"/>
            <a:ext cx="2148840" cy="73152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The reading people jump to. It is one of four.</a:t>
            </a:r>
            <a:endParaRPr lang="en-US" sz="1200" dirty="0"/>
          </a:p>
        </p:txBody>
      </p:sp>
      <p:sp>
        <p:nvSpPr>
          <p:cNvPr id="10" name="Shape 8"/>
          <p:cNvSpPr/>
          <p:nvPr/>
        </p:nvSpPr>
        <p:spPr>
          <a:xfrm>
            <a:off x="3364992" y="3383280"/>
            <a:ext cx="2606040" cy="1600200"/>
          </a:xfrm>
          <a:prstGeom prst="roundRect">
            <a:avLst>
              <a:gd name="adj" fmla="val 3429"/>
            </a:avLst>
          </a:prstGeom>
          <a:solidFill>
            <a:srgbClr val="FAF9F8"/>
          </a:solidFill>
          <a:ln w="12700">
            <a:solidFill>
              <a:srgbClr val="E4E1DE"/>
            </a:solidFill>
            <a:prstDash val="solid"/>
          </a:ln>
        </p:spPr>
      </p:sp>
      <p:sp>
        <p:nvSpPr>
          <p:cNvPr id="11" name="Text 9"/>
          <p:cNvSpPr/>
          <p:nvPr/>
        </p:nvSpPr>
        <p:spPr>
          <a:xfrm>
            <a:off x="3593592" y="3584448"/>
            <a:ext cx="2148840" cy="548640"/>
          </a:xfrm>
          <a:prstGeom prst="rect">
            <a:avLst/>
          </a:prstGeom>
          <a:noFill/>
          <a:ln/>
        </p:spPr>
        <p:txBody>
          <a:bodyPr wrap="square" lIns="0" tIns="0" rIns="0" bIns="0" rtlCol="0" anchor="ctr"/>
          <a:lstStyle/>
          <a:p>
            <a:pPr indent="0" marL="0">
              <a:buNone/>
            </a:pPr>
            <a:r>
              <a:rPr lang="en-US" sz="1400" b="1" dirty="0">
                <a:solidFill>
                  <a:srgbClr val="17161A"/>
                </a:solidFill>
                <a:latin typeface="Calibri" pitchFamily="34" charset="0"/>
                <a:ea typeface="Calibri" pitchFamily="34" charset="-122"/>
                <a:cs typeface="Calibri" pitchFamily="34" charset="-120"/>
              </a:rPr>
              <a:t>Loosely-organised people</a:t>
            </a:r>
            <a:endParaRPr lang="en-US" sz="1400" dirty="0"/>
          </a:p>
        </p:txBody>
      </p:sp>
      <p:sp>
        <p:nvSpPr>
          <p:cNvPr id="12" name="Text 10"/>
          <p:cNvSpPr/>
          <p:nvPr/>
        </p:nvSpPr>
        <p:spPr>
          <a:xfrm>
            <a:off x="3593592" y="4114800"/>
            <a:ext cx="2148840" cy="73152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Many individuals independently favouring the same slogan.</a:t>
            </a:r>
            <a:endParaRPr lang="en-US" sz="1200" dirty="0"/>
          </a:p>
        </p:txBody>
      </p:sp>
      <p:sp>
        <p:nvSpPr>
          <p:cNvPr id="13" name="Shape 11"/>
          <p:cNvSpPr/>
          <p:nvPr/>
        </p:nvSpPr>
        <p:spPr>
          <a:xfrm>
            <a:off x="6089904" y="3383280"/>
            <a:ext cx="2606040" cy="1600200"/>
          </a:xfrm>
          <a:prstGeom prst="roundRect">
            <a:avLst>
              <a:gd name="adj" fmla="val 3429"/>
            </a:avLst>
          </a:prstGeom>
          <a:solidFill>
            <a:srgbClr val="FAF9F8"/>
          </a:solidFill>
          <a:ln w="12700">
            <a:solidFill>
              <a:srgbClr val="E4E1DE"/>
            </a:solidFill>
            <a:prstDash val="solid"/>
          </a:ln>
        </p:spPr>
      </p:sp>
      <p:sp>
        <p:nvSpPr>
          <p:cNvPr id="14" name="Text 12"/>
          <p:cNvSpPr/>
          <p:nvPr/>
        </p:nvSpPr>
        <p:spPr>
          <a:xfrm>
            <a:off x="6318504" y="3584448"/>
            <a:ext cx="2148840" cy="548640"/>
          </a:xfrm>
          <a:prstGeom prst="rect">
            <a:avLst/>
          </a:prstGeom>
          <a:noFill/>
          <a:ln/>
        </p:spPr>
        <p:txBody>
          <a:bodyPr wrap="square" lIns="0" tIns="0" rIns="0" bIns="0" rtlCol="0" anchor="ctr"/>
          <a:lstStyle/>
          <a:p>
            <a:pPr indent="0" marL="0">
              <a:buNone/>
            </a:pPr>
            <a:r>
              <a:rPr lang="en-US" sz="1400" b="1" dirty="0">
                <a:solidFill>
                  <a:srgbClr val="17161A"/>
                </a:solidFill>
                <a:latin typeface="Calibri" pitchFamily="34" charset="0"/>
                <a:ea typeface="Calibri" pitchFamily="34" charset="-122"/>
                <a:cs typeface="Calibri" pitchFamily="34" charset="-120"/>
              </a:rPr>
              <a:t>A single viral post</a:t>
            </a:r>
            <a:endParaRPr lang="en-US" sz="1400" dirty="0"/>
          </a:p>
        </p:txBody>
      </p:sp>
      <p:sp>
        <p:nvSpPr>
          <p:cNvPr id="15" name="Text 13"/>
          <p:cNvSpPr/>
          <p:nvPr/>
        </p:nvSpPr>
        <p:spPr>
          <a:xfrm>
            <a:off x="6318504" y="4114800"/>
            <a:ext cx="2148840" cy="73152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Quoted, screenshotted, and re-pasted at scale.</a:t>
            </a:r>
            <a:endParaRPr lang="en-US" sz="1200" dirty="0"/>
          </a:p>
        </p:txBody>
      </p:sp>
      <p:sp>
        <p:nvSpPr>
          <p:cNvPr id="16" name="Shape 14"/>
          <p:cNvSpPr/>
          <p:nvPr/>
        </p:nvSpPr>
        <p:spPr>
          <a:xfrm>
            <a:off x="8814816" y="3383280"/>
            <a:ext cx="2606040" cy="1600200"/>
          </a:xfrm>
          <a:prstGeom prst="roundRect">
            <a:avLst>
              <a:gd name="adj" fmla="val 3429"/>
            </a:avLst>
          </a:prstGeom>
          <a:solidFill>
            <a:srgbClr val="FAF9F8"/>
          </a:solidFill>
          <a:ln w="12700">
            <a:solidFill>
              <a:srgbClr val="E4E1DE"/>
            </a:solidFill>
            <a:prstDash val="solid"/>
          </a:ln>
        </p:spPr>
      </p:sp>
      <p:sp>
        <p:nvSpPr>
          <p:cNvPr id="17" name="Text 15"/>
          <p:cNvSpPr/>
          <p:nvPr/>
        </p:nvSpPr>
        <p:spPr>
          <a:xfrm>
            <a:off x="9043416" y="3584448"/>
            <a:ext cx="2148840" cy="548640"/>
          </a:xfrm>
          <a:prstGeom prst="rect">
            <a:avLst/>
          </a:prstGeom>
          <a:noFill/>
          <a:ln/>
        </p:spPr>
        <p:txBody>
          <a:bodyPr wrap="square" lIns="0" tIns="0" rIns="0" bIns="0" rtlCol="0" anchor="ctr"/>
          <a:lstStyle/>
          <a:p>
            <a:pPr indent="0" marL="0">
              <a:buNone/>
            </a:pPr>
            <a:r>
              <a:rPr lang="en-US" sz="1400" b="1" dirty="0">
                <a:solidFill>
                  <a:srgbClr val="17161A"/>
                </a:solidFill>
                <a:latin typeface="Calibri" pitchFamily="34" charset="0"/>
                <a:ea typeface="Calibri" pitchFamily="34" charset="-122"/>
                <a:cs typeface="Calibri" pitchFamily="34" charset="-120"/>
              </a:rPr>
              <a:t>Ordinary platform mechanics</a:t>
            </a:r>
            <a:endParaRPr lang="en-US" sz="1400" dirty="0"/>
          </a:p>
        </p:txBody>
      </p:sp>
      <p:sp>
        <p:nvSpPr>
          <p:cNvPr id="18" name="Text 16"/>
          <p:cNvSpPr/>
          <p:nvPr/>
        </p:nvSpPr>
        <p:spPr>
          <a:xfrm>
            <a:off x="9043416" y="4114800"/>
            <a:ext cx="2148840" cy="73152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Share buttons, cross-posting tools, moderation bots.</a:t>
            </a:r>
            <a:endParaRPr lang="en-US" sz="1200" dirty="0"/>
          </a:p>
        </p:txBody>
      </p:sp>
      <p:sp>
        <p:nvSpPr>
          <p:cNvPr id="19" name="Text 17"/>
          <p:cNvSpPr/>
          <p:nvPr/>
        </p:nvSpPr>
        <p:spPr>
          <a:xfrm>
            <a:off x="640080" y="5166360"/>
            <a:ext cx="10881360" cy="731520"/>
          </a:xfrm>
          <a:prstGeom prst="rect">
            <a:avLst/>
          </a:prstGeom>
          <a:noFill/>
          <a:ln/>
        </p:spPr>
        <p:txBody>
          <a:bodyPr wrap="square" lIns="0" tIns="0" rIns="0" bIns="0" rtlCol="0" anchor="ctr"/>
          <a:lstStyle/>
          <a:p>
            <a:pPr indent="0" marL="0">
              <a:buNone/>
            </a:pPr>
            <a:r>
              <a:rPr lang="en-US" sz="1400" i="1" dirty="0">
                <a:solidFill>
                  <a:srgbClr val="55525C"/>
                </a:solidFill>
                <a:latin typeface="Calibri" pitchFamily="34" charset="0"/>
                <a:ea typeface="Calibri" pitchFamily="34" charset="-122"/>
                <a:cs typeface="Calibri" pitchFamily="34" charset="-120"/>
              </a:rPr>
              <a:t>This report identifies no one as responsible for anything. Crossing that line — even under pressure to deliver a more dramatic finding — would forfeit the trust that makes the rest of it useful.</a:t>
            </a:r>
            <a:endParaRPr lang="en-US" sz="1400" dirty="0"/>
          </a:p>
        </p:txBody>
      </p:sp>
      <p:sp>
        <p:nvSpPr>
          <p:cNvPr id="20" name="Text 18"/>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21" name="Text 19"/>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161A"/>
        </a:solidFill>
      </p:bgPr>
    </p:bg>
    <p:spTree>
      <p:nvGrpSpPr>
        <p:cNvPr id="1" name=""/>
        <p:cNvGrpSpPr/>
        <p:nvPr/>
      </p:nvGrpSpPr>
      <p:grpSpPr>
        <a:xfrm>
          <a:off x="0" y="0"/>
          <a:ext cx="0" cy="0"/>
          <a:chOff x="0" y="0"/>
          <a:chExt cx="0" cy="0"/>
        </a:xfrm>
      </p:grpSpPr>
      <p:sp>
        <p:nvSpPr>
          <p:cNvPr id="2" name="Text 0"/>
          <p:cNvSpPr/>
          <p:nvPr/>
        </p:nvSpPr>
        <p:spPr>
          <a:xfrm>
            <a:off x="640080" y="2286000"/>
            <a:ext cx="5486400" cy="320040"/>
          </a:xfrm>
          <a:prstGeom prst="rect">
            <a:avLst/>
          </a:prstGeom>
          <a:noFill/>
          <a:ln/>
        </p:spPr>
        <p:txBody>
          <a:bodyPr wrap="square" lIns="0" tIns="0" rIns="0" bIns="0" rtlCol="0" anchor="ctr"/>
          <a:lstStyle/>
          <a:p>
            <a:pPr indent="0" marL="0">
              <a:buNone/>
            </a:pPr>
            <a:r>
              <a:rPr lang="en-US" sz="1200" b="1" spc="300" kern="0" dirty="0">
                <a:solidFill>
                  <a:srgbClr val="C4432A"/>
                </a:solidFill>
                <a:latin typeface="Calibri" pitchFamily="34" charset="0"/>
                <a:ea typeface="Calibri" pitchFamily="34" charset="-122"/>
                <a:cs typeface="Calibri" pitchFamily="34" charset="-120"/>
              </a:rPr>
              <a:t>PART 3</a:t>
            </a:r>
            <a:endParaRPr lang="en-US" sz="1200" dirty="0"/>
          </a:p>
        </p:txBody>
      </p:sp>
      <p:sp>
        <p:nvSpPr>
          <p:cNvPr id="3" name="Text 1"/>
          <p:cNvSpPr/>
          <p:nvPr/>
        </p:nvSpPr>
        <p:spPr>
          <a:xfrm>
            <a:off x="640080" y="2697480"/>
            <a:ext cx="7863840" cy="13716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Five findings</a:t>
            </a:r>
            <a:endParaRPr lang="en-US" sz="4200" dirty="0"/>
          </a:p>
          <a:p>
            <a:pPr indent="0" marL="0">
              <a:buNone/>
            </a:pPr>
            <a:r>
              <a:rPr lang="en-US" sz="4200" b="1" dirty="0">
                <a:solidFill>
                  <a:srgbClr val="FFFFFF"/>
                </a:solidFill>
                <a:latin typeface="Cambria" pitchFamily="34" charset="0"/>
                <a:ea typeface="Cambria" pitchFamily="34" charset="-122"/>
                <a:cs typeface="Cambria" pitchFamily="34" charset="-120"/>
              </a:rPr>
              <a:t>I'd defend anywhere</a:t>
            </a:r>
            <a:endParaRPr lang="en-US" sz="4200" dirty="0"/>
          </a:p>
        </p:txBody>
      </p:sp>
      <p:sp>
        <p:nvSpPr>
          <p:cNvPr id="4" name="Text 2"/>
          <p:cNvSpPr/>
          <p:nvPr/>
        </p:nvSpPr>
        <p:spPr>
          <a:xfrm>
            <a:off x="640080" y="4114800"/>
            <a:ext cx="6949440" cy="914400"/>
          </a:xfrm>
          <a:prstGeom prst="rect">
            <a:avLst/>
          </a:prstGeom>
          <a:noFill/>
          <a:ln/>
        </p:spPr>
        <p:txBody>
          <a:bodyPr wrap="square" lIns="0" tIns="0" rIns="0" bIns="0" rtlCol="0" anchor="ctr"/>
          <a:lstStyle/>
          <a:p>
            <a:pPr indent="0" marL="0">
              <a:buNone/>
            </a:pPr>
            <a:r>
              <a:rPr lang="en-US" sz="1500" dirty="0">
                <a:solidFill>
                  <a:srgbClr val="B9B5BF"/>
                </a:solidFill>
                <a:latin typeface="Calibri" pitchFamily="34" charset="0"/>
                <a:ea typeface="Calibri" pitchFamily="34" charset="-122"/>
                <a:cs typeface="Calibri" pitchFamily="34" charset="-120"/>
              </a:rPr>
              <a:t>Each one paired with the specific test that bounds it. None of them is a headline number.</a:t>
            </a:r>
            <a:endParaRPr lang="en-US" sz="1500" dirty="0"/>
          </a:p>
        </p:txBody>
      </p:sp>
      <p:sp>
        <p:nvSpPr>
          <p:cNvPr id="5" name="Shape 3"/>
          <p:cNvSpPr/>
          <p:nvPr/>
        </p:nvSpPr>
        <p:spPr>
          <a:xfrm>
            <a:off x="9814255" y="2651760"/>
            <a:ext cx="1280160" cy="1280160"/>
          </a:xfrm>
          <a:prstGeom prst="ellipse">
            <a:avLst/>
          </a:prstGeom>
          <a:solidFill>
            <a:srgbClr val="241F26"/>
          </a:solidFill>
          <a:ln w="12700">
            <a:solidFill>
              <a:srgbClr val="241F26"/>
            </a:solidFill>
            <a:prstDash val="solid"/>
          </a:ln>
        </p:spPr>
      </p:sp>
      <p:sp>
        <p:nvSpPr>
          <p:cNvPr id="6" name="Text 4"/>
          <p:cNvSpPr/>
          <p:nvPr/>
        </p:nvSpPr>
        <p:spPr>
          <a:xfrm>
            <a:off x="9814255" y="2651760"/>
            <a:ext cx="1280160" cy="1280160"/>
          </a:xfrm>
          <a:prstGeom prst="rect">
            <a:avLst/>
          </a:prstGeom>
          <a:noFill/>
          <a:ln/>
        </p:spPr>
        <p:txBody>
          <a:bodyPr wrap="square" lIns="0" tIns="0" rIns="0" bIns="0" rtlCol="0" anchor="ctr"/>
          <a:lstStyle/>
          <a:p>
            <a:pPr algn="ctr" indent="0" marL="0">
              <a:buNone/>
            </a:pPr>
            <a:r>
              <a:rPr lang="en-US" sz="4400" b="1" dirty="0">
                <a:solidFill>
                  <a:srgbClr val="C4432A"/>
                </a:solidFill>
                <a:latin typeface="Calibri" pitchFamily="34" charset="0"/>
                <a:ea typeface="Calibri" pitchFamily="34" charset="-122"/>
                <a:cs typeface="Calibri" pitchFamily="34" charset="-120"/>
              </a:rPr>
              <a:t>3</a:t>
            </a:r>
            <a:endParaRPr lang="en-US" sz="4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FINDING 1 · CHAPTER 4</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Coordination is real, and substantial</a:t>
            </a:r>
            <a:endParaRPr lang="en-US" sz="3400" dirty="0"/>
          </a:p>
        </p:txBody>
      </p:sp>
      <p:sp>
        <p:nvSpPr>
          <p:cNvPr id="4" name="Shape 2"/>
          <p:cNvSpPr/>
          <p:nvPr/>
        </p:nvSpPr>
        <p:spPr>
          <a:xfrm>
            <a:off x="640080" y="1691640"/>
            <a:ext cx="2606040" cy="2057400"/>
          </a:xfrm>
          <a:prstGeom prst="roundRect">
            <a:avLst>
              <a:gd name="adj" fmla="val 2667"/>
            </a:avLst>
          </a:prstGeom>
          <a:solidFill>
            <a:srgbClr val="FAF9F8"/>
          </a:solidFill>
          <a:ln w="12700">
            <a:solidFill>
              <a:srgbClr val="E4E1DE"/>
            </a:solidFill>
            <a:prstDash val="solid"/>
          </a:ln>
        </p:spPr>
      </p:sp>
      <p:sp>
        <p:nvSpPr>
          <p:cNvPr id="5" name="Text 3"/>
          <p:cNvSpPr/>
          <p:nvPr/>
        </p:nvSpPr>
        <p:spPr>
          <a:xfrm>
            <a:off x="868680" y="1920240"/>
            <a:ext cx="2148840" cy="685800"/>
          </a:xfrm>
          <a:prstGeom prst="rect">
            <a:avLst/>
          </a:prstGeom>
          <a:noFill/>
          <a:ln/>
        </p:spPr>
        <p:txBody>
          <a:bodyPr wrap="square" lIns="0" tIns="0" rIns="0" bIns="0" rtlCol="0" anchor="ctr"/>
          <a:lstStyle/>
          <a:p>
            <a:pPr indent="0" marL="0">
              <a:buNone/>
            </a:pPr>
            <a:r>
              <a:rPr lang="en-US" sz="3000" b="1" dirty="0">
                <a:solidFill>
                  <a:srgbClr val="55525C"/>
                </a:solidFill>
                <a:latin typeface="Cambria" pitchFamily="34" charset="0"/>
                <a:ea typeface="Cambria" pitchFamily="34" charset="-122"/>
                <a:cs typeface="Cambria" pitchFamily="34" charset="-120"/>
              </a:rPr>
              <a:t>858,728</a:t>
            </a:r>
            <a:endParaRPr lang="en-US" sz="3000" dirty="0"/>
          </a:p>
        </p:txBody>
      </p:sp>
      <p:sp>
        <p:nvSpPr>
          <p:cNvPr id="6" name="Text 4"/>
          <p:cNvSpPr/>
          <p:nvPr/>
        </p:nvSpPr>
        <p:spPr>
          <a:xfrm>
            <a:off x="868680" y="2651760"/>
            <a:ext cx="2148840" cy="91440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exact-duplicate clusters</a:t>
            </a:r>
            <a:endParaRPr lang="en-US" sz="1200" dirty="0"/>
          </a:p>
          <a:p>
            <a:pPr indent="0" marL="0">
              <a:buNone/>
            </a:pPr>
            <a:r>
              <a:rPr lang="en-US" sz="1200" dirty="0">
                <a:solidFill>
                  <a:srgbClr val="55525C"/>
                </a:solidFill>
                <a:latin typeface="Calibri" pitchFamily="34" charset="0"/>
                <a:ea typeface="Calibri" pitchFamily="34" charset="-122"/>
                <a:cs typeface="Calibri" pitchFamily="34" charset="-120"/>
              </a:rPr>
              <a:t>(≥5 items, 6.2% of corpus)</a:t>
            </a:r>
            <a:endParaRPr lang="en-US" sz="1200" dirty="0"/>
          </a:p>
        </p:txBody>
      </p:sp>
      <p:sp>
        <p:nvSpPr>
          <p:cNvPr id="7" name="Text 5"/>
          <p:cNvSpPr/>
          <p:nvPr/>
        </p:nvSpPr>
        <p:spPr>
          <a:xfrm>
            <a:off x="3227832" y="2377440"/>
            <a:ext cx="182880" cy="365760"/>
          </a:xfrm>
          <a:prstGeom prst="rect">
            <a:avLst/>
          </a:prstGeom>
          <a:noFill/>
          <a:ln/>
        </p:spPr>
        <p:txBody>
          <a:bodyPr wrap="square" lIns="0" tIns="0" rIns="0" bIns="0" rtlCol="0" anchor="ctr"/>
          <a:lstStyle/>
          <a:p>
            <a:pPr algn="ctr" indent="0" marL="0">
              <a:buNone/>
            </a:pPr>
            <a:r>
              <a:rPr lang="en-US" sz="1600" dirty="0">
                <a:solidFill>
                  <a:srgbClr val="8A8691"/>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3364992" y="1691640"/>
            <a:ext cx="2606040" cy="2057400"/>
          </a:xfrm>
          <a:prstGeom prst="roundRect">
            <a:avLst>
              <a:gd name="adj" fmla="val 2667"/>
            </a:avLst>
          </a:prstGeom>
          <a:solidFill>
            <a:srgbClr val="FAF9F8"/>
          </a:solidFill>
          <a:ln w="12700">
            <a:solidFill>
              <a:srgbClr val="E4E1DE"/>
            </a:solidFill>
            <a:prstDash val="solid"/>
          </a:ln>
        </p:spPr>
      </p:sp>
      <p:sp>
        <p:nvSpPr>
          <p:cNvPr id="9" name="Text 7"/>
          <p:cNvSpPr/>
          <p:nvPr/>
        </p:nvSpPr>
        <p:spPr>
          <a:xfrm>
            <a:off x="3593592" y="1920240"/>
            <a:ext cx="2148840" cy="685800"/>
          </a:xfrm>
          <a:prstGeom prst="rect">
            <a:avLst/>
          </a:prstGeom>
          <a:noFill/>
          <a:ln/>
        </p:spPr>
        <p:txBody>
          <a:bodyPr wrap="square" lIns="0" tIns="0" rIns="0" bIns="0" rtlCol="0" anchor="ctr"/>
          <a:lstStyle/>
          <a:p>
            <a:pPr indent="0" marL="0">
              <a:buNone/>
            </a:pPr>
            <a:r>
              <a:rPr lang="en-US" sz="3000" b="1" dirty="0">
                <a:solidFill>
                  <a:srgbClr val="55525C"/>
                </a:solidFill>
                <a:latin typeface="Cambria" pitchFamily="34" charset="0"/>
                <a:ea typeface="Cambria" pitchFamily="34" charset="-122"/>
                <a:cs typeface="Cambria" pitchFamily="34" charset="-120"/>
              </a:rPr>
              <a:t>86,955</a:t>
            </a:r>
            <a:endParaRPr lang="en-US" sz="3000" dirty="0"/>
          </a:p>
        </p:txBody>
      </p:sp>
      <p:sp>
        <p:nvSpPr>
          <p:cNvPr id="10" name="Text 8"/>
          <p:cNvSpPr/>
          <p:nvPr/>
        </p:nvSpPr>
        <p:spPr>
          <a:xfrm>
            <a:off x="3593592" y="2651760"/>
            <a:ext cx="2148840" cy="91440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large enough to test against</a:t>
            </a:r>
            <a:endParaRPr lang="en-US" sz="1200" dirty="0"/>
          </a:p>
          <a:p>
            <a:pPr indent="0" marL="0">
              <a:buNone/>
            </a:pPr>
            <a:r>
              <a:rPr lang="en-US" sz="1200" dirty="0">
                <a:solidFill>
                  <a:srgbClr val="55525C"/>
                </a:solidFill>
                <a:latin typeface="Calibri" pitchFamily="34" charset="0"/>
                <a:ea typeface="Calibri" pitchFamily="34" charset="-122"/>
                <a:cs typeface="Calibri" pitchFamily="34" charset="-120"/>
              </a:rPr>
              <a:t>a within-day permutation null</a:t>
            </a:r>
            <a:endParaRPr lang="en-US" sz="1200" dirty="0"/>
          </a:p>
        </p:txBody>
      </p:sp>
      <p:sp>
        <p:nvSpPr>
          <p:cNvPr id="11" name="Text 9"/>
          <p:cNvSpPr/>
          <p:nvPr/>
        </p:nvSpPr>
        <p:spPr>
          <a:xfrm>
            <a:off x="5952744" y="2377440"/>
            <a:ext cx="182880" cy="365760"/>
          </a:xfrm>
          <a:prstGeom prst="rect">
            <a:avLst/>
          </a:prstGeom>
          <a:noFill/>
          <a:ln/>
        </p:spPr>
        <p:txBody>
          <a:bodyPr wrap="square" lIns="0" tIns="0" rIns="0" bIns="0" rtlCol="0" anchor="ctr"/>
          <a:lstStyle/>
          <a:p>
            <a:pPr algn="ctr" indent="0" marL="0">
              <a:buNone/>
            </a:pPr>
            <a:r>
              <a:rPr lang="en-US" sz="1600" dirty="0">
                <a:solidFill>
                  <a:srgbClr val="8A8691"/>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6089904" y="1691640"/>
            <a:ext cx="2606040" cy="2057400"/>
          </a:xfrm>
          <a:prstGeom prst="roundRect">
            <a:avLst>
              <a:gd name="adj" fmla="val 2667"/>
            </a:avLst>
          </a:prstGeom>
          <a:solidFill>
            <a:srgbClr val="FBF0ED"/>
          </a:solidFill>
          <a:ln w="12700">
            <a:solidFill>
              <a:srgbClr val="FBF0ED"/>
            </a:solidFill>
            <a:prstDash val="solid"/>
          </a:ln>
        </p:spPr>
      </p:sp>
      <p:sp>
        <p:nvSpPr>
          <p:cNvPr id="13" name="Text 11"/>
          <p:cNvSpPr/>
          <p:nvPr/>
        </p:nvSpPr>
        <p:spPr>
          <a:xfrm>
            <a:off x="6318504" y="1920240"/>
            <a:ext cx="2148840" cy="685800"/>
          </a:xfrm>
          <a:prstGeom prst="rect">
            <a:avLst/>
          </a:prstGeom>
          <a:noFill/>
          <a:ln/>
        </p:spPr>
        <p:txBody>
          <a:bodyPr wrap="square" lIns="0" tIns="0" rIns="0" bIns="0" rtlCol="0" anchor="ctr"/>
          <a:lstStyle/>
          <a:p>
            <a:pPr indent="0" marL="0">
              <a:buNone/>
            </a:pPr>
            <a:r>
              <a:rPr lang="en-US" sz="3000" b="1" dirty="0">
                <a:solidFill>
                  <a:srgbClr val="C4432A"/>
                </a:solidFill>
                <a:latin typeface="Cambria" pitchFamily="34" charset="0"/>
                <a:ea typeface="Cambria" pitchFamily="34" charset="-122"/>
                <a:cs typeface="Cambria" pitchFamily="34" charset="-120"/>
              </a:rPr>
              <a:t>50,124</a:t>
            </a:r>
            <a:endParaRPr lang="en-US" sz="3000" dirty="0"/>
          </a:p>
        </p:txBody>
      </p:sp>
      <p:sp>
        <p:nvSpPr>
          <p:cNvPr id="14" name="Text 12"/>
          <p:cNvSpPr/>
          <p:nvPr/>
        </p:nvSpPr>
        <p:spPr>
          <a:xfrm>
            <a:off x="6318504" y="2651760"/>
            <a:ext cx="2148840" cy="91440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survive at q &lt; 0.05</a:t>
            </a:r>
            <a:endParaRPr lang="en-US" sz="1200" dirty="0"/>
          </a:p>
          <a:p>
            <a:pPr indent="0" marL="0">
              <a:buNone/>
            </a:pPr>
            <a:r>
              <a:rPr lang="en-US" sz="1200" dirty="0">
                <a:solidFill>
                  <a:srgbClr val="55525C"/>
                </a:solidFill>
                <a:latin typeface="Calibri" pitchFamily="34" charset="0"/>
                <a:ea typeface="Calibri" pitchFamily="34" charset="-122"/>
                <a:cs typeface="Calibri" pitchFamily="34" charset="-120"/>
              </a:rPr>
              <a:t>— 42% of candidates removed</a:t>
            </a:r>
            <a:endParaRPr lang="en-US" sz="1200" dirty="0"/>
          </a:p>
        </p:txBody>
      </p:sp>
      <p:sp>
        <p:nvSpPr>
          <p:cNvPr id="15" name="Text 13"/>
          <p:cNvSpPr/>
          <p:nvPr/>
        </p:nvSpPr>
        <p:spPr>
          <a:xfrm>
            <a:off x="8677656" y="2377440"/>
            <a:ext cx="182880" cy="365760"/>
          </a:xfrm>
          <a:prstGeom prst="rect">
            <a:avLst/>
          </a:prstGeom>
          <a:noFill/>
          <a:ln/>
        </p:spPr>
        <p:txBody>
          <a:bodyPr wrap="square" lIns="0" tIns="0" rIns="0" bIns="0" rtlCol="0" anchor="ctr"/>
          <a:lstStyle/>
          <a:p>
            <a:pPr algn="ctr" indent="0" marL="0">
              <a:buNone/>
            </a:pPr>
            <a:r>
              <a:rPr lang="en-US" sz="1600" dirty="0">
                <a:solidFill>
                  <a:srgbClr val="8A8691"/>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8814816" y="1691640"/>
            <a:ext cx="2606040" cy="2057400"/>
          </a:xfrm>
          <a:prstGeom prst="roundRect">
            <a:avLst>
              <a:gd name="adj" fmla="val 2667"/>
            </a:avLst>
          </a:prstGeom>
          <a:solidFill>
            <a:srgbClr val="FBF0ED"/>
          </a:solidFill>
          <a:ln w="12700">
            <a:solidFill>
              <a:srgbClr val="FBF0ED"/>
            </a:solidFill>
            <a:prstDash val="solid"/>
          </a:ln>
        </p:spPr>
      </p:sp>
      <p:sp>
        <p:nvSpPr>
          <p:cNvPr id="17" name="Text 15"/>
          <p:cNvSpPr/>
          <p:nvPr/>
        </p:nvSpPr>
        <p:spPr>
          <a:xfrm>
            <a:off x="9043416" y="1920240"/>
            <a:ext cx="2148840" cy="685800"/>
          </a:xfrm>
          <a:prstGeom prst="rect">
            <a:avLst/>
          </a:prstGeom>
          <a:noFill/>
          <a:ln/>
        </p:spPr>
        <p:txBody>
          <a:bodyPr wrap="square" lIns="0" tIns="0" rIns="0" bIns="0" rtlCol="0" anchor="ctr"/>
          <a:lstStyle/>
          <a:p>
            <a:pPr indent="0" marL="0">
              <a:buNone/>
            </a:pPr>
            <a:r>
              <a:rPr lang="en-US" sz="3000" b="1" dirty="0">
                <a:solidFill>
                  <a:srgbClr val="C4432A"/>
                </a:solidFill>
                <a:latin typeface="Cambria" pitchFamily="34" charset="0"/>
                <a:ea typeface="Cambria" pitchFamily="34" charset="-122"/>
                <a:cs typeface="Cambria" pitchFamily="34" charset="-120"/>
              </a:rPr>
              <a:t>44,214</a:t>
            </a:r>
            <a:endParaRPr lang="en-US" sz="3000" dirty="0"/>
          </a:p>
        </p:txBody>
      </p:sp>
      <p:sp>
        <p:nvSpPr>
          <p:cNvPr id="18" name="Text 16"/>
          <p:cNvSpPr/>
          <p:nvPr/>
        </p:nvSpPr>
        <p:spPr>
          <a:xfrm>
            <a:off x="9043416" y="2651760"/>
            <a:ext cx="2148840" cy="91440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span 3+ distinct spaces</a:t>
            </a:r>
            <a:endParaRPr lang="en-US" sz="1200" dirty="0"/>
          </a:p>
          <a:p>
            <a:pPr indent="0" marL="0">
              <a:buNone/>
            </a:pPr>
            <a:r>
              <a:rPr lang="en-US" sz="1200" dirty="0">
                <a:solidFill>
                  <a:srgbClr val="55525C"/>
                </a:solidFill>
                <a:latin typeface="Calibri" pitchFamily="34" charset="0"/>
                <a:ea typeface="Calibri" pitchFamily="34" charset="-122"/>
                <a:cs typeface="Calibri" pitchFamily="34" charset="-120"/>
              </a:rPr>
              <a:t>— the policy-relevant measure</a:t>
            </a:r>
            <a:endParaRPr lang="en-US" sz="1200" dirty="0"/>
          </a:p>
        </p:txBody>
      </p:sp>
      <p:sp>
        <p:nvSpPr>
          <p:cNvPr id="19" name="Text 17"/>
          <p:cNvSpPr/>
          <p:nvPr/>
        </p:nvSpPr>
        <p:spPr>
          <a:xfrm>
            <a:off x="640080" y="3977640"/>
            <a:ext cx="6949440" cy="731520"/>
          </a:xfrm>
          <a:prstGeom prst="rect">
            <a:avLst/>
          </a:prstGeom>
          <a:noFill/>
          <a:ln/>
        </p:spPr>
        <p:txBody>
          <a:bodyPr wrap="square" lIns="0" tIns="0" rIns="0" bIns="0" rtlCol="0" anchor="ctr"/>
          <a:lstStyle/>
          <a:p>
            <a:pPr indent="0" marL="0">
              <a:buNone/>
            </a:pPr>
            <a:r>
              <a:rPr lang="en-US" sz="1500" dirty="0">
                <a:solidFill>
                  <a:srgbClr val="17161A"/>
                </a:solidFill>
                <a:latin typeface="Calibri" pitchFamily="34" charset="0"/>
                <a:ea typeface="Calibri" pitchFamily="34" charset="-122"/>
                <a:cs typeface="Calibri" pitchFamily="34" charset="-120"/>
              </a:rPr>
              <a:t>The permutation null did real work: it removed 42% of naively-flagged clusters. Raw duplicate-counting would have overstated coordination by nearly half.</a:t>
            </a:r>
            <a:endParaRPr lang="en-US" sz="1500" dirty="0"/>
          </a:p>
        </p:txBody>
      </p:sp>
      <p:sp>
        <p:nvSpPr>
          <p:cNvPr id="20" name="Shape 18"/>
          <p:cNvSpPr/>
          <p:nvPr/>
        </p:nvSpPr>
        <p:spPr>
          <a:xfrm>
            <a:off x="7863840" y="3913632"/>
            <a:ext cx="3703320" cy="1417320"/>
          </a:xfrm>
          <a:prstGeom prst="roundRect">
            <a:avLst>
              <a:gd name="adj" fmla="val 3871"/>
            </a:avLst>
          </a:prstGeom>
          <a:solidFill>
            <a:srgbClr val="17161A"/>
          </a:solidFill>
          <a:ln w="12700">
            <a:solidFill>
              <a:srgbClr val="17161A"/>
            </a:solidFill>
            <a:prstDash val="solid"/>
          </a:ln>
        </p:spPr>
      </p:sp>
      <p:sp>
        <p:nvSpPr>
          <p:cNvPr id="21" name="Text 19"/>
          <p:cNvSpPr/>
          <p:nvPr/>
        </p:nvSpPr>
        <p:spPr>
          <a:xfrm>
            <a:off x="8138160" y="4114800"/>
            <a:ext cx="3154680" cy="10058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Largest single cluster: 239,336 items sharing one verbatim string.</a:t>
            </a:r>
            <a:endParaRPr lang="en-US" sz="1300" dirty="0"/>
          </a:p>
        </p:txBody>
      </p:sp>
      <p:sp>
        <p:nvSpPr>
          <p:cNvPr id="22" name="Text 20"/>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23" name="Text 21"/>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FINDING 1 · THE PARAPHRASE BLIND SPOT</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…and every count is a floor</a:t>
            </a:r>
            <a:endParaRPr lang="en-US" sz="3400" dirty="0"/>
          </a:p>
        </p:txBody>
      </p:sp>
      <p:sp>
        <p:nvSpPr>
          <p:cNvPr id="4" name="Text 2"/>
          <p:cNvSpPr/>
          <p:nvPr/>
        </p:nvSpPr>
        <p:spPr>
          <a:xfrm>
            <a:off x="640080" y="1554480"/>
            <a:ext cx="6035040" cy="822960"/>
          </a:xfrm>
          <a:prstGeom prst="rect">
            <a:avLst/>
          </a:prstGeom>
          <a:noFill/>
          <a:ln/>
        </p:spPr>
        <p:txBody>
          <a:bodyPr wrap="square" lIns="0" tIns="0" rIns="0" bIns="0" rtlCol="0" anchor="ctr"/>
          <a:lstStyle/>
          <a:p>
            <a:pPr indent="0" marL="0">
              <a:buNone/>
            </a:pPr>
            <a:r>
              <a:rPr lang="en-US" sz="1500" dirty="0">
                <a:solidFill>
                  <a:srgbClr val="55525C"/>
                </a:solidFill>
                <a:latin typeface="Calibri" pitchFamily="34" charset="0"/>
                <a:ea typeface="Calibri" pitchFamily="34" charset="-122"/>
                <a:cs typeface="Calibri" pitchFamily="34" charset="-120"/>
              </a:rPr>
              <a:t>We injected known coordinated campaigns into the real corpus, then progressively reworded them and re-ran the detector. Recall halves immediately and all but vanishes.</a:t>
            </a:r>
            <a:endParaRPr lang="en-US" sz="1500" dirty="0"/>
          </a:p>
        </p:txBody>
      </p:sp>
      <p:graphicFrame>
        <p:nvGraphicFramePr>
          <p:cNvPr id="5" name="Chart 0" descr=""/>
          <p:cNvGraphicFramePr/>
          <p:nvPr/>
        </p:nvGraphicFramePr>
        <p:xfrm>
          <a:off x="640080" y="2468880"/>
          <a:ext cx="6035040" cy="27432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178040" y="1536192"/>
            <a:ext cx="4389120" cy="3657600"/>
          </a:xfrm>
          <a:prstGeom prst="roundRect">
            <a:avLst>
              <a:gd name="adj" fmla="val 1500"/>
            </a:avLst>
          </a:prstGeom>
          <a:solidFill>
            <a:srgbClr val="FBF0ED"/>
          </a:solidFill>
          <a:ln w="12700">
            <a:solidFill>
              <a:srgbClr val="FBF0ED"/>
            </a:solidFill>
            <a:prstDash val="solid"/>
          </a:ln>
        </p:spPr>
      </p:sp>
      <p:sp>
        <p:nvSpPr>
          <p:cNvPr id="7" name="Text 4"/>
          <p:cNvSpPr/>
          <p:nvPr/>
        </p:nvSpPr>
        <p:spPr>
          <a:xfrm>
            <a:off x="7452360" y="1737360"/>
            <a:ext cx="3840480" cy="365760"/>
          </a:xfrm>
          <a:prstGeom prst="rect">
            <a:avLst/>
          </a:prstGeom>
          <a:noFill/>
          <a:ln/>
        </p:spPr>
        <p:txBody>
          <a:bodyPr wrap="square" lIns="0" tIns="0" rIns="0" bIns="0" rtlCol="0" anchor="ctr"/>
          <a:lstStyle/>
          <a:p>
            <a:pPr indent="0" marL="0">
              <a:buNone/>
            </a:pPr>
            <a:r>
              <a:rPr lang="en-US" sz="1600" b="1" dirty="0">
                <a:solidFill>
                  <a:srgbClr val="C4432A"/>
                </a:solidFill>
                <a:latin typeface="Calibri" pitchFamily="34" charset="0"/>
                <a:ea typeface="Calibri" pitchFamily="34" charset="-122"/>
                <a:cs typeface="Calibri" pitchFamily="34" charset="-120"/>
              </a:rPr>
              <a:t>Two consequences</a:t>
            </a:r>
            <a:endParaRPr lang="en-US" sz="1600" dirty="0"/>
          </a:p>
        </p:txBody>
      </p:sp>
      <p:sp>
        <p:nvSpPr>
          <p:cNvPr id="8" name="Text 5"/>
          <p:cNvSpPr/>
          <p:nvPr/>
        </p:nvSpPr>
        <p:spPr>
          <a:xfrm>
            <a:off x="7452360" y="2194560"/>
            <a:ext cx="3840480" cy="2834640"/>
          </a:xfrm>
          <a:prstGeom prst="rect">
            <a:avLst/>
          </a:prstGeom>
          <a:noFill/>
          <a:ln/>
        </p:spPr>
        <p:txBody>
          <a:bodyPr wrap="square" lIns="0" tIns="0" rIns="0" bIns="0" rtlCol="0" anchor="t"/>
          <a:lstStyle/>
          <a:p>
            <a:pPr marL="228600" indent="-228600">
              <a:spcAft>
                <a:spcPts val="1400"/>
              </a:spcAft>
              <a:buSzPct val="100000"/>
              <a:buChar char="•"/>
            </a:pPr>
            <a:r>
              <a:rPr lang="en-US" sz="1300" dirty="0">
                <a:solidFill>
                  <a:srgbClr val="17161A"/>
                </a:solidFill>
                <a:latin typeface="Calibri" pitchFamily="34" charset="0"/>
                <a:ea typeface="Calibri" pitchFamily="34" charset="-122"/>
                <a:cs typeface="Calibri" pitchFamily="34" charset="-120"/>
              </a:rPr>
              <a:t>No coordination count in this report estimates true coordination. Each is a high-precision floor, and the real figure is very likely much larger.</a:t>
            </a:r>
            <a:endParaRPr lang="en-US" sz="1300" dirty="0"/>
          </a:p>
          <a:p>
            <a:pPr marL="228600" indent="-228600">
              <a:spcAft>
                <a:spcPts val="1400"/>
              </a:spcAft>
              <a:buSzPct val="100000"/>
              <a:buChar char="•"/>
            </a:pPr>
            <a:r>
              <a:rPr lang="en-US" sz="1300" dirty="0">
                <a:solidFill>
                  <a:srgbClr val="17161A"/>
                </a:solidFill>
                <a:latin typeface="Calibri" pitchFamily="34" charset="0"/>
                <a:ea typeface="Calibri" pitchFamily="34" charset="-122"/>
                <a:cs typeface="Calibri" pitchFamily="34" charset="-120"/>
              </a:rPr>
              <a:t>Any comparison across time, platform, or topic compares verbatim floors. A group that paraphrases more looks less coordinated — an artefact of the detector, not a fact about the world.</a:t>
            </a:r>
            <a:endParaRPr lang="en-US" sz="1300" dirty="0"/>
          </a:p>
        </p:txBody>
      </p:sp>
      <p:sp>
        <p:nvSpPr>
          <p:cNvPr id="9" name="Text 6"/>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10" name="Text 7"/>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FINDING 2 · CHAPTER 6</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The dominant harm is commercial, not political</a:t>
            </a:r>
            <a:endParaRPr lang="en-US" sz="3400" dirty="0"/>
          </a:p>
        </p:txBody>
      </p:sp>
      <p:sp>
        <p:nvSpPr>
          <p:cNvPr id="4" name="Text 2"/>
          <p:cNvSpPr/>
          <p:nvPr/>
        </p:nvSpPr>
        <p:spPr>
          <a:xfrm>
            <a:off x="640080" y="1645920"/>
            <a:ext cx="3108960" cy="777240"/>
          </a:xfrm>
          <a:prstGeom prst="rect">
            <a:avLst/>
          </a:prstGeom>
          <a:noFill/>
          <a:ln/>
        </p:spPr>
        <p:txBody>
          <a:bodyPr wrap="square" lIns="0" tIns="0" rIns="0" bIns="0" rtlCol="0" anchor="ctr"/>
          <a:lstStyle/>
          <a:p>
            <a:pPr indent="0" marL="0">
              <a:buNone/>
            </a:pPr>
            <a:r>
              <a:rPr lang="en-US" sz="3600" b="1" dirty="0">
                <a:solidFill>
                  <a:srgbClr val="C4432A"/>
                </a:solidFill>
                <a:latin typeface="Cambria" pitchFamily="34" charset="0"/>
                <a:ea typeface="Cambria" pitchFamily="34" charset="-122"/>
                <a:cs typeface="Cambria" pitchFamily="34" charset="-120"/>
              </a:rPr>
              <a:t>~160,307</a:t>
            </a:r>
            <a:endParaRPr lang="en-US" sz="3600" dirty="0"/>
          </a:p>
        </p:txBody>
      </p:sp>
      <p:sp>
        <p:nvSpPr>
          <p:cNvPr id="5" name="Text 3"/>
          <p:cNvSpPr/>
          <p:nvPr/>
        </p:nvSpPr>
        <p:spPr>
          <a:xfrm>
            <a:off x="640080" y="2395728"/>
            <a:ext cx="3108960" cy="640080"/>
          </a:xfrm>
          <a:prstGeom prst="rect">
            <a:avLst/>
          </a:prstGeom>
          <a:noFill/>
          <a:ln/>
        </p:spPr>
        <p:txBody>
          <a:bodyPr wrap="square" lIns="0" tIns="0" rIns="0" bIns="0" rtlCol="0" anchor="t"/>
          <a:lstStyle/>
          <a:p>
            <a:pPr indent="0" marL="0">
              <a:buNone/>
            </a:pPr>
            <a:r>
              <a:rPr lang="en-US" sz="1200" dirty="0">
                <a:solidFill>
                  <a:srgbClr val="55525C"/>
                </a:solidFill>
                <a:latin typeface="Calibri" pitchFamily="34" charset="0"/>
                <a:ea typeface="Calibri" pitchFamily="34" charset="-122"/>
                <a:cs typeface="Calibri" pitchFamily="34" charset="-120"/>
              </a:rPr>
              <a:t>precision-corrected floor</a:t>
            </a:r>
            <a:endParaRPr lang="en-US" sz="1200" dirty="0"/>
          </a:p>
          <a:p>
            <a:pPr indent="0" marL="0">
              <a:buNone/>
            </a:pPr>
            <a:r>
              <a:rPr lang="en-US" sz="1200" dirty="0">
                <a:solidFill>
                  <a:srgbClr val="55525C"/>
                </a:solidFill>
                <a:latin typeface="Calibri" pitchFamily="34" charset="0"/>
                <a:ea typeface="Calibri" pitchFamily="34" charset="-122"/>
                <a:cs typeface="Calibri" pitchFamily="34" charset="-120"/>
              </a:rPr>
              <a:t>for scam content</a:t>
            </a:r>
            <a:endParaRPr lang="en-US" sz="1200" dirty="0"/>
          </a:p>
        </p:txBody>
      </p:sp>
      <p:sp>
        <p:nvSpPr>
          <p:cNvPr id="6" name="Text 4"/>
          <p:cNvSpPr/>
          <p:nvPr/>
        </p:nvSpPr>
        <p:spPr>
          <a:xfrm>
            <a:off x="3931920" y="1645920"/>
            <a:ext cx="3108960" cy="777240"/>
          </a:xfrm>
          <a:prstGeom prst="rect">
            <a:avLst/>
          </a:prstGeom>
          <a:noFill/>
          <a:ln/>
        </p:spPr>
        <p:txBody>
          <a:bodyPr wrap="square" lIns="0" tIns="0" rIns="0" bIns="0" rtlCol="0" anchor="ctr"/>
          <a:lstStyle/>
          <a:p>
            <a:pPr indent="0" marL="0">
              <a:buNone/>
            </a:pPr>
            <a:r>
              <a:rPr lang="en-US" sz="4200" b="1" dirty="0">
                <a:solidFill>
                  <a:srgbClr val="27607A"/>
                </a:solidFill>
                <a:latin typeface="Cambria" pitchFamily="34" charset="0"/>
                <a:ea typeface="Cambria" pitchFamily="34" charset="-122"/>
                <a:cs typeface="Cambria" pitchFamily="34" charset="-120"/>
              </a:rPr>
              <a:t>5.6×</a:t>
            </a:r>
            <a:endParaRPr lang="en-US" sz="4200" dirty="0"/>
          </a:p>
        </p:txBody>
      </p:sp>
      <p:sp>
        <p:nvSpPr>
          <p:cNvPr id="7" name="Text 5"/>
          <p:cNvSpPr/>
          <p:nvPr/>
        </p:nvSpPr>
        <p:spPr>
          <a:xfrm>
            <a:off x="3931920" y="2395728"/>
            <a:ext cx="3108960" cy="640080"/>
          </a:xfrm>
          <a:prstGeom prst="rect">
            <a:avLst/>
          </a:prstGeom>
          <a:noFill/>
          <a:ln/>
        </p:spPr>
        <p:txBody>
          <a:bodyPr wrap="square" lIns="0" tIns="0" rIns="0" bIns="0" rtlCol="0" anchor="t"/>
          <a:lstStyle/>
          <a:p>
            <a:pPr indent="0" marL="0">
              <a:buNone/>
            </a:pPr>
            <a:r>
              <a:rPr lang="en-US" sz="1200" dirty="0">
                <a:solidFill>
                  <a:srgbClr val="55525C"/>
                </a:solidFill>
                <a:latin typeface="Calibri" pitchFamily="34" charset="0"/>
                <a:ea typeface="Calibri" pitchFamily="34" charset="-122"/>
                <a:cs typeface="Calibri" pitchFamily="34" charset="-120"/>
              </a:rPr>
              <a:t>scam enrichment over</a:t>
            </a:r>
            <a:endParaRPr lang="en-US" sz="1200" dirty="0"/>
          </a:p>
          <a:p>
            <a:pPr indent="0" marL="0">
              <a:buNone/>
            </a:pPr>
            <a:r>
              <a:rPr lang="en-US" sz="1200" dirty="0">
                <a:solidFill>
                  <a:srgbClr val="55525C"/>
                </a:solidFill>
                <a:latin typeface="Calibri" pitchFamily="34" charset="0"/>
                <a:ea typeface="Calibri" pitchFamily="34" charset="-122"/>
                <a:cs typeface="Calibri" pitchFamily="34" charset="-120"/>
              </a:rPr>
              <a:t>the corpus base rate</a:t>
            </a:r>
            <a:endParaRPr lang="en-US" sz="1200" dirty="0"/>
          </a:p>
        </p:txBody>
      </p:sp>
      <p:sp>
        <p:nvSpPr>
          <p:cNvPr id="8" name="Text 6"/>
          <p:cNvSpPr/>
          <p:nvPr/>
        </p:nvSpPr>
        <p:spPr>
          <a:xfrm>
            <a:off x="7223760" y="1645920"/>
            <a:ext cx="3108960" cy="777240"/>
          </a:xfrm>
          <a:prstGeom prst="rect">
            <a:avLst/>
          </a:prstGeom>
          <a:noFill/>
          <a:ln/>
        </p:spPr>
        <p:txBody>
          <a:bodyPr wrap="square" lIns="0" tIns="0" rIns="0" bIns="0" rtlCol="0" anchor="ctr"/>
          <a:lstStyle/>
          <a:p>
            <a:pPr indent="0" marL="0">
              <a:buNone/>
            </a:pPr>
            <a:r>
              <a:rPr lang="en-US" sz="3600" b="1" dirty="0">
                <a:solidFill>
                  <a:srgbClr val="55525C"/>
                </a:solidFill>
                <a:latin typeface="Cambria" pitchFamily="34" charset="0"/>
                <a:ea typeface="Cambria" pitchFamily="34" charset="-122"/>
                <a:cs typeface="Cambria" pitchFamily="34" charset="-120"/>
              </a:rPr>
              <a:t>769,601</a:t>
            </a:r>
            <a:endParaRPr lang="en-US" sz="3600" dirty="0"/>
          </a:p>
        </p:txBody>
      </p:sp>
      <p:sp>
        <p:nvSpPr>
          <p:cNvPr id="9" name="Text 7"/>
          <p:cNvSpPr/>
          <p:nvPr/>
        </p:nvSpPr>
        <p:spPr>
          <a:xfrm>
            <a:off x="7223760" y="2395728"/>
            <a:ext cx="3108960" cy="640080"/>
          </a:xfrm>
          <a:prstGeom prst="rect">
            <a:avLst/>
          </a:prstGeom>
          <a:noFill/>
          <a:ln/>
        </p:spPr>
        <p:txBody>
          <a:bodyPr wrap="square" lIns="0" tIns="0" rIns="0" bIns="0" rtlCol="0" anchor="t"/>
          <a:lstStyle/>
          <a:p>
            <a:pPr indent="0" marL="0">
              <a:buNone/>
            </a:pPr>
            <a:r>
              <a:rPr lang="en-US" sz="1200" dirty="0">
                <a:solidFill>
                  <a:srgbClr val="55525C"/>
                </a:solidFill>
                <a:latin typeface="Calibri" pitchFamily="34" charset="0"/>
                <a:ea typeface="Calibri" pitchFamily="34" charset="-122"/>
                <a:cs typeface="Calibri" pitchFamily="34" charset="-120"/>
              </a:rPr>
              <a:t>raw scam cue-hits before</a:t>
            </a:r>
            <a:endParaRPr lang="en-US" sz="1200" dirty="0"/>
          </a:p>
          <a:p>
            <a:pPr indent="0" marL="0">
              <a:buNone/>
            </a:pPr>
            <a:r>
              <a:rPr lang="en-US" sz="1200" dirty="0">
                <a:solidFill>
                  <a:srgbClr val="55525C"/>
                </a:solidFill>
                <a:latin typeface="Calibri" pitchFamily="34" charset="0"/>
                <a:ea typeface="Calibri" pitchFamily="34" charset="-122"/>
                <a:cs typeface="Calibri" pitchFamily="34" charset="-120"/>
              </a:rPr>
              <a:t>precision correction</a:t>
            </a:r>
            <a:endParaRPr lang="en-US" sz="1200" dirty="0"/>
          </a:p>
        </p:txBody>
      </p:sp>
      <p:sp>
        <p:nvSpPr>
          <p:cNvPr id="10" name="Text 8"/>
          <p:cNvSpPr/>
          <p:nvPr/>
        </p:nvSpPr>
        <p:spPr>
          <a:xfrm>
            <a:off x="640080" y="3246120"/>
            <a:ext cx="10881360" cy="320040"/>
          </a:xfrm>
          <a:prstGeom prst="rect">
            <a:avLst/>
          </a:prstGeom>
          <a:noFill/>
          <a:ln/>
        </p:spPr>
        <p:txBody>
          <a:bodyPr wrap="square" lIns="0" tIns="0" rIns="0" bIns="0" rtlCol="0" anchor="ctr"/>
          <a:lstStyle/>
          <a:p>
            <a:pPr indent="0" marL="0">
              <a:buNone/>
            </a:pPr>
            <a:r>
              <a:rPr lang="en-US" sz="1400" b="1" dirty="0">
                <a:solidFill>
                  <a:srgbClr val="17161A"/>
                </a:solidFill>
                <a:latin typeface="Calibri" pitchFamily="34" charset="0"/>
                <a:ea typeface="Calibri" pitchFamily="34" charset="-122"/>
                <a:cs typeface="Calibri" pitchFamily="34" charset="-120"/>
              </a:rPr>
              <a:t>Scam typology — fake investments, job offers, giveaway impersonation, gambling, recovery scams</a:t>
            </a:r>
            <a:endParaRPr lang="en-US" sz="1400" dirty="0"/>
          </a:p>
        </p:txBody>
      </p:sp>
      <p:sp>
        <p:nvSpPr>
          <p:cNvPr id="11" name="Text 9"/>
          <p:cNvSpPr/>
          <p:nvPr/>
        </p:nvSpPr>
        <p:spPr>
          <a:xfrm>
            <a:off x="640080" y="3611880"/>
            <a:ext cx="10881360" cy="640080"/>
          </a:xfrm>
          <a:prstGeom prst="rect">
            <a:avLst/>
          </a:prstGeom>
          <a:noFill/>
          <a:ln/>
        </p:spPr>
        <p:txBody>
          <a:bodyPr wrap="square" lIns="0" tIns="0" rIns="0" bIns="0" rtlCol="0" anchor="ctr"/>
          <a:lstStyle/>
          <a:p>
            <a:pPr indent="0" marL="0">
              <a:buNone/>
            </a:pPr>
            <a:r>
              <a:rPr lang="en-US" sz="1500" dirty="0">
                <a:solidFill>
                  <a:srgbClr val="55525C"/>
                </a:solidFill>
                <a:latin typeface="Calibri" pitchFamily="34" charset="0"/>
                <a:ea typeface="Calibri" pitchFamily="34" charset="-122"/>
                <a:cs typeface="Calibri" pitchFamily="34" charset="-120"/>
              </a:rPr>
              <a:t>All of it organised around the same shape: a polite, transactional message carrying a link that funnels the reader off-platform into a private messaging app, where nothing can be observed at all.</a:t>
            </a:r>
            <a:endParaRPr lang="en-US" sz="1500" dirty="0"/>
          </a:p>
        </p:txBody>
      </p:sp>
      <p:sp>
        <p:nvSpPr>
          <p:cNvPr id="12" name="Shape 10"/>
          <p:cNvSpPr/>
          <p:nvPr/>
        </p:nvSpPr>
        <p:spPr>
          <a:xfrm>
            <a:off x="640080" y="4389120"/>
            <a:ext cx="10881360" cy="1051560"/>
          </a:xfrm>
          <a:prstGeom prst="roundRect">
            <a:avLst>
              <a:gd name="adj" fmla="val 5217"/>
            </a:avLst>
          </a:prstGeom>
          <a:solidFill>
            <a:srgbClr val="17161A"/>
          </a:solidFill>
          <a:ln w="12700">
            <a:solidFill>
              <a:srgbClr val="17161A"/>
            </a:solidFill>
            <a:prstDash val="solid"/>
          </a:ln>
        </p:spPr>
      </p:sp>
      <p:sp>
        <p:nvSpPr>
          <p:cNvPr id="13" name="Text 11"/>
          <p:cNvSpPr/>
          <p:nvPr/>
        </p:nvSpPr>
        <p:spPr>
          <a:xfrm>
            <a:off x="1005840" y="4526280"/>
            <a:ext cx="10149840" cy="7772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Politics is what everyone asks about. Fraud is what the data is full of.</a:t>
            </a:r>
            <a:endParaRPr lang="en-US" sz="2000" dirty="0"/>
          </a:p>
        </p:txBody>
      </p:sp>
      <p:sp>
        <p:nvSpPr>
          <p:cNvPr id="14" name="Text 12"/>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15" name="Text 13"/>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FINDING 2 · CHAPTER 5</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Two infrastructures, two lifecycles</a:t>
            </a:r>
            <a:endParaRPr lang="en-US" sz="3400" dirty="0"/>
          </a:p>
        </p:txBody>
      </p:sp>
      <p:graphicFrame>
        <p:nvGraphicFramePr>
          <p:cNvPr id="4" name="Chart 0" descr=""/>
          <p:cNvGraphicFramePr/>
          <p:nvPr/>
        </p:nvGraphicFramePr>
        <p:xfrm>
          <a:off x="640080" y="1645920"/>
          <a:ext cx="6583680" cy="24688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40080" y="4206240"/>
            <a:ext cx="6583680" cy="640080"/>
          </a:xfrm>
          <a:prstGeom prst="rect">
            <a:avLst/>
          </a:prstGeom>
          <a:noFill/>
          <a:ln/>
        </p:spPr>
        <p:txBody>
          <a:bodyPr wrap="square" lIns="0" tIns="0" rIns="0" bIns="0" rtlCol="0" anchor="ctr"/>
          <a:lstStyle/>
          <a:p>
            <a:pPr indent="0" marL="0">
              <a:buNone/>
            </a:pPr>
            <a:r>
              <a:rPr lang="en-US" sz="1400" dirty="0">
                <a:solidFill>
                  <a:srgbClr val="17161A"/>
                </a:solidFill>
                <a:latin typeface="Calibri" pitchFamily="34" charset="0"/>
                <a:ea typeface="Calibri" pitchFamily="34" charset="-122"/>
                <a:cs typeface="Calibri" pitchFamily="34" charset="-120"/>
              </a:rPr>
              <a:t>Roughly a 20-fold difference — and 78.6% of tested burner domains were pushed in synchronised bursts.</a:t>
            </a:r>
            <a:endParaRPr lang="en-US" sz="1400" dirty="0"/>
          </a:p>
        </p:txBody>
      </p:sp>
      <p:sp>
        <p:nvSpPr>
          <p:cNvPr id="6" name="Shape 3"/>
          <p:cNvSpPr/>
          <p:nvPr/>
        </p:nvSpPr>
        <p:spPr>
          <a:xfrm>
            <a:off x="7543800" y="1627632"/>
            <a:ext cx="4023360" cy="3566160"/>
          </a:xfrm>
          <a:prstGeom prst="roundRect">
            <a:avLst>
              <a:gd name="adj" fmla="val 1538"/>
            </a:avLst>
          </a:prstGeom>
          <a:solidFill>
            <a:srgbClr val="FAF9F8"/>
          </a:solidFill>
          <a:ln w="12700">
            <a:solidFill>
              <a:srgbClr val="E4E1DE"/>
            </a:solidFill>
            <a:prstDash val="solid"/>
          </a:ln>
        </p:spPr>
      </p:sp>
      <p:sp>
        <p:nvSpPr>
          <p:cNvPr id="7" name="Text 4"/>
          <p:cNvSpPr/>
          <p:nvPr/>
        </p:nvSpPr>
        <p:spPr>
          <a:xfrm>
            <a:off x="7863840" y="1828800"/>
            <a:ext cx="3383280" cy="502920"/>
          </a:xfrm>
          <a:prstGeom prst="rect">
            <a:avLst/>
          </a:prstGeom>
          <a:noFill/>
          <a:ln/>
        </p:spPr>
        <p:txBody>
          <a:bodyPr wrap="square" lIns="0" tIns="0" rIns="0" bIns="0" rtlCol="0" anchor="ctr"/>
          <a:lstStyle/>
          <a:p>
            <a:pPr indent="0" marL="0">
              <a:buNone/>
            </a:pPr>
            <a:r>
              <a:rPr lang="en-US" sz="1500" b="1" dirty="0">
                <a:solidFill>
                  <a:srgbClr val="17161A"/>
                </a:solidFill>
                <a:latin typeface="Calibri" pitchFamily="34" charset="0"/>
                <a:ea typeface="Calibri" pitchFamily="34" charset="-122"/>
                <a:cs typeface="Calibri" pitchFamily="34" charset="-120"/>
              </a:rPr>
              <a:t>Why this matters more than the text signal</a:t>
            </a:r>
            <a:endParaRPr lang="en-US" sz="1500" dirty="0"/>
          </a:p>
        </p:txBody>
      </p:sp>
      <p:sp>
        <p:nvSpPr>
          <p:cNvPr id="8" name="Text 5"/>
          <p:cNvSpPr/>
          <p:nvPr/>
        </p:nvSpPr>
        <p:spPr>
          <a:xfrm>
            <a:off x="7863840" y="2377440"/>
            <a:ext cx="3383280" cy="2697480"/>
          </a:xfrm>
          <a:prstGeom prst="rect">
            <a:avLst/>
          </a:prstGeom>
          <a:noFill/>
          <a:ln/>
        </p:spPr>
        <p:txBody>
          <a:bodyPr wrap="square" lIns="0" tIns="0" rIns="0" bIns="0" rtlCol="0" anchor="t"/>
          <a:lstStyle/>
          <a:p>
            <a:pPr marL="228600" indent="-228600">
              <a:spcAft>
                <a:spcPts val="1100"/>
              </a:spcAft>
              <a:buSzPct val="100000"/>
              <a:buChar char="•"/>
            </a:pPr>
            <a:r>
              <a:rPr lang="en-US" sz="1250" dirty="0">
                <a:solidFill>
                  <a:srgbClr val="55525C"/>
                </a:solidFill>
                <a:latin typeface="Calibri" pitchFamily="34" charset="0"/>
                <a:ea typeface="Calibri" pitchFamily="34" charset="-122"/>
                <a:cs typeface="Calibri" pitchFamily="34" charset="-120"/>
              </a:rPr>
              <a:t>Infrastructure survives paraphrase. Rewording defeats the text detector; it does not conjure a new domain.</a:t>
            </a:r>
            <a:endParaRPr lang="en-US" sz="1250" dirty="0"/>
          </a:p>
          <a:p>
            <a:pPr marL="228600" indent="-228600">
              <a:spcAft>
                <a:spcPts val="1100"/>
              </a:spcAft>
              <a:buSzPct val="100000"/>
              <a:buChar char="•"/>
            </a:pPr>
            <a:r>
              <a:rPr lang="en-US" sz="1250" dirty="0">
                <a:solidFill>
                  <a:srgbClr val="55525C"/>
                </a:solidFill>
                <a:latin typeface="Calibri" pitchFamily="34" charset="0"/>
                <a:ea typeface="Calibri" pitchFamily="34" charset="-122"/>
                <a:cs typeface="Calibri" pitchFamily="34" charset="-120"/>
              </a:rPr>
              <a:t>A 91-day cycle is invisible in any single-year window.</a:t>
            </a:r>
            <a:endParaRPr lang="en-US" sz="1250" dirty="0"/>
          </a:p>
          <a:p>
            <a:pPr marL="228600" indent="-228600">
              <a:spcAft>
                <a:spcPts val="1100"/>
              </a:spcAft>
              <a:buSzPct val="100000"/>
              <a:buChar char="•"/>
            </a:pPr>
            <a:r>
              <a:rPr lang="en-US" sz="1250" dirty="0">
                <a:solidFill>
                  <a:srgbClr val="55525C"/>
                </a:solidFill>
                <a:latin typeface="Calibri" pitchFamily="34" charset="0"/>
                <a:ea typeface="Calibri" pitchFamily="34" charset="-122"/>
                <a:cs typeface="Calibri" pitchFamily="34" charset="-120"/>
              </a:rPr>
              <a:t>It is observable from public domain data alone — no platform cooperation required.</a:t>
            </a:r>
            <a:endParaRPr lang="en-US" sz="1250" dirty="0"/>
          </a:p>
          <a:p>
            <a:pPr marL="228600" indent="-228600">
              <a:spcAft>
                <a:spcPts val="1100"/>
              </a:spcAft>
              <a:buSzPct val="100000"/>
              <a:buChar char="•"/>
            </a:pPr>
            <a:r>
              <a:rPr lang="en-US" sz="1250" dirty="0">
                <a:solidFill>
                  <a:srgbClr val="55525C"/>
                </a:solidFill>
                <a:latin typeface="Calibri" pitchFamily="34" charset="0"/>
                <a:ea typeface="Calibri" pitchFamily="34" charset="-122"/>
                <a:cs typeface="Calibri" pitchFamily="34" charset="-120"/>
              </a:rPr>
              <a:t>But the flag misfires on ~1 in 10 legitimate but oddly-named sites. It is a candidate generator, not a verdict.</a:t>
            </a:r>
            <a:endParaRPr lang="en-US" sz="1250" dirty="0"/>
          </a:p>
        </p:txBody>
      </p:sp>
      <p:sp>
        <p:nvSpPr>
          <p:cNvPr id="9" name="Text 6"/>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10" name="Text 7"/>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FINDING 3 · CHAPTER 7, A NEGATIVE RESULT</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The safety systems can't see the main harm</a:t>
            </a:r>
            <a:endParaRPr lang="en-US" sz="3400" dirty="0"/>
          </a:p>
        </p:txBody>
      </p:sp>
      <p:sp>
        <p:nvSpPr>
          <p:cNvPr id="4" name="Shape 2"/>
          <p:cNvSpPr/>
          <p:nvPr/>
        </p:nvSpPr>
        <p:spPr>
          <a:xfrm>
            <a:off x="640080" y="1627632"/>
            <a:ext cx="5257800" cy="2286000"/>
          </a:xfrm>
          <a:prstGeom prst="roundRect">
            <a:avLst>
              <a:gd name="adj" fmla="val 2400"/>
            </a:avLst>
          </a:prstGeom>
          <a:solidFill>
            <a:srgbClr val="FBF0ED"/>
          </a:solidFill>
          <a:ln w="12700">
            <a:solidFill>
              <a:srgbClr val="FBF0ED"/>
            </a:solidFill>
            <a:prstDash val="solid"/>
          </a:ln>
        </p:spPr>
      </p:sp>
      <p:sp>
        <p:nvSpPr>
          <p:cNvPr id="5" name="Text 3"/>
          <p:cNvSpPr/>
          <p:nvPr/>
        </p:nvSpPr>
        <p:spPr>
          <a:xfrm>
            <a:off x="960120" y="1810512"/>
            <a:ext cx="4617720" cy="320040"/>
          </a:xfrm>
          <a:prstGeom prst="rect">
            <a:avLst/>
          </a:prstGeom>
          <a:noFill/>
          <a:ln/>
        </p:spPr>
        <p:txBody>
          <a:bodyPr wrap="square" lIns="0" tIns="0" rIns="0" bIns="0" rtlCol="0" anchor="ctr"/>
          <a:lstStyle/>
          <a:p>
            <a:pPr indent="0" marL="0">
              <a:buNone/>
            </a:pPr>
            <a:r>
              <a:rPr lang="en-US" sz="1500" b="1" dirty="0">
                <a:solidFill>
                  <a:srgbClr val="C4432A"/>
                </a:solidFill>
                <a:latin typeface="Calibri" pitchFamily="34" charset="0"/>
                <a:ea typeface="Calibri" pitchFamily="34" charset="-122"/>
                <a:cs typeface="Calibri" pitchFamily="34" charset="-120"/>
              </a:rPr>
              <a:t>The accuracy gap</a:t>
            </a:r>
            <a:endParaRPr lang="en-US" sz="1500" dirty="0"/>
          </a:p>
        </p:txBody>
      </p:sp>
      <p:sp>
        <p:nvSpPr>
          <p:cNvPr id="6" name="Text 4"/>
          <p:cNvSpPr/>
          <p:nvPr/>
        </p:nvSpPr>
        <p:spPr>
          <a:xfrm>
            <a:off x="960120" y="2212848"/>
            <a:ext cx="4617720" cy="640080"/>
          </a:xfrm>
          <a:prstGeom prst="rect">
            <a:avLst/>
          </a:prstGeom>
          <a:noFill/>
          <a:ln/>
        </p:spPr>
        <p:txBody>
          <a:bodyPr wrap="square" lIns="0" tIns="0" rIns="0" bIns="0" rtlCol="0" anchor="ctr"/>
          <a:lstStyle/>
          <a:p>
            <a:pPr indent="0" marL="0">
              <a:buNone/>
            </a:pPr>
            <a:r>
              <a:rPr lang="en-US" sz="3400" b="1" dirty="0">
                <a:solidFill>
                  <a:srgbClr val="C4432A"/>
                </a:solidFill>
                <a:latin typeface="Cambria" pitchFamily="34" charset="0"/>
                <a:ea typeface="Cambria" pitchFamily="34" charset="-122"/>
                <a:cs typeface="Cambria" pitchFamily="34" charset="-120"/>
              </a:rPr>
              <a:t>0.152</a:t>
            </a:r>
            <a:pPr indent="0" marL="0">
              <a:buNone/>
            </a:pPr>
            <a:r>
              <a:rPr lang="en-US" sz="1600" dirty="0">
                <a:solidFill>
                  <a:srgbClr val="55525C"/>
                </a:solidFill>
                <a:latin typeface="Calibri" pitchFamily="34" charset="0"/>
                <a:ea typeface="Calibri" pitchFamily="34" charset="-122"/>
                <a:cs typeface="Calibri" pitchFamily="34" charset="-120"/>
              </a:rPr>
              <a:t>   vs   </a:t>
            </a:r>
            <a:pPr indent="0" marL="0">
              <a:buNone/>
            </a:pPr>
            <a:r>
              <a:rPr lang="en-US" sz="3400" b="1" dirty="0">
                <a:solidFill>
                  <a:srgbClr val="55525C"/>
                </a:solidFill>
                <a:latin typeface="Cambria" pitchFamily="34" charset="0"/>
                <a:ea typeface="Cambria" pitchFamily="34" charset="-122"/>
                <a:cs typeface="Cambria" pitchFamily="34" charset="-120"/>
              </a:rPr>
              <a:t>0.163</a:t>
            </a:r>
            <a:endParaRPr lang="en-US" sz="3400" dirty="0"/>
          </a:p>
        </p:txBody>
      </p:sp>
      <p:sp>
        <p:nvSpPr>
          <p:cNvPr id="7" name="Text 5"/>
          <p:cNvSpPr/>
          <p:nvPr/>
        </p:nvSpPr>
        <p:spPr>
          <a:xfrm>
            <a:off x="960120" y="2880360"/>
            <a:ext cx="4617720" cy="822960"/>
          </a:xfrm>
          <a:prstGeom prst="rect">
            <a:avLst/>
          </a:prstGeom>
          <a:noFill/>
          <a:ln/>
        </p:spPr>
        <p:txBody>
          <a:bodyPr wrap="square" lIns="0" tIns="0" rIns="0" bIns="0" rtlCol="0" anchor="ctr"/>
          <a:lstStyle/>
          <a:p>
            <a:pPr indent="0" marL="0">
              <a:buNone/>
            </a:pPr>
            <a:r>
              <a:rPr lang="en-US" sz="1300" dirty="0">
                <a:solidFill>
                  <a:srgbClr val="17161A"/>
                </a:solidFill>
                <a:latin typeface="Calibri" pitchFamily="34" charset="0"/>
                <a:ea typeface="Calibri" pitchFamily="34" charset="-122"/>
                <a:cs typeface="Calibri" pitchFamily="34" charset="-120"/>
              </a:rPr>
              <a:t>Mean provider toxicity of scam-cue content, against the corpus mean. Scam scores calmer than average.</a:t>
            </a:r>
            <a:endParaRPr lang="en-US" sz="1300" dirty="0"/>
          </a:p>
        </p:txBody>
      </p:sp>
      <p:sp>
        <p:nvSpPr>
          <p:cNvPr id="8" name="Shape 6"/>
          <p:cNvSpPr/>
          <p:nvPr/>
        </p:nvSpPr>
        <p:spPr>
          <a:xfrm>
            <a:off x="6263640" y="1627632"/>
            <a:ext cx="5257800" cy="2286000"/>
          </a:xfrm>
          <a:prstGeom prst="roundRect">
            <a:avLst>
              <a:gd name="adj" fmla="val 2400"/>
            </a:avLst>
          </a:prstGeom>
          <a:solidFill>
            <a:srgbClr val="EAF0F3"/>
          </a:solidFill>
          <a:ln w="12700">
            <a:solidFill>
              <a:srgbClr val="EAF0F3"/>
            </a:solidFill>
            <a:prstDash val="solid"/>
          </a:ln>
        </p:spPr>
      </p:sp>
      <p:sp>
        <p:nvSpPr>
          <p:cNvPr id="9" name="Text 7"/>
          <p:cNvSpPr/>
          <p:nvPr/>
        </p:nvSpPr>
        <p:spPr>
          <a:xfrm>
            <a:off x="6583680" y="1810512"/>
            <a:ext cx="4617720" cy="320040"/>
          </a:xfrm>
          <a:prstGeom prst="rect">
            <a:avLst/>
          </a:prstGeom>
          <a:noFill/>
          <a:ln/>
        </p:spPr>
        <p:txBody>
          <a:bodyPr wrap="square" lIns="0" tIns="0" rIns="0" bIns="0" rtlCol="0" anchor="ctr"/>
          <a:lstStyle/>
          <a:p>
            <a:pPr indent="0" marL="0">
              <a:buNone/>
            </a:pPr>
            <a:r>
              <a:rPr lang="en-US" sz="1500" b="1" dirty="0">
                <a:solidFill>
                  <a:srgbClr val="27607A"/>
                </a:solidFill>
                <a:latin typeface="Calibri" pitchFamily="34" charset="0"/>
                <a:ea typeface="Calibri" pitchFamily="34" charset="-122"/>
                <a:cs typeface="Calibri" pitchFamily="34" charset="-120"/>
              </a:rPr>
              <a:t>The coverage gap</a:t>
            </a:r>
            <a:endParaRPr lang="en-US" sz="1500" dirty="0"/>
          </a:p>
        </p:txBody>
      </p:sp>
      <p:sp>
        <p:nvSpPr>
          <p:cNvPr id="10" name="Text 8"/>
          <p:cNvSpPr/>
          <p:nvPr/>
        </p:nvSpPr>
        <p:spPr>
          <a:xfrm>
            <a:off x="6583680" y="2212848"/>
            <a:ext cx="4617720" cy="640080"/>
          </a:xfrm>
          <a:prstGeom prst="rect">
            <a:avLst/>
          </a:prstGeom>
          <a:noFill/>
          <a:ln/>
        </p:spPr>
        <p:txBody>
          <a:bodyPr wrap="square" lIns="0" tIns="0" rIns="0" bIns="0" rtlCol="0" anchor="ctr"/>
          <a:lstStyle/>
          <a:p>
            <a:pPr indent="0" marL="0">
              <a:buNone/>
            </a:pPr>
            <a:r>
              <a:rPr lang="en-US" sz="3000" b="1" dirty="0">
                <a:solidFill>
                  <a:srgbClr val="27607A"/>
                </a:solidFill>
                <a:latin typeface="Cambria" pitchFamily="34" charset="0"/>
                <a:ea typeface="Cambria" pitchFamily="34" charset="-122"/>
                <a:cs typeface="Cambria" pitchFamily="34" charset="-120"/>
              </a:rPr>
              <a:t>129,506,705</a:t>
            </a:r>
            <a:endParaRPr lang="en-US" sz="3000" dirty="0"/>
          </a:p>
        </p:txBody>
      </p:sp>
      <p:sp>
        <p:nvSpPr>
          <p:cNvPr id="11" name="Text 9"/>
          <p:cNvSpPr/>
          <p:nvPr/>
        </p:nvSpPr>
        <p:spPr>
          <a:xfrm>
            <a:off x="6583680" y="2880360"/>
            <a:ext cx="4617720" cy="822960"/>
          </a:xfrm>
          <a:prstGeom prst="rect">
            <a:avLst/>
          </a:prstGeom>
          <a:noFill/>
          <a:ln/>
        </p:spPr>
        <p:txBody>
          <a:bodyPr wrap="square" lIns="0" tIns="0" rIns="0" bIns="0" rtlCol="0" anchor="ctr"/>
          <a:lstStyle/>
          <a:p>
            <a:pPr indent="0" marL="0">
              <a:buNone/>
            </a:pPr>
            <a:r>
              <a:rPr lang="en-US" sz="1300" dirty="0">
                <a:solidFill>
                  <a:srgbClr val="17161A"/>
                </a:solidFill>
                <a:latin typeface="Calibri" pitchFamily="34" charset="0"/>
                <a:ea typeface="Calibri" pitchFamily="34" charset="-122"/>
                <a:cs typeface="Calibri" pitchFamily="34" charset="-120"/>
              </a:rPr>
              <a:t>Facebook comments — 84% of the corpus — carry no provider affect score at all. Toxicity scoring exists at scale only for Reddit.</a:t>
            </a:r>
            <a:endParaRPr lang="en-US" sz="1300" dirty="0"/>
          </a:p>
        </p:txBody>
      </p:sp>
      <p:sp>
        <p:nvSpPr>
          <p:cNvPr id="12" name="Text 10"/>
          <p:cNvSpPr/>
          <p:nvPr/>
        </p:nvSpPr>
        <p:spPr>
          <a:xfrm>
            <a:off x="640080" y="4114800"/>
            <a:ext cx="10881360" cy="365760"/>
          </a:xfrm>
          <a:prstGeom prst="rect">
            <a:avLst/>
          </a:prstGeom>
          <a:noFill/>
          <a:ln/>
        </p:spPr>
        <p:txBody>
          <a:bodyPr wrap="square" lIns="0" tIns="0" rIns="0" bIns="0" rtlCol="0" anchor="ctr"/>
          <a:lstStyle/>
          <a:p>
            <a:pPr indent="0" marL="0">
              <a:buNone/>
            </a:pPr>
            <a:r>
              <a:rPr lang="en-US" sz="1600" b="1" dirty="0">
                <a:solidFill>
                  <a:srgbClr val="17161A"/>
                </a:solidFill>
                <a:latin typeface="Calibri" pitchFamily="34" charset="0"/>
                <a:ea typeface="Calibri" pitchFamily="34" charset="-122"/>
                <a:cs typeface="Calibri" pitchFamily="34" charset="-120"/>
              </a:rPr>
              <a:t>Scam content is polite by design. It is optimised to pass exactly the classifier we rely on to catch harm.</a:t>
            </a:r>
            <a:endParaRPr lang="en-US" sz="1600" dirty="0"/>
          </a:p>
        </p:txBody>
      </p:sp>
      <p:sp>
        <p:nvSpPr>
          <p:cNvPr id="13" name="Text 11"/>
          <p:cNvSpPr/>
          <p:nvPr/>
        </p:nvSpPr>
        <p:spPr>
          <a:xfrm>
            <a:off x="640080" y="4526280"/>
            <a:ext cx="10881360" cy="914400"/>
          </a:xfrm>
          <a:prstGeom prst="rect">
            <a:avLst/>
          </a:prstGeom>
          <a:noFill/>
          <a:ln/>
        </p:spPr>
        <p:txBody>
          <a:bodyPr wrap="square" lIns="0" tIns="0" rIns="0" bIns="0" rtlCol="0" anchor="ctr"/>
          <a:lstStyle/>
          <a:p>
            <a:pPr indent="0" marL="0">
              <a:buNone/>
            </a:pPr>
            <a:r>
              <a:rPr lang="en-US" sz="1400" dirty="0">
                <a:solidFill>
                  <a:srgbClr val="55525C"/>
                </a:solidFill>
                <a:latin typeface="Calibri" pitchFamily="34" charset="0"/>
                <a:ea typeface="Calibri" pitchFamily="34" charset="-122"/>
                <a:cs typeface="Calibri" pitchFamily="34" charset="-120"/>
              </a:rPr>
              <a:t>This is not a gap in coverage that more compute fixes. It is a finding about the inadequacy of a common safety instrument: a system tuned to toxicity, harassment, and hate will systematically under-serve a market where commercial fraud is the principal measurable harm.</a:t>
            </a:r>
            <a:endParaRPr lang="en-US" sz="1400" dirty="0"/>
          </a:p>
        </p:txBody>
      </p:sp>
      <p:sp>
        <p:nvSpPr>
          <p:cNvPr id="14" name="Text 12"/>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15" name="Text 13"/>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FINDING 3 · THE INVERSION</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The two blind spots are mirror images</a:t>
            </a:r>
            <a:endParaRPr lang="en-US" sz="3400" dirty="0"/>
          </a:p>
        </p:txBody>
      </p:sp>
      <p:sp>
        <p:nvSpPr>
          <p:cNvPr id="4" name="Text 2"/>
          <p:cNvSpPr/>
          <p:nvPr/>
        </p:nvSpPr>
        <p:spPr>
          <a:xfrm>
            <a:off x="4206240" y="1691640"/>
            <a:ext cx="3474720" cy="548640"/>
          </a:xfrm>
          <a:prstGeom prst="rect">
            <a:avLst/>
          </a:prstGeom>
          <a:noFill/>
          <a:ln/>
        </p:spPr>
        <p:txBody>
          <a:bodyPr wrap="square" lIns="0" tIns="0" rIns="0" bIns="0" rtlCol="0" anchor="ctr"/>
          <a:lstStyle/>
          <a:p>
            <a:pPr algn="ctr" indent="0" marL="0">
              <a:buNone/>
            </a:pPr>
            <a:r>
              <a:rPr lang="en-US" sz="1400" b="1" dirty="0">
                <a:solidFill>
                  <a:srgbClr val="17161A"/>
                </a:solidFill>
                <a:latin typeface="Calibri" pitchFamily="34" charset="0"/>
                <a:ea typeface="Calibri" pitchFamily="34" charset="-122"/>
                <a:cs typeface="Calibri" pitchFamily="34" charset="-120"/>
              </a:rPr>
              <a:t>Coordination / infrastructure detection</a:t>
            </a:r>
            <a:endParaRPr lang="en-US" sz="1400" dirty="0"/>
          </a:p>
        </p:txBody>
      </p:sp>
      <p:sp>
        <p:nvSpPr>
          <p:cNvPr id="5" name="Text 3"/>
          <p:cNvSpPr/>
          <p:nvPr/>
        </p:nvSpPr>
        <p:spPr>
          <a:xfrm>
            <a:off x="7955280" y="1691640"/>
            <a:ext cx="3474720" cy="548640"/>
          </a:xfrm>
          <a:prstGeom prst="rect">
            <a:avLst/>
          </a:prstGeom>
          <a:noFill/>
          <a:ln/>
        </p:spPr>
        <p:txBody>
          <a:bodyPr wrap="square" lIns="0" tIns="0" rIns="0" bIns="0" rtlCol="0" anchor="ctr"/>
          <a:lstStyle/>
          <a:p>
            <a:pPr algn="ctr" indent="0" marL="0">
              <a:buNone/>
            </a:pPr>
            <a:r>
              <a:rPr lang="en-US" sz="1400" b="1" dirty="0">
                <a:solidFill>
                  <a:srgbClr val="17161A"/>
                </a:solidFill>
                <a:latin typeface="Calibri" pitchFamily="34" charset="0"/>
                <a:ea typeface="Calibri" pitchFamily="34" charset="-122"/>
                <a:cs typeface="Calibri" pitchFamily="34" charset="-120"/>
              </a:rPr>
              <a:t>Provider toxicity scoring</a:t>
            </a:r>
            <a:endParaRPr lang="en-US" sz="1400" dirty="0"/>
          </a:p>
        </p:txBody>
      </p:sp>
      <p:sp>
        <p:nvSpPr>
          <p:cNvPr id="6" name="Shape 4"/>
          <p:cNvSpPr/>
          <p:nvPr/>
        </p:nvSpPr>
        <p:spPr>
          <a:xfrm>
            <a:off x="640080" y="2377440"/>
            <a:ext cx="10881360" cy="1234440"/>
          </a:xfrm>
          <a:prstGeom prst="roundRect">
            <a:avLst>
              <a:gd name="adj" fmla="val 4444"/>
            </a:avLst>
          </a:prstGeom>
          <a:solidFill>
            <a:srgbClr val="FAF9F8"/>
          </a:solidFill>
          <a:ln w="12700">
            <a:solidFill>
              <a:srgbClr val="E4E1DE"/>
            </a:solidFill>
            <a:prstDash val="solid"/>
          </a:ln>
        </p:spPr>
      </p:sp>
      <p:sp>
        <p:nvSpPr>
          <p:cNvPr id="7" name="Text 5"/>
          <p:cNvSpPr/>
          <p:nvPr/>
        </p:nvSpPr>
        <p:spPr>
          <a:xfrm>
            <a:off x="960120" y="2697480"/>
            <a:ext cx="3017520" cy="594360"/>
          </a:xfrm>
          <a:prstGeom prst="rect">
            <a:avLst/>
          </a:prstGeom>
          <a:noFill/>
          <a:ln/>
        </p:spPr>
        <p:txBody>
          <a:bodyPr wrap="square" lIns="0" tIns="0" rIns="0" bIns="0" rtlCol="0" anchor="ctr"/>
          <a:lstStyle/>
          <a:p>
            <a:pPr indent="0" marL="0">
              <a:buNone/>
            </a:pPr>
            <a:r>
              <a:rPr lang="en-US" sz="1500" b="1" dirty="0">
                <a:solidFill>
                  <a:srgbClr val="C4432A"/>
                </a:solidFill>
                <a:latin typeface="Calibri" pitchFamily="34" charset="0"/>
                <a:ea typeface="Calibri" pitchFamily="34" charset="-122"/>
                <a:cs typeface="Calibri" pitchFamily="34" charset="-120"/>
              </a:rPr>
              <a:t>Scam / funnel content</a:t>
            </a:r>
            <a:endParaRPr lang="en-US" sz="1500" dirty="0"/>
          </a:p>
        </p:txBody>
      </p:sp>
      <p:sp>
        <p:nvSpPr>
          <p:cNvPr id="8" name="Text 6"/>
          <p:cNvSpPr/>
          <p:nvPr/>
        </p:nvSpPr>
        <p:spPr>
          <a:xfrm>
            <a:off x="4206240" y="2651760"/>
            <a:ext cx="3474720" cy="685800"/>
          </a:xfrm>
          <a:prstGeom prst="rect">
            <a:avLst/>
          </a:prstGeom>
          <a:noFill/>
          <a:ln/>
        </p:spPr>
        <p:txBody>
          <a:bodyPr wrap="square" lIns="0" tIns="0" rIns="0" bIns="0" rtlCol="0" anchor="ctr"/>
          <a:lstStyle/>
          <a:p>
            <a:pPr algn="ctr" indent="0" marL="0">
              <a:buNone/>
            </a:pPr>
            <a:r>
              <a:rPr lang="en-US" sz="1300" dirty="0">
                <a:solidFill>
                  <a:srgbClr val="55525C"/>
                </a:solidFill>
                <a:latin typeface="Calibri" pitchFamily="34" charset="0"/>
                <a:ea typeface="Calibri" pitchFamily="34" charset="-122"/>
                <a:cs typeface="Calibri" pitchFamily="34" charset="-120"/>
              </a:rPr>
              <a:t>Strongest lift in the whole toolkit</a:t>
            </a:r>
            <a:endParaRPr lang="en-US" sz="1300" dirty="0"/>
          </a:p>
        </p:txBody>
      </p:sp>
      <p:sp>
        <p:nvSpPr>
          <p:cNvPr id="9" name="Text 7"/>
          <p:cNvSpPr/>
          <p:nvPr/>
        </p:nvSpPr>
        <p:spPr>
          <a:xfrm>
            <a:off x="7955280" y="2651760"/>
            <a:ext cx="3474720" cy="685800"/>
          </a:xfrm>
          <a:prstGeom prst="rect">
            <a:avLst/>
          </a:prstGeom>
          <a:noFill/>
          <a:ln/>
        </p:spPr>
        <p:txBody>
          <a:bodyPr wrap="square" lIns="0" tIns="0" rIns="0" bIns="0" rtlCol="0" anchor="ctr"/>
          <a:lstStyle/>
          <a:p>
            <a:pPr algn="ctr" indent="0" marL="0">
              <a:buNone/>
            </a:pPr>
            <a:r>
              <a:rPr lang="en-US" sz="1300" dirty="0">
                <a:solidFill>
                  <a:srgbClr val="55525C"/>
                </a:solidFill>
                <a:latin typeface="Calibri" pitchFamily="34" charset="0"/>
                <a:ea typeface="Calibri" pitchFamily="34" charset="-122"/>
                <a:cs typeface="Calibri" pitchFamily="34" charset="-120"/>
              </a:rPr>
              <a:t>Weakest — scores below average</a:t>
            </a:r>
            <a:endParaRPr lang="en-US" sz="1300" dirty="0"/>
          </a:p>
        </p:txBody>
      </p:sp>
      <p:sp>
        <p:nvSpPr>
          <p:cNvPr id="10" name="Shape 8"/>
          <p:cNvSpPr/>
          <p:nvPr/>
        </p:nvSpPr>
        <p:spPr>
          <a:xfrm>
            <a:off x="640080" y="3794760"/>
            <a:ext cx="10881360" cy="1234440"/>
          </a:xfrm>
          <a:prstGeom prst="roundRect">
            <a:avLst>
              <a:gd name="adj" fmla="val 4444"/>
            </a:avLst>
          </a:prstGeom>
          <a:solidFill>
            <a:srgbClr val="FAF9F8"/>
          </a:solidFill>
          <a:ln w="12700">
            <a:solidFill>
              <a:srgbClr val="E4E1DE"/>
            </a:solidFill>
            <a:prstDash val="solid"/>
          </a:ln>
        </p:spPr>
      </p:sp>
      <p:sp>
        <p:nvSpPr>
          <p:cNvPr id="11" name="Text 9"/>
          <p:cNvSpPr/>
          <p:nvPr/>
        </p:nvSpPr>
        <p:spPr>
          <a:xfrm>
            <a:off x="960120" y="4114800"/>
            <a:ext cx="3017520" cy="594360"/>
          </a:xfrm>
          <a:prstGeom prst="rect">
            <a:avLst/>
          </a:prstGeom>
          <a:noFill/>
          <a:ln/>
        </p:spPr>
        <p:txBody>
          <a:bodyPr wrap="square" lIns="0" tIns="0" rIns="0" bIns="0" rtlCol="0" anchor="ctr"/>
          <a:lstStyle/>
          <a:p>
            <a:pPr indent="0" marL="0">
              <a:buNone/>
            </a:pPr>
            <a:r>
              <a:rPr lang="en-US" sz="1500" b="1" dirty="0">
                <a:solidFill>
                  <a:srgbClr val="27607A"/>
                </a:solidFill>
                <a:latin typeface="Calibri" pitchFamily="34" charset="0"/>
                <a:ea typeface="Calibri" pitchFamily="34" charset="-122"/>
                <a:cs typeface="Calibri" pitchFamily="34" charset="-120"/>
              </a:rPr>
              <a:t>Xenophobic content</a:t>
            </a:r>
            <a:endParaRPr lang="en-US" sz="1500" dirty="0"/>
          </a:p>
        </p:txBody>
      </p:sp>
      <p:sp>
        <p:nvSpPr>
          <p:cNvPr id="12" name="Text 10"/>
          <p:cNvSpPr/>
          <p:nvPr/>
        </p:nvSpPr>
        <p:spPr>
          <a:xfrm>
            <a:off x="4206240" y="4069080"/>
            <a:ext cx="3474720" cy="685800"/>
          </a:xfrm>
          <a:prstGeom prst="rect">
            <a:avLst/>
          </a:prstGeom>
          <a:noFill/>
          <a:ln/>
        </p:spPr>
        <p:txBody>
          <a:bodyPr wrap="square" lIns="0" tIns="0" rIns="0" bIns="0" rtlCol="0" anchor="ctr"/>
          <a:lstStyle/>
          <a:p>
            <a:pPr algn="ctr" indent="0" marL="0">
              <a:buNone/>
            </a:pPr>
            <a:r>
              <a:rPr lang="en-US" sz="1300" dirty="0">
                <a:solidFill>
                  <a:srgbClr val="55525C"/>
                </a:solidFill>
                <a:latin typeface="Calibri" pitchFamily="34" charset="0"/>
                <a:ea typeface="Calibri" pitchFamily="34" charset="-122"/>
                <a:cs typeface="Calibri" pitchFamily="34" charset="-120"/>
              </a:rPr>
              <a:t>Near-organic; little structural signal</a:t>
            </a:r>
            <a:endParaRPr lang="en-US" sz="1300" dirty="0"/>
          </a:p>
        </p:txBody>
      </p:sp>
      <p:sp>
        <p:nvSpPr>
          <p:cNvPr id="13" name="Text 11"/>
          <p:cNvSpPr/>
          <p:nvPr/>
        </p:nvSpPr>
        <p:spPr>
          <a:xfrm>
            <a:off x="7955280" y="4069080"/>
            <a:ext cx="3474720" cy="685800"/>
          </a:xfrm>
          <a:prstGeom prst="rect">
            <a:avLst/>
          </a:prstGeom>
          <a:noFill/>
          <a:ln/>
        </p:spPr>
        <p:txBody>
          <a:bodyPr wrap="square" lIns="0" tIns="0" rIns="0" bIns="0" rtlCol="0" anchor="ctr"/>
          <a:lstStyle/>
          <a:p>
            <a:pPr algn="ctr" indent="0" marL="0">
              <a:buNone/>
            </a:pPr>
            <a:r>
              <a:rPr lang="en-US" sz="1300" dirty="0">
                <a:solidFill>
                  <a:srgbClr val="55525C"/>
                </a:solidFill>
                <a:latin typeface="Calibri" pitchFamily="34" charset="0"/>
                <a:ea typeface="Calibri" pitchFamily="34" charset="-122"/>
                <a:cs typeface="Calibri" pitchFamily="34" charset="-120"/>
              </a:rPr>
              <a:t>Comparatively well flagged</a:t>
            </a:r>
            <a:endParaRPr lang="en-US" sz="1300" dirty="0"/>
          </a:p>
        </p:txBody>
      </p:sp>
      <p:sp>
        <p:nvSpPr>
          <p:cNvPr id="14" name="Shape 12"/>
          <p:cNvSpPr/>
          <p:nvPr/>
        </p:nvSpPr>
        <p:spPr>
          <a:xfrm>
            <a:off x="640080" y="5257800"/>
            <a:ext cx="10881360" cy="868680"/>
          </a:xfrm>
          <a:prstGeom prst="roundRect">
            <a:avLst>
              <a:gd name="adj" fmla="val 6316"/>
            </a:avLst>
          </a:prstGeom>
          <a:solidFill>
            <a:srgbClr val="17161A"/>
          </a:solidFill>
          <a:ln w="12700">
            <a:solidFill>
              <a:srgbClr val="17161A"/>
            </a:solidFill>
            <a:prstDash val="solid"/>
          </a:ln>
        </p:spPr>
      </p:sp>
      <p:sp>
        <p:nvSpPr>
          <p:cNvPr id="15" name="Text 13"/>
          <p:cNvSpPr/>
          <p:nvPr/>
        </p:nvSpPr>
        <p:spPr>
          <a:xfrm>
            <a:off x="1005840" y="5349240"/>
            <a:ext cx="10149840" cy="6858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Each layer's blind spot is roughly where the other layer's strength lies. Neither one alone gives a complete picture — which is an argument for combining them, not for choosing between them.</a:t>
            </a:r>
            <a:endParaRPr lang="en-US" sz="1400" dirty="0"/>
          </a:p>
        </p:txBody>
      </p:sp>
      <p:sp>
        <p:nvSpPr>
          <p:cNvPr id="16" name="Text 14"/>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17" name="Text 15"/>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FINDING 4 · A NEGATIVE RESULT</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Xenophobia is pervasive, not concentrated</a:t>
            </a:r>
            <a:endParaRPr lang="en-US" sz="3400" dirty="0"/>
          </a:p>
        </p:txBody>
      </p:sp>
      <p:graphicFrame>
        <p:nvGraphicFramePr>
          <p:cNvPr id="4" name="Chart 0" descr=""/>
          <p:cNvGraphicFramePr/>
          <p:nvPr/>
        </p:nvGraphicFramePr>
        <p:xfrm>
          <a:off x="640080" y="1691640"/>
          <a:ext cx="5852160" cy="23774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40080" y="4206240"/>
            <a:ext cx="5852160" cy="1097280"/>
          </a:xfrm>
          <a:prstGeom prst="rect">
            <a:avLst/>
          </a:prstGeom>
          <a:noFill/>
          <a:ln/>
        </p:spPr>
        <p:txBody>
          <a:bodyPr wrap="square" lIns="0" tIns="0" rIns="0" bIns="0" rtlCol="0" anchor="ctr"/>
          <a:lstStyle/>
          <a:p>
            <a:pPr indent="0" marL="0">
              <a:buNone/>
            </a:pPr>
            <a:r>
              <a:rPr lang="en-US" sz="1400" dirty="0">
                <a:solidFill>
                  <a:srgbClr val="55525C"/>
                </a:solidFill>
                <a:latin typeface="Calibri" pitchFamily="34" charset="0"/>
                <a:ea typeface="Calibri" pitchFamily="34" charset="-122"/>
                <a:cs typeface="Calibri" pitchFamily="34" charset="-120"/>
              </a:rPr>
              <a:t>Xenophobia cue precision is high — 87%. But so is its base rate in a random sample of the corpus: roughly 62% of definite labels. High precision on a common phenomenon is not a detector; it is a thermometer.</a:t>
            </a:r>
            <a:endParaRPr lang="en-US" sz="1400" dirty="0"/>
          </a:p>
        </p:txBody>
      </p:sp>
      <p:sp>
        <p:nvSpPr>
          <p:cNvPr id="6" name="Shape 3"/>
          <p:cNvSpPr/>
          <p:nvPr/>
        </p:nvSpPr>
        <p:spPr>
          <a:xfrm>
            <a:off x="6903720" y="1664208"/>
            <a:ext cx="4663440" cy="3611880"/>
          </a:xfrm>
          <a:prstGeom prst="roundRect">
            <a:avLst>
              <a:gd name="adj" fmla="val 1519"/>
            </a:avLst>
          </a:prstGeom>
          <a:solidFill>
            <a:srgbClr val="FBF0ED"/>
          </a:solidFill>
          <a:ln w="12700">
            <a:solidFill>
              <a:srgbClr val="FBF0ED"/>
            </a:solidFill>
            <a:prstDash val="solid"/>
          </a:ln>
        </p:spPr>
      </p:sp>
      <p:sp>
        <p:nvSpPr>
          <p:cNvPr id="7" name="Text 4"/>
          <p:cNvSpPr/>
          <p:nvPr/>
        </p:nvSpPr>
        <p:spPr>
          <a:xfrm>
            <a:off x="7223760" y="1874520"/>
            <a:ext cx="4023360" cy="365760"/>
          </a:xfrm>
          <a:prstGeom prst="rect">
            <a:avLst/>
          </a:prstGeom>
          <a:noFill/>
          <a:ln/>
        </p:spPr>
        <p:txBody>
          <a:bodyPr wrap="square" lIns="0" tIns="0" rIns="0" bIns="0" rtlCol="0" anchor="ctr"/>
          <a:lstStyle/>
          <a:p>
            <a:pPr indent="0" marL="0">
              <a:buNone/>
            </a:pPr>
            <a:r>
              <a:rPr lang="en-US" sz="1600" b="1" dirty="0">
                <a:solidFill>
                  <a:srgbClr val="C4432A"/>
                </a:solidFill>
                <a:latin typeface="Calibri" pitchFamily="34" charset="0"/>
                <a:ea typeface="Calibri" pitchFamily="34" charset="-122"/>
                <a:cs typeface="Calibri" pitchFamily="34" charset="-120"/>
              </a:rPr>
              <a:t>Why this is the uncomfortable finding</a:t>
            </a:r>
            <a:endParaRPr lang="en-US" sz="1600" dirty="0"/>
          </a:p>
        </p:txBody>
      </p:sp>
      <p:sp>
        <p:nvSpPr>
          <p:cNvPr id="8" name="Text 5"/>
          <p:cNvSpPr/>
          <p:nvPr/>
        </p:nvSpPr>
        <p:spPr>
          <a:xfrm>
            <a:off x="7223760" y="2331720"/>
            <a:ext cx="4023360" cy="2743200"/>
          </a:xfrm>
          <a:prstGeom prst="rect">
            <a:avLst/>
          </a:prstGeom>
          <a:noFill/>
          <a:ln/>
        </p:spPr>
        <p:txBody>
          <a:bodyPr wrap="square" lIns="0" tIns="0" rIns="0" bIns="0" rtlCol="0" anchor="ctr"/>
          <a:lstStyle/>
          <a:p>
            <a:pPr indent="0" marL="0">
              <a:lnSpc>
                <a:spcPts val="1900"/>
              </a:lnSpc>
              <a:buNone/>
            </a:pPr>
            <a:r>
              <a:rPr lang="en-US" sz="1300" dirty="0">
                <a:solidFill>
                  <a:srgbClr val="17161A"/>
                </a:solidFill>
                <a:latin typeface="Calibri" pitchFamily="34" charset="0"/>
                <a:ea typeface="Calibri" pitchFamily="34" charset="-122"/>
                <a:cs typeface="Calibri" pitchFamily="34" charset="-120"/>
              </a:rPr>
              <a:t>The signal is not a needle in a haystack. It is a property of much of the hay.</a:t>
            </a:r>
            <a:endParaRPr lang="en-US" sz="1300" dirty="0"/>
          </a:p>
          <a:p>
            <a:pPr indent="0" marL="0">
              <a:lnSpc>
                <a:spcPts val="1900"/>
              </a:lnSpc>
              <a:buNone/>
            </a:pPr>
            <a:endParaRPr lang="en-US" sz="1300" dirty="0"/>
          </a:p>
          <a:p>
            <a:pPr indent="0" marL="0">
              <a:lnSpc>
                <a:spcPts val="1900"/>
              </a:lnSpc>
              <a:buNone/>
            </a:pPr>
            <a:r>
              <a:rPr lang="en-US" sz="1300" dirty="0">
                <a:solidFill>
                  <a:srgbClr val="17161A"/>
                </a:solidFill>
                <a:latin typeface="Calibri" pitchFamily="34" charset="0"/>
                <a:ea typeface="Calibri" pitchFamily="34" charset="-122"/>
                <a:cs typeface="Calibri" pitchFamily="34" charset="-120"/>
              </a:rPr>
              <a:t>You cannot address it by taking down a network, because there is no network to take down — the coordination profile is organic across all six years.</a:t>
            </a:r>
            <a:endParaRPr lang="en-US" sz="1300" dirty="0"/>
          </a:p>
          <a:p>
            <a:pPr indent="0" marL="0">
              <a:lnSpc>
                <a:spcPts val="1900"/>
              </a:lnSpc>
              <a:buNone/>
            </a:pPr>
            <a:endParaRPr lang="en-US" sz="1300" dirty="0"/>
          </a:p>
          <a:p>
            <a:pPr indent="0" marL="0">
              <a:lnSpc>
                <a:spcPts val="1900"/>
              </a:lnSpc>
              <a:buNone/>
            </a:pPr>
            <a:r>
              <a:rPr lang="en-US" sz="1300" dirty="0">
                <a:solidFill>
                  <a:srgbClr val="17161A"/>
                </a:solidFill>
                <a:latin typeface="Calibri" pitchFamily="34" charset="0"/>
                <a:ea typeface="Calibri" pitchFamily="34" charset="-122"/>
                <a:cs typeface="Calibri" pitchFamily="34" charset="-120"/>
              </a:rPr>
              <a:t>Any intervention premised on isolating a small coordinated core would be aimed at something that isn't there.</a:t>
            </a:r>
            <a:endParaRPr lang="en-US" sz="1300" dirty="0"/>
          </a:p>
        </p:txBody>
      </p:sp>
      <p:sp>
        <p:nvSpPr>
          <p:cNvPr id="9" name="Text 6"/>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10" name="Text 7"/>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FINDING 5 · THE METHODOLOGICAL SPINE</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A single year can invert the truth</a:t>
            </a:r>
            <a:endParaRPr lang="en-US" sz="3400" dirty="0"/>
          </a:p>
        </p:txBody>
      </p:sp>
      <p:sp>
        <p:nvSpPr>
          <p:cNvPr id="4" name="Text 2"/>
          <p:cNvSpPr/>
          <p:nvPr/>
        </p:nvSpPr>
        <p:spPr>
          <a:xfrm>
            <a:off x="640080" y="1572768"/>
            <a:ext cx="10881360" cy="365760"/>
          </a:xfrm>
          <a:prstGeom prst="rect">
            <a:avLst/>
          </a:prstGeom>
          <a:noFill/>
          <a:ln/>
        </p:spPr>
        <p:txBody>
          <a:bodyPr wrap="square" lIns="0" tIns="0" rIns="0" bIns="0" rtlCol="0" anchor="ctr"/>
          <a:lstStyle/>
          <a:p>
            <a:pPr indent="0" marL="0">
              <a:buNone/>
            </a:pPr>
            <a:r>
              <a:rPr lang="en-US" sz="1500" dirty="0">
                <a:solidFill>
                  <a:srgbClr val="17161A"/>
                </a:solidFill>
                <a:latin typeface="Calibri" pitchFamily="34" charset="0"/>
                <a:ea typeface="Calibri" pitchFamily="34" charset="-122"/>
                <a:cs typeface="Calibri" pitchFamily="34" charset="-120"/>
              </a:rPr>
              <a:t>Three conclusions a 2025-only corpus would have supported, overturned by the full span:</a:t>
            </a:r>
            <a:endParaRPr lang="en-US" sz="1500" dirty="0"/>
          </a:p>
        </p:txBody>
      </p:sp>
      <p:sp>
        <p:nvSpPr>
          <p:cNvPr id="5" name="Shape 3"/>
          <p:cNvSpPr/>
          <p:nvPr/>
        </p:nvSpPr>
        <p:spPr>
          <a:xfrm>
            <a:off x="640080" y="2057400"/>
            <a:ext cx="10881360" cy="960120"/>
          </a:xfrm>
          <a:prstGeom prst="roundRect">
            <a:avLst>
              <a:gd name="adj" fmla="val 5714"/>
            </a:avLst>
          </a:prstGeom>
          <a:solidFill>
            <a:srgbClr val="FAF9F8"/>
          </a:solidFill>
          <a:ln w="12700">
            <a:solidFill>
              <a:srgbClr val="E4E1DE"/>
            </a:solidFill>
            <a:prstDash val="solid"/>
          </a:ln>
        </p:spPr>
      </p:sp>
      <p:sp>
        <p:nvSpPr>
          <p:cNvPr id="6" name="Shape 4"/>
          <p:cNvSpPr/>
          <p:nvPr/>
        </p:nvSpPr>
        <p:spPr>
          <a:xfrm>
            <a:off x="914400" y="2304288"/>
            <a:ext cx="457200" cy="457200"/>
          </a:xfrm>
          <a:prstGeom prst="ellipse">
            <a:avLst/>
          </a:prstGeom>
          <a:solidFill>
            <a:srgbClr val="C4432A"/>
          </a:solidFill>
          <a:ln w="12700">
            <a:solidFill>
              <a:srgbClr val="C4432A"/>
            </a:solidFill>
            <a:prstDash val="solid"/>
          </a:ln>
        </p:spPr>
      </p:sp>
      <p:sp>
        <p:nvSpPr>
          <p:cNvPr id="7" name="Text 5"/>
          <p:cNvSpPr/>
          <p:nvPr/>
        </p:nvSpPr>
        <p:spPr>
          <a:xfrm>
            <a:off x="914400" y="23042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554480" y="2185416"/>
            <a:ext cx="3246120" cy="685800"/>
          </a:xfrm>
          <a:prstGeom prst="rect">
            <a:avLst/>
          </a:prstGeom>
          <a:noFill/>
          <a:ln/>
        </p:spPr>
        <p:txBody>
          <a:bodyPr wrap="square" lIns="0" tIns="0" rIns="0" bIns="0" rtlCol="0" anchor="ctr"/>
          <a:lstStyle/>
          <a:p>
            <a:pPr indent="0" marL="0">
              <a:buNone/>
            </a:pPr>
            <a:r>
              <a:rPr lang="en-US" sz="1400" b="1" dirty="0">
                <a:solidFill>
                  <a:srgbClr val="17161A"/>
                </a:solidFill>
                <a:latin typeface="Calibri" pitchFamily="34" charset="0"/>
                <a:ea typeface="Calibri" pitchFamily="34" charset="-122"/>
                <a:cs typeface="Calibri" pitchFamily="34" charset="-120"/>
              </a:rPr>
              <a:t>Commercial spam looks near-organic</a:t>
            </a:r>
            <a:endParaRPr lang="en-US" sz="1400" dirty="0"/>
          </a:p>
        </p:txBody>
      </p:sp>
      <p:sp>
        <p:nvSpPr>
          <p:cNvPr id="9" name="Text 7"/>
          <p:cNvSpPr/>
          <p:nvPr/>
        </p:nvSpPr>
        <p:spPr>
          <a:xfrm>
            <a:off x="4892040" y="2185416"/>
            <a:ext cx="2514600" cy="685800"/>
          </a:xfrm>
          <a:prstGeom prst="rect">
            <a:avLst/>
          </a:prstGeom>
          <a:noFill/>
          <a:ln/>
        </p:spPr>
        <p:txBody>
          <a:bodyPr wrap="square" lIns="0" tIns="0" rIns="0" bIns="0" rtlCol="0" anchor="ctr"/>
          <a:lstStyle/>
          <a:p>
            <a:pPr indent="0" marL="0">
              <a:buNone/>
            </a:pPr>
            <a:r>
              <a:rPr lang="en-US" sz="1250" dirty="0">
                <a:solidFill>
                  <a:srgbClr val="8A8691"/>
                </a:solidFill>
                <a:latin typeface="Calibri" pitchFamily="34" charset="0"/>
                <a:ea typeface="Calibri" pitchFamily="34" charset="-122"/>
                <a:cs typeface="Calibri" pitchFamily="34" charset="-120"/>
              </a:rPr>
              <a:t>Funnel lift 0.19 in 2025</a:t>
            </a:r>
            <a:endParaRPr lang="en-US" sz="1250" dirty="0"/>
          </a:p>
        </p:txBody>
      </p:sp>
      <p:sp>
        <p:nvSpPr>
          <p:cNvPr id="10" name="Text 8"/>
          <p:cNvSpPr/>
          <p:nvPr/>
        </p:nvSpPr>
        <p:spPr>
          <a:xfrm>
            <a:off x="7498080" y="2185416"/>
            <a:ext cx="2651760" cy="685800"/>
          </a:xfrm>
          <a:prstGeom prst="rect">
            <a:avLst/>
          </a:prstGeom>
          <a:noFill/>
          <a:ln/>
        </p:spPr>
        <p:txBody>
          <a:bodyPr wrap="square" lIns="0" tIns="0" rIns="0" bIns="0" rtlCol="0" anchor="ctr"/>
          <a:lstStyle/>
          <a:p>
            <a:pPr indent="0" marL="0">
              <a:buNone/>
            </a:pPr>
            <a:r>
              <a:rPr lang="en-US" sz="1250" dirty="0">
                <a:solidFill>
                  <a:srgbClr val="55525C"/>
                </a:solidFill>
                <a:latin typeface="Calibri" pitchFamily="34" charset="0"/>
                <a:ea typeface="Calibri" pitchFamily="34" charset="-122"/>
                <a:cs typeface="Calibri" pitchFamily="34" charset="-120"/>
              </a:rPr>
              <a:t>…but 15.8 in 2020 — an order of magnitude higher</a:t>
            </a:r>
            <a:endParaRPr lang="en-US" sz="1250" dirty="0"/>
          </a:p>
        </p:txBody>
      </p:sp>
      <p:sp>
        <p:nvSpPr>
          <p:cNvPr id="11" name="Text 9"/>
          <p:cNvSpPr/>
          <p:nvPr/>
        </p:nvSpPr>
        <p:spPr>
          <a:xfrm>
            <a:off x="10241280" y="2185416"/>
            <a:ext cx="1051560" cy="685800"/>
          </a:xfrm>
          <a:prstGeom prst="rect">
            <a:avLst/>
          </a:prstGeom>
          <a:noFill/>
          <a:ln/>
        </p:spPr>
        <p:txBody>
          <a:bodyPr wrap="square" lIns="0" tIns="0" rIns="0" bIns="0" rtlCol="0" anchor="ctr"/>
          <a:lstStyle/>
          <a:p>
            <a:pPr algn="r" indent="0" marL="0">
              <a:buNone/>
            </a:pPr>
            <a:r>
              <a:rPr lang="en-US" sz="1150" b="1" dirty="0">
                <a:solidFill>
                  <a:srgbClr val="C4432A"/>
                </a:solidFill>
                <a:latin typeface="Calibri" pitchFamily="34" charset="0"/>
                <a:ea typeface="Calibri" pitchFamily="34" charset="-122"/>
                <a:cs typeface="Calibri" pitchFamily="34" charset="-120"/>
              </a:rPr>
              <a:t>Scale inverted</a:t>
            </a:r>
            <a:endParaRPr lang="en-US" sz="1150" dirty="0"/>
          </a:p>
        </p:txBody>
      </p:sp>
      <p:sp>
        <p:nvSpPr>
          <p:cNvPr id="12" name="Shape 10"/>
          <p:cNvSpPr/>
          <p:nvPr/>
        </p:nvSpPr>
        <p:spPr>
          <a:xfrm>
            <a:off x="640080" y="3154680"/>
            <a:ext cx="10881360" cy="960120"/>
          </a:xfrm>
          <a:prstGeom prst="roundRect">
            <a:avLst>
              <a:gd name="adj" fmla="val 5714"/>
            </a:avLst>
          </a:prstGeom>
          <a:solidFill>
            <a:srgbClr val="FAF9F8"/>
          </a:solidFill>
          <a:ln w="12700">
            <a:solidFill>
              <a:srgbClr val="E4E1DE"/>
            </a:solidFill>
            <a:prstDash val="solid"/>
          </a:ln>
        </p:spPr>
      </p:sp>
      <p:sp>
        <p:nvSpPr>
          <p:cNvPr id="13" name="Shape 11"/>
          <p:cNvSpPr/>
          <p:nvPr/>
        </p:nvSpPr>
        <p:spPr>
          <a:xfrm>
            <a:off x="914400" y="3401568"/>
            <a:ext cx="457200" cy="457200"/>
          </a:xfrm>
          <a:prstGeom prst="ellipse">
            <a:avLst/>
          </a:prstGeom>
          <a:solidFill>
            <a:srgbClr val="C4432A"/>
          </a:solidFill>
          <a:ln w="12700">
            <a:solidFill>
              <a:srgbClr val="C4432A"/>
            </a:solidFill>
            <a:prstDash val="solid"/>
          </a:ln>
        </p:spPr>
      </p:sp>
      <p:sp>
        <p:nvSpPr>
          <p:cNvPr id="14" name="Text 12"/>
          <p:cNvSpPr/>
          <p:nvPr/>
        </p:nvSpPr>
        <p:spPr>
          <a:xfrm>
            <a:off x="914400" y="34015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1554480" y="3282696"/>
            <a:ext cx="3246120" cy="685800"/>
          </a:xfrm>
          <a:prstGeom prst="rect">
            <a:avLst/>
          </a:prstGeom>
          <a:noFill/>
          <a:ln/>
        </p:spPr>
        <p:txBody>
          <a:bodyPr wrap="square" lIns="0" tIns="0" rIns="0" bIns="0" rtlCol="0" anchor="ctr"/>
          <a:lstStyle/>
          <a:p>
            <a:pPr indent="0" marL="0">
              <a:buNone/>
            </a:pPr>
            <a:r>
              <a:rPr lang="en-US" sz="1400" b="1" dirty="0">
                <a:solidFill>
                  <a:srgbClr val="17161A"/>
                </a:solidFill>
                <a:latin typeface="Calibri" pitchFamily="34" charset="0"/>
                <a:ea typeface="Calibri" pitchFamily="34" charset="-122"/>
                <a:cs typeface="Calibri" pitchFamily="34" charset="-120"/>
              </a:rPr>
              <a:t>Cross-platform sharing looks balanced</a:t>
            </a:r>
            <a:endParaRPr lang="en-US" sz="1400" dirty="0"/>
          </a:p>
        </p:txBody>
      </p:sp>
      <p:sp>
        <p:nvSpPr>
          <p:cNvPr id="16" name="Text 14"/>
          <p:cNvSpPr/>
          <p:nvPr/>
        </p:nvSpPr>
        <p:spPr>
          <a:xfrm>
            <a:off x="4892040" y="3282696"/>
            <a:ext cx="2514600" cy="685800"/>
          </a:xfrm>
          <a:prstGeom prst="rect">
            <a:avLst/>
          </a:prstGeom>
          <a:noFill/>
          <a:ln/>
        </p:spPr>
        <p:txBody>
          <a:bodyPr wrap="square" lIns="0" tIns="0" rIns="0" bIns="0" rtlCol="0" anchor="ctr"/>
          <a:lstStyle/>
          <a:p>
            <a:pPr indent="0" marL="0">
              <a:buNone/>
            </a:pPr>
            <a:r>
              <a:rPr lang="en-US" sz="1250" dirty="0">
                <a:solidFill>
                  <a:srgbClr val="8A8691"/>
                </a:solidFill>
                <a:latin typeface="Calibri" pitchFamily="34" charset="0"/>
                <a:ea typeface="Calibri" pitchFamily="34" charset="-122"/>
                <a:cs typeface="Calibri" pitchFamily="34" charset="-120"/>
              </a:rPr>
              <a:t>Near-parity Facebook / Reddit in 2025</a:t>
            </a:r>
            <a:endParaRPr lang="en-US" sz="1250" dirty="0"/>
          </a:p>
        </p:txBody>
      </p:sp>
      <p:sp>
        <p:nvSpPr>
          <p:cNvPr id="17" name="Text 15"/>
          <p:cNvSpPr/>
          <p:nvPr/>
        </p:nvSpPr>
        <p:spPr>
          <a:xfrm>
            <a:off x="7498080" y="3282696"/>
            <a:ext cx="2651760" cy="685800"/>
          </a:xfrm>
          <a:prstGeom prst="rect">
            <a:avLst/>
          </a:prstGeom>
          <a:noFill/>
          <a:ln/>
        </p:spPr>
        <p:txBody>
          <a:bodyPr wrap="square" lIns="0" tIns="0" rIns="0" bIns="0" rtlCol="0" anchor="ctr"/>
          <a:lstStyle/>
          <a:p>
            <a:pPr indent="0" marL="0">
              <a:buNone/>
            </a:pPr>
            <a:r>
              <a:rPr lang="en-US" sz="1250" dirty="0">
                <a:solidFill>
                  <a:srgbClr val="55525C"/>
                </a:solidFill>
                <a:latin typeface="Calibri" pitchFamily="34" charset="0"/>
                <a:ea typeface="Calibri" pitchFamily="34" charset="-122"/>
                <a:cs typeface="Calibri" pitchFamily="34" charset="-120"/>
              </a:rPr>
              <a:t>…but strongly Facebook-led in 2020</a:t>
            </a:r>
            <a:endParaRPr lang="en-US" sz="1250" dirty="0"/>
          </a:p>
        </p:txBody>
      </p:sp>
      <p:sp>
        <p:nvSpPr>
          <p:cNvPr id="18" name="Text 16"/>
          <p:cNvSpPr/>
          <p:nvPr/>
        </p:nvSpPr>
        <p:spPr>
          <a:xfrm>
            <a:off x="10241280" y="3282696"/>
            <a:ext cx="1051560" cy="685800"/>
          </a:xfrm>
          <a:prstGeom prst="rect">
            <a:avLst/>
          </a:prstGeom>
          <a:noFill/>
          <a:ln/>
        </p:spPr>
        <p:txBody>
          <a:bodyPr wrap="square" lIns="0" tIns="0" rIns="0" bIns="0" rtlCol="0" anchor="ctr"/>
          <a:lstStyle/>
          <a:p>
            <a:pPr algn="r" indent="0" marL="0">
              <a:buNone/>
            </a:pPr>
            <a:r>
              <a:rPr lang="en-US" sz="1150" b="1" dirty="0">
                <a:solidFill>
                  <a:srgbClr val="C4432A"/>
                </a:solidFill>
                <a:latin typeface="Calibri" pitchFamily="34" charset="0"/>
                <a:ea typeface="Calibri" pitchFamily="34" charset="-122"/>
                <a:cs typeface="Calibri" pitchFamily="34" charset="-120"/>
              </a:rPr>
              <a:t>Direction inverted</a:t>
            </a:r>
            <a:endParaRPr lang="en-US" sz="1150" dirty="0"/>
          </a:p>
        </p:txBody>
      </p:sp>
      <p:sp>
        <p:nvSpPr>
          <p:cNvPr id="19" name="Shape 17"/>
          <p:cNvSpPr/>
          <p:nvPr/>
        </p:nvSpPr>
        <p:spPr>
          <a:xfrm>
            <a:off x="640080" y="4251960"/>
            <a:ext cx="10881360" cy="960120"/>
          </a:xfrm>
          <a:prstGeom prst="roundRect">
            <a:avLst>
              <a:gd name="adj" fmla="val 5714"/>
            </a:avLst>
          </a:prstGeom>
          <a:solidFill>
            <a:srgbClr val="FAF9F8"/>
          </a:solidFill>
          <a:ln w="12700">
            <a:solidFill>
              <a:srgbClr val="E4E1DE"/>
            </a:solidFill>
            <a:prstDash val="solid"/>
          </a:ln>
        </p:spPr>
      </p:sp>
      <p:sp>
        <p:nvSpPr>
          <p:cNvPr id="20" name="Shape 18"/>
          <p:cNvSpPr/>
          <p:nvPr/>
        </p:nvSpPr>
        <p:spPr>
          <a:xfrm>
            <a:off x="914400" y="4498848"/>
            <a:ext cx="457200" cy="457200"/>
          </a:xfrm>
          <a:prstGeom prst="ellipse">
            <a:avLst/>
          </a:prstGeom>
          <a:solidFill>
            <a:srgbClr val="C4432A"/>
          </a:solidFill>
          <a:ln w="12700">
            <a:solidFill>
              <a:srgbClr val="C4432A"/>
            </a:solidFill>
            <a:prstDash val="solid"/>
          </a:ln>
        </p:spPr>
      </p:sp>
      <p:sp>
        <p:nvSpPr>
          <p:cNvPr id="21" name="Text 19"/>
          <p:cNvSpPr/>
          <p:nvPr/>
        </p:nvSpPr>
        <p:spPr>
          <a:xfrm>
            <a:off x="914400" y="4498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p:nvPr/>
        </p:nvSpPr>
        <p:spPr>
          <a:xfrm>
            <a:off x="1554480" y="4379976"/>
            <a:ext cx="3246120" cy="685800"/>
          </a:xfrm>
          <a:prstGeom prst="rect">
            <a:avLst/>
          </a:prstGeom>
          <a:noFill/>
          <a:ln/>
        </p:spPr>
        <p:txBody>
          <a:bodyPr wrap="square" lIns="0" tIns="0" rIns="0" bIns="0" rtlCol="0" anchor="ctr"/>
          <a:lstStyle/>
          <a:p>
            <a:pPr indent="0" marL="0">
              <a:buNone/>
            </a:pPr>
            <a:r>
              <a:rPr lang="en-US" sz="1400" b="1" dirty="0">
                <a:solidFill>
                  <a:srgbClr val="17161A"/>
                </a:solidFill>
                <a:latin typeface="Calibri" pitchFamily="34" charset="0"/>
                <a:ea typeface="Calibri" pitchFamily="34" charset="-122"/>
                <a:cs typeface="Calibri" pitchFamily="34" charset="-120"/>
              </a:rPr>
              <a:t>Disposable infrastructure looks absent</a:t>
            </a:r>
            <a:endParaRPr lang="en-US" sz="1400" dirty="0"/>
          </a:p>
        </p:txBody>
      </p:sp>
      <p:sp>
        <p:nvSpPr>
          <p:cNvPr id="23" name="Text 21"/>
          <p:cNvSpPr/>
          <p:nvPr/>
        </p:nvSpPr>
        <p:spPr>
          <a:xfrm>
            <a:off x="4892040" y="4379976"/>
            <a:ext cx="2514600" cy="685800"/>
          </a:xfrm>
          <a:prstGeom prst="rect">
            <a:avLst/>
          </a:prstGeom>
          <a:noFill/>
          <a:ln/>
        </p:spPr>
        <p:txBody>
          <a:bodyPr wrap="square" lIns="0" tIns="0" rIns="0" bIns="0" rtlCol="0" anchor="ctr"/>
          <a:lstStyle/>
          <a:p>
            <a:pPr indent="0" marL="0">
              <a:buNone/>
            </a:pPr>
            <a:r>
              <a:rPr lang="en-US" sz="1250" dirty="0">
                <a:solidFill>
                  <a:srgbClr val="8A8691"/>
                </a:solidFill>
                <a:latin typeface="Calibri" pitchFamily="34" charset="0"/>
                <a:ea typeface="Calibri" pitchFamily="34" charset="-122"/>
                <a:cs typeface="Calibri" pitchFamily="34" charset="-120"/>
              </a:rPr>
              <a:t>Invisible in any one-year window</a:t>
            </a:r>
            <a:endParaRPr lang="en-US" sz="1250" dirty="0"/>
          </a:p>
        </p:txBody>
      </p:sp>
      <p:sp>
        <p:nvSpPr>
          <p:cNvPr id="24" name="Text 22"/>
          <p:cNvSpPr/>
          <p:nvPr/>
        </p:nvSpPr>
        <p:spPr>
          <a:xfrm>
            <a:off x="7498080" y="4379976"/>
            <a:ext cx="2651760" cy="685800"/>
          </a:xfrm>
          <a:prstGeom prst="rect">
            <a:avLst/>
          </a:prstGeom>
          <a:noFill/>
          <a:ln/>
        </p:spPr>
        <p:txBody>
          <a:bodyPr wrap="square" lIns="0" tIns="0" rIns="0" bIns="0" rtlCol="0" anchor="ctr"/>
          <a:lstStyle/>
          <a:p>
            <a:pPr indent="0" marL="0">
              <a:buNone/>
            </a:pPr>
            <a:r>
              <a:rPr lang="en-US" sz="1250" dirty="0">
                <a:solidFill>
                  <a:srgbClr val="55525C"/>
                </a:solidFill>
                <a:latin typeface="Calibri" pitchFamily="34" charset="0"/>
                <a:ea typeface="Calibri" pitchFamily="34" charset="-122"/>
                <a:cs typeface="Calibri" pitchFamily="34" charset="-120"/>
              </a:rPr>
              <a:t>…a 91-day cycle against a 1,865-day baseline</a:t>
            </a:r>
            <a:endParaRPr lang="en-US" sz="1250" dirty="0"/>
          </a:p>
        </p:txBody>
      </p:sp>
      <p:sp>
        <p:nvSpPr>
          <p:cNvPr id="25" name="Text 23"/>
          <p:cNvSpPr/>
          <p:nvPr/>
        </p:nvSpPr>
        <p:spPr>
          <a:xfrm>
            <a:off x="10241280" y="4379976"/>
            <a:ext cx="1051560" cy="685800"/>
          </a:xfrm>
          <a:prstGeom prst="rect">
            <a:avLst/>
          </a:prstGeom>
          <a:noFill/>
          <a:ln/>
        </p:spPr>
        <p:txBody>
          <a:bodyPr wrap="square" lIns="0" tIns="0" rIns="0" bIns="0" rtlCol="0" anchor="ctr"/>
          <a:lstStyle/>
          <a:p>
            <a:pPr algn="r" indent="0" marL="0">
              <a:buNone/>
            </a:pPr>
            <a:r>
              <a:rPr lang="en-US" sz="1150" b="1" dirty="0">
                <a:solidFill>
                  <a:srgbClr val="C4432A"/>
                </a:solidFill>
                <a:latin typeface="Calibri" pitchFamily="34" charset="0"/>
                <a:ea typeface="Calibri" pitchFamily="34" charset="-122"/>
                <a:cs typeface="Calibri" pitchFamily="34" charset="-120"/>
              </a:rPr>
              <a:t>Phenomenon invisible</a:t>
            </a:r>
            <a:endParaRPr lang="en-US" sz="1150" dirty="0"/>
          </a:p>
        </p:txBody>
      </p:sp>
      <p:sp>
        <p:nvSpPr>
          <p:cNvPr id="26" name="Shape 24"/>
          <p:cNvSpPr/>
          <p:nvPr/>
        </p:nvSpPr>
        <p:spPr>
          <a:xfrm>
            <a:off x="640080" y="5394960"/>
            <a:ext cx="10881360" cy="822960"/>
          </a:xfrm>
          <a:prstGeom prst="roundRect">
            <a:avLst>
              <a:gd name="adj" fmla="val 6667"/>
            </a:avLst>
          </a:prstGeom>
          <a:solidFill>
            <a:srgbClr val="17161A"/>
          </a:solidFill>
          <a:ln w="12700">
            <a:solidFill>
              <a:srgbClr val="17161A"/>
            </a:solidFill>
            <a:prstDash val="solid"/>
          </a:ln>
        </p:spPr>
      </p:sp>
      <p:sp>
        <p:nvSpPr>
          <p:cNvPr id="27" name="Text 25"/>
          <p:cNvSpPr/>
          <p:nvPr/>
        </p:nvSpPr>
        <p:spPr>
          <a:xfrm>
            <a:off x="1005840" y="5468112"/>
            <a:ext cx="10149840" cy="6858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Longitudinal span is not more data. It is a correction mechanism. Treat a single-year measurement as a hypothesis, not a result.</a:t>
            </a:r>
            <a:endParaRPr lang="en-US" sz="1500" dirty="0"/>
          </a:p>
        </p:txBody>
      </p:sp>
      <p:sp>
        <p:nvSpPr>
          <p:cNvPr id="28" name="Text 26"/>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29" name="Text 27"/>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7161A"/>
        </a:solidFill>
      </p:bgPr>
    </p:bg>
    <p:spTree>
      <p:nvGrpSpPr>
        <p:cNvPr id="1" name=""/>
        <p:cNvGrpSpPr/>
        <p:nvPr/>
      </p:nvGrpSpPr>
      <p:grpSpPr>
        <a:xfrm>
          <a:off x="0" y="0"/>
          <a:ext cx="0" cy="0"/>
          <a:chOff x="0" y="0"/>
          <a:chExt cx="0" cy="0"/>
        </a:xfrm>
      </p:grpSpPr>
      <p:sp>
        <p:nvSpPr>
          <p:cNvPr id="2" name="Text 0"/>
          <p:cNvSpPr/>
          <p:nvPr/>
        </p:nvSpPr>
        <p:spPr>
          <a:xfrm>
            <a:off x="640080" y="2286000"/>
            <a:ext cx="5486400" cy="320040"/>
          </a:xfrm>
          <a:prstGeom prst="rect">
            <a:avLst/>
          </a:prstGeom>
          <a:noFill/>
          <a:ln/>
        </p:spPr>
        <p:txBody>
          <a:bodyPr wrap="square" lIns="0" tIns="0" rIns="0" bIns="0" rtlCol="0" anchor="ctr"/>
          <a:lstStyle/>
          <a:p>
            <a:pPr indent="0" marL="0">
              <a:buNone/>
            </a:pPr>
            <a:r>
              <a:rPr lang="en-US" sz="1200" b="1" spc="300" kern="0" dirty="0">
                <a:solidFill>
                  <a:srgbClr val="C4432A"/>
                </a:solidFill>
                <a:latin typeface="Calibri" pitchFamily="34" charset="0"/>
                <a:ea typeface="Calibri" pitchFamily="34" charset="-122"/>
                <a:cs typeface="Calibri" pitchFamily="34" charset="-120"/>
              </a:rPr>
              <a:t>PART 4</a:t>
            </a:r>
            <a:endParaRPr lang="en-US" sz="1200" dirty="0"/>
          </a:p>
        </p:txBody>
      </p:sp>
      <p:sp>
        <p:nvSpPr>
          <p:cNvPr id="3" name="Text 1"/>
          <p:cNvSpPr/>
          <p:nvPr/>
        </p:nvSpPr>
        <p:spPr>
          <a:xfrm>
            <a:off x="640080" y="2697480"/>
            <a:ext cx="7863840" cy="13716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One worked example,</a:t>
            </a:r>
            <a:endParaRPr lang="en-US" sz="4200" dirty="0"/>
          </a:p>
          <a:p>
            <a:pPr indent="0" marL="0">
              <a:buNone/>
            </a:pPr>
            <a:r>
              <a:rPr lang="en-US" sz="4200" b="1" dirty="0">
                <a:solidFill>
                  <a:srgbClr val="FFFFFF"/>
                </a:solidFill>
                <a:latin typeface="Cambria" pitchFamily="34" charset="0"/>
                <a:ea typeface="Cambria" pitchFamily="34" charset="-122"/>
                <a:cs typeface="Cambria" pitchFamily="34" charset="-120"/>
              </a:rPr>
              <a:t>end to end</a:t>
            </a:r>
            <a:endParaRPr lang="en-US" sz="4200" dirty="0"/>
          </a:p>
        </p:txBody>
      </p:sp>
      <p:sp>
        <p:nvSpPr>
          <p:cNvPr id="4" name="Text 2"/>
          <p:cNvSpPr/>
          <p:nvPr/>
        </p:nvSpPr>
        <p:spPr>
          <a:xfrm>
            <a:off x="640080" y="4114800"/>
            <a:ext cx="6949440" cy="914400"/>
          </a:xfrm>
          <a:prstGeom prst="rect">
            <a:avLst/>
          </a:prstGeom>
          <a:noFill/>
          <a:ln/>
        </p:spPr>
        <p:txBody>
          <a:bodyPr wrap="square" lIns="0" tIns="0" rIns="0" bIns="0" rtlCol="0" anchor="ctr"/>
          <a:lstStyle/>
          <a:p>
            <a:pPr indent="0" marL="0">
              <a:buNone/>
            </a:pPr>
            <a:r>
              <a:rPr lang="en-US" sz="1500" dirty="0">
                <a:solidFill>
                  <a:srgbClr val="B9B5BF"/>
                </a:solidFill>
                <a:latin typeface="Calibri" pitchFamily="34" charset="0"/>
                <a:ea typeface="Calibri" pitchFamily="34" charset="-122"/>
                <a:cs typeface="Calibri" pitchFamily="34" charset="-120"/>
              </a:rPr>
              <a:t>GE2025 — including the mistake the pipeline caught, which is the reason to trust the answer.</a:t>
            </a:r>
            <a:endParaRPr lang="en-US" sz="1500" dirty="0"/>
          </a:p>
        </p:txBody>
      </p:sp>
      <p:sp>
        <p:nvSpPr>
          <p:cNvPr id="5" name="Shape 3"/>
          <p:cNvSpPr/>
          <p:nvPr/>
        </p:nvSpPr>
        <p:spPr>
          <a:xfrm>
            <a:off x="9814255" y="2651760"/>
            <a:ext cx="1280160" cy="1280160"/>
          </a:xfrm>
          <a:prstGeom prst="ellipse">
            <a:avLst/>
          </a:prstGeom>
          <a:solidFill>
            <a:srgbClr val="241F26"/>
          </a:solidFill>
          <a:ln w="12700">
            <a:solidFill>
              <a:srgbClr val="241F26"/>
            </a:solidFill>
            <a:prstDash val="solid"/>
          </a:ln>
        </p:spPr>
      </p:sp>
      <p:sp>
        <p:nvSpPr>
          <p:cNvPr id="6" name="Text 4"/>
          <p:cNvSpPr/>
          <p:nvPr/>
        </p:nvSpPr>
        <p:spPr>
          <a:xfrm>
            <a:off x="9814255" y="2651760"/>
            <a:ext cx="1280160" cy="1280160"/>
          </a:xfrm>
          <a:prstGeom prst="rect">
            <a:avLst/>
          </a:prstGeom>
          <a:noFill/>
          <a:ln/>
        </p:spPr>
        <p:txBody>
          <a:bodyPr wrap="square" lIns="0" tIns="0" rIns="0" bIns="0" rtlCol="0" anchor="ctr"/>
          <a:lstStyle/>
          <a:p>
            <a:pPr algn="ctr" indent="0" marL="0">
              <a:buNone/>
            </a:pPr>
            <a:r>
              <a:rPr lang="en-US" sz="4400" b="1" dirty="0">
                <a:solidFill>
                  <a:srgbClr val="C4432A"/>
                </a:solidFill>
                <a:latin typeface="Calibri" pitchFamily="34" charset="0"/>
                <a:ea typeface="Calibri" pitchFamily="34" charset="-122"/>
                <a:cs typeface="Calibri" pitchFamily="34" charset="-120"/>
              </a:rPr>
              <a:t>4</a:t>
            </a:r>
            <a:endParaRPr lang="en-US" sz="4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PART 4 · CHAPTER 14</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The GE2025 pipeline</a:t>
            </a:r>
            <a:endParaRPr lang="en-US" sz="3400" dirty="0"/>
          </a:p>
        </p:txBody>
      </p:sp>
      <p:sp>
        <p:nvSpPr>
          <p:cNvPr id="4" name="Shape 2"/>
          <p:cNvSpPr/>
          <p:nvPr/>
        </p:nvSpPr>
        <p:spPr>
          <a:xfrm>
            <a:off x="640080" y="1737360"/>
            <a:ext cx="2606040" cy="2651760"/>
          </a:xfrm>
          <a:prstGeom prst="roundRect">
            <a:avLst>
              <a:gd name="adj" fmla="val 2105"/>
            </a:avLst>
          </a:prstGeom>
          <a:solidFill>
            <a:srgbClr val="FAF9F8"/>
          </a:solidFill>
          <a:ln w="12700">
            <a:solidFill>
              <a:srgbClr val="E4E1DE"/>
            </a:solidFill>
            <a:prstDash val="solid"/>
          </a:ln>
        </p:spPr>
      </p:sp>
      <p:sp>
        <p:nvSpPr>
          <p:cNvPr id="5" name="Shape 3"/>
          <p:cNvSpPr/>
          <p:nvPr/>
        </p:nvSpPr>
        <p:spPr>
          <a:xfrm>
            <a:off x="868680" y="1965960"/>
            <a:ext cx="438912" cy="438912"/>
          </a:xfrm>
          <a:prstGeom prst="ellipse">
            <a:avLst/>
          </a:prstGeom>
          <a:solidFill>
            <a:srgbClr val="17161A"/>
          </a:solidFill>
          <a:ln w="12700">
            <a:solidFill>
              <a:srgbClr val="17161A"/>
            </a:solidFill>
            <a:prstDash val="solid"/>
          </a:ln>
        </p:spPr>
      </p:sp>
      <p:sp>
        <p:nvSpPr>
          <p:cNvPr id="6" name="Text 4"/>
          <p:cNvSpPr/>
          <p:nvPr/>
        </p:nvSpPr>
        <p:spPr>
          <a:xfrm>
            <a:off x="868680" y="19659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17320" y="2011680"/>
            <a:ext cx="1600200" cy="384048"/>
          </a:xfrm>
          <a:prstGeom prst="rect">
            <a:avLst/>
          </a:prstGeom>
          <a:noFill/>
          <a:ln/>
        </p:spPr>
        <p:txBody>
          <a:bodyPr wrap="square" lIns="0" tIns="0" rIns="0" bIns="0" rtlCol="0" anchor="ctr"/>
          <a:lstStyle/>
          <a:p>
            <a:pPr indent="0" marL="0">
              <a:buNone/>
            </a:pPr>
            <a:r>
              <a:rPr lang="en-US" sz="1700" b="1" dirty="0">
                <a:solidFill>
                  <a:srgbClr val="17161A"/>
                </a:solidFill>
                <a:latin typeface="Calibri" pitchFamily="34" charset="0"/>
                <a:ea typeface="Calibri" pitchFamily="34" charset="-122"/>
                <a:cs typeface="Calibri" pitchFamily="34" charset="-120"/>
              </a:rPr>
              <a:t>Detect</a:t>
            </a:r>
            <a:endParaRPr lang="en-US" sz="1700" dirty="0"/>
          </a:p>
        </p:txBody>
      </p:sp>
      <p:sp>
        <p:nvSpPr>
          <p:cNvPr id="8" name="Text 6"/>
          <p:cNvSpPr/>
          <p:nvPr/>
        </p:nvSpPr>
        <p:spPr>
          <a:xfrm>
            <a:off x="868680" y="2606040"/>
            <a:ext cx="2148840" cy="1645920"/>
          </a:xfrm>
          <a:prstGeom prst="rect">
            <a:avLst/>
          </a:prstGeom>
          <a:noFill/>
          <a:ln/>
        </p:spPr>
        <p:txBody>
          <a:bodyPr wrap="square" lIns="0" tIns="0" rIns="0" bIns="0" rtlCol="0" anchor="ctr"/>
          <a:lstStyle/>
          <a:p>
            <a:pPr indent="0" marL="0">
              <a:buNone/>
            </a:pPr>
            <a:r>
              <a:rPr lang="en-US" sz="1250" dirty="0">
                <a:solidFill>
                  <a:srgbClr val="55525C"/>
                </a:solidFill>
                <a:latin typeface="Calibri" pitchFamily="34" charset="0"/>
                <a:ea typeface="Calibri" pitchFamily="34" charset="-122"/>
                <a:cs typeface="Calibri" pitchFamily="34" charset="-120"/>
              </a:rPr>
              <a:t>Exact-duplicate clustering, then the multi-space filter. Political copypasta peaks in the week before Polling Day, then collapses.</a:t>
            </a:r>
            <a:endParaRPr lang="en-US" sz="1250" dirty="0"/>
          </a:p>
        </p:txBody>
      </p:sp>
      <p:sp>
        <p:nvSpPr>
          <p:cNvPr id="9" name="Text 7"/>
          <p:cNvSpPr/>
          <p:nvPr/>
        </p:nvSpPr>
        <p:spPr>
          <a:xfrm>
            <a:off x="3227832" y="2834640"/>
            <a:ext cx="182880" cy="365760"/>
          </a:xfrm>
          <a:prstGeom prst="rect">
            <a:avLst/>
          </a:prstGeom>
          <a:noFill/>
          <a:ln/>
        </p:spPr>
        <p:txBody>
          <a:bodyPr wrap="square" lIns="0" tIns="0" rIns="0" bIns="0" rtlCol="0" anchor="ctr"/>
          <a:lstStyle/>
          <a:p>
            <a:pPr algn="ctr" indent="0" marL="0">
              <a:buNone/>
            </a:pPr>
            <a:r>
              <a:rPr lang="en-US" sz="1600" dirty="0">
                <a:solidFill>
                  <a:srgbClr val="8A8691"/>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3364992" y="1737360"/>
            <a:ext cx="2606040" cy="2651760"/>
          </a:xfrm>
          <a:prstGeom prst="roundRect">
            <a:avLst>
              <a:gd name="adj" fmla="val 2105"/>
            </a:avLst>
          </a:prstGeom>
          <a:solidFill>
            <a:srgbClr val="FAF9F8"/>
          </a:solidFill>
          <a:ln w="12700">
            <a:solidFill>
              <a:srgbClr val="E4E1DE"/>
            </a:solidFill>
            <a:prstDash val="solid"/>
          </a:ln>
        </p:spPr>
      </p:sp>
      <p:sp>
        <p:nvSpPr>
          <p:cNvPr id="11" name="Shape 9"/>
          <p:cNvSpPr/>
          <p:nvPr/>
        </p:nvSpPr>
        <p:spPr>
          <a:xfrm>
            <a:off x="3593592" y="1965960"/>
            <a:ext cx="438912" cy="438912"/>
          </a:xfrm>
          <a:prstGeom prst="ellipse">
            <a:avLst/>
          </a:prstGeom>
          <a:solidFill>
            <a:srgbClr val="17161A"/>
          </a:solidFill>
          <a:ln w="12700">
            <a:solidFill>
              <a:srgbClr val="17161A"/>
            </a:solidFill>
            <a:prstDash val="solid"/>
          </a:ln>
        </p:spPr>
      </p:sp>
      <p:sp>
        <p:nvSpPr>
          <p:cNvPr id="12" name="Text 10"/>
          <p:cNvSpPr/>
          <p:nvPr/>
        </p:nvSpPr>
        <p:spPr>
          <a:xfrm>
            <a:off x="3593592" y="19659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4142232" y="2011680"/>
            <a:ext cx="1600200" cy="384048"/>
          </a:xfrm>
          <a:prstGeom prst="rect">
            <a:avLst/>
          </a:prstGeom>
          <a:noFill/>
          <a:ln/>
        </p:spPr>
        <p:txBody>
          <a:bodyPr wrap="square" lIns="0" tIns="0" rIns="0" bIns="0" rtlCol="0" anchor="ctr"/>
          <a:lstStyle/>
          <a:p>
            <a:pPr indent="0" marL="0">
              <a:buNone/>
            </a:pPr>
            <a:r>
              <a:rPr lang="en-US" sz="1700" b="1" dirty="0">
                <a:solidFill>
                  <a:srgbClr val="17161A"/>
                </a:solidFill>
                <a:latin typeface="Calibri" pitchFamily="34" charset="0"/>
                <a:ea typeface="Calibri" pitchFamily="34" charset="-122"/>
                <a:cs typeface="Calibri" pitchFamily="34" charset="-120"/>
              </a:rPr>
              <a:t>Label</a:t>
            </a:r>
            <a:endParaRPr lang="en-US" sz="1700" dirty="0"/>
          </a:p>
        </p:txBody>
      </p:sp>
      <p:sp>
        <p:nvSpPr>
          <p:cNvPr id="14" name="Text 12"/>
          <p:cNvSpPr/>
          <p:nvPr/>
        </p:nvSpPr>
        <p:spPr>
          <a:xfrm>
            <a:off x="3593592" y="2606040"/>
            <a:ext cx="2148840" cy="1645920"/>
          </a:xfrm>
          <a:prstGeom prst="rect">
            <a:avLst/>
          </a:prstGeom>
          <a:noFill/>
          <a:ln/>
        </p:spPr>
        <p:txBody>
          <a:bodyPr wrap="square" lIns="0" tIns="0" rIns="0" bIns="0" rtlCol="0" anchor="ctr"/>
          <a:lstStyle/>
          <a:p>
            <a:pPr indent="0" marL="0">
              <a:buNone/>
            </a:pPr>
            <a:r>
              <a:rPr lang="en-US" sz="1250" dirty="0">
                <a:solidFill>
                  <a:srgbClr val="55525C"/>
                </a:solidFill>
                <a:latin typeface="Calibri" pitchFamily="34" charset="0"/>
                <a:ea typeface="Calibri" pitchFamily="34" charset="-122"/>
                <a:cs typeface="Calibri" pitchFamily="34" charset="-120"/>
              </a:rPr>
              <a:t>Local instruction model (Qwen2.5-3B), three passes, majority vote. Mean self-reported confidence: 0.98.</a:t>
            </a:r>
            <a:endParaRPr lang="en-US" sz="1250" dirty="0"/>
          </a:p>
        </p:txBody>
      </p:sp>
      <p:sp>
        <p:nvSpPr>
          <p:cNvPr id="15" name="Text 13"/>
          <p:cNvSpPr/>
          <p:nvPr/>
        </p:nvSpPr>
        <p:spPr>
          <a:xfrm>
            <a:off x="5952744" y="2834640"/>
            <a:ext cx="182880" cy="365760"/>
          </a:xfrm>
          <a:prstGeom prst="rect">
            <a:avLst/>
          </a:prstGeom>
          <a:noFill/>
          <a:ln/>
        </p:spPr>
        <p:txBody>
          <a:bodyPr wrap="square" lIns="0" tIns="0" rIns="0" bIns="0" rtlCol="0" anchor="ctr"/>
          <a:lstStyle/>
          <a:p>
            <a:pPr algn="ctr" indent="0" marL="0">
              <a:buNone/>
            </a:pPr>
            <a:r>
              <a:rPr lang="en-US" sz="1600" dirty="0">
                <a:solidFill>
                  <a:srgbClr val="8A8691"/>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6089904" y="1737360"/>
            <a:ext cx="2606040" cy="2651760"/>
          </a:xfrm>
          <a:prstGeom prst="roundRect">
            <a:avLst>
              <a:gd name="adj" fmla="val 2105"/>
            </a:avLst>
          </a:prstGeom>
          <a:solidFill>
            <a:srgbClr val="FBF0ED"/>
          </a:solidFill>
          <a:ln w="12700">
            <a:solidFill>
              <a:srgbClr val="FBF0ED"/>
            </a:solidFill>
            <a:prstDash val="solid"/>
          </a:ln>
        </p:spPr>
      </p:sp>
      <p:sp>
        <p:nvSpPr>
          <p:cNvPr id="17" name="Shape 15"/>
          <p:cNvSpPr/>
          <p:nvPr/>
        </p:nvSpPr>
        <p:spPr>
          <a:xfrm>
            <a:off x="6318504" y="1965960"/>
            <a:ext cx="438912" cy="438912"/>
          </a:xfrm>
          <a:prstGeom prst="ellipse">
            <a:avLst/>
          </a:prstGeom>
          <a:solidFill>
            <a:srgbClr val="C4432A"/>
          </a:solidFill>
          <a:ln w="12700">
            <a:solidFill>
              <a:srgbClr val="C4432A"/>
            </a:solidFill>
            <a:prstDash val="solid"/>
          </a:ln>
        </p:spPr>
      </p:sp>
      <p:sp>
        <p:nvSpPr>
          <p:cNvPr id="18" name="Text 16"/>
          <p:cNvSpPr/>
          <p:nvPr/>
        </p:nvSpPr>
        <p:spPr>
          <a:xfrm>
            <a:off x="6318504" y="19659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6867144" y="2011680"/>
            <a:ext cx="1600200" cy="384048"/>
          </a:xfrm>
          <a:prstGeom prst="rect">
            <a:avLst/>
          </a:prstGeom>
          <a:noFill/>
          <a:ln/>
        </p:spPr>
        <p:txBody>
          <a:bodyPr wrap="square" lIns="0" tIns="0" rIns="0" bIns="0" rtlCol="0" anchor="ctr"/>
          <a:lstStyle/>
          <a:p>
            <a:pPr indent="0" marL="0">
              <a:buNone/>
            </a:pPr>
            <a:r>
              <a:rPr lang="en-US" sz="1700" b="1" dirty="0">
                <a:solidFill>
                  <a:srgbClr val="17161A"/>
                </a:solidFill>
                <a:latin typeface="Calibri" pitchFamily="34" charset="0"/>
                <a:ea typeface="Calibri" pitchFamily="34" charset="-122"/>
                <a:cs typeface="Calibri" pitchFamily="34" charset="-120"/>
              </a:rPr>
              <a:t>Validate</a:t>
            </a:r>
            <a:endParaRPr lang="en-US" sz="1700" dirty="0"/>
          </a:p>
        </p:txBody>
      </p:sp>
      <p:sp>
        <p:nvSpPr>
          <p:cNvPr id="20" name="Text 18"/>
          <p:cNvSpPr/>
          <p:nvPr/>
        </p:nvSpPr>
        <p:spPr>
          <a:xfrm>
            <a:off x="6318504" y="2606040"/>
            <a:ext cx="2148840" cy="1645920"/>
          </a:xfrm>
          <a:prstGeom prst="rect">
            <a:avLst/>
          </a:prstGeom>
          <a:noFill/>
          <a:ln/>
        </p:spPr>
        <p:txBody>
          <a:bodyPr wrap="square" lIns="0" tIns="0" rIns="0" bIns="0" rtlCol="0" anchor="ctr"/>
          <a:lstStyle/>
          <a:p>
            <a:pPr indent="0" marL="0">
              <a:buNone/>
            </a:pPr>
            <a:r>
              <a:rPr lang="en-US" sz="1250" dirty="0">
                <a:solidFill>
                  <a:srgbClr val="55525C"/>
                </a:solidFill>
                <a:latin typeface="Calibri" pitchFamily="34" charset="0"/>
                <a:ea typeface="Calibri" pitchFamily="34" charset="-122"/>
                <a:cs typeface="Calibri" pitchFamily="34" charset="-120"/>
              </a:rPr>
              <a:t>A deliberately worst-case stratified human sample — treated as a gate, not a formality.</a:t>
            </a:r>
            <a:endParaRPr lang="en-US" sz="1250" dirty="0"/>
          </a:p>
        </p:txBody>
      </p:sp>
      <p:sp>
        <p:nvSpPr>
          <p:cNvPr id="21" name="Text 19"/>
          <p:cNvSpPr/>
          <p:nvPr/>
        </p:nvSpPr>
        <p:spPr>
          <a:xfrm>
            <a:off x="8677656" y="2834640"/>
            <a:ext cx="182880" cy="365760"/>
          </a:xfrm>
          <a:prstGeom prst="rect">
            <a:avLst/>
          </a:prstGeom>
          <a:noFill/>
          <a:ln/>
        </p:spPr>
        <p:txBody>
          <a:bodyPr wrap="square" lIns="0" tIns="0" rIns="0" bIns="0" rtlCol="0" anchor="ctr"/>
          <a:lstStyle/>
          <a:p>
            <a:pPr algn="ctr" indent="0" marL="0">
              <a:buNone/>
            </a:pPr>
            <a:r>
              <a:rPr lang="en-US" sz="1600" dirty="0">
                <a:solidFill>
                  <a:srgbClr val="8A8691"/>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8814816" y="1737360"/>
            <a:ext cx="2606040" cy="2651760"/>
          </a:xfrm>
          <a:prstGeom prst="roundRect">
            <a:avLst>
              <a:gd name="adj" fmla="val 2105"/>
            </a:avLst>
          </a:prstGeom>
          <a:solidFill>
            <a:srgbClr val="FAF9F8"/>
          </a:solidFill>
          <a:ln w="12700">
            <a:solidFill>
              <a:srgbClr val="E4E1DE"/>
            </a:solidFill>
            <a:prstDash val="solid"/>
          </a:ln>
        </p:spPr>
      </p:sp>
      <p:sp>
        <p:nvSpPr>
          <p:cNvPr id="23" name="Shape 21"/>
          <p:cNvSpPr/>
          <p:nvPr/>
        </p:nvSpPr>
        <p:spPr>
          <a:xfrm>
            <a:off x="9043416" y="1965960"/>
            <a:ext cx="438912" cy="438912"/>
          </a:xfrm>
          <a:prstGeom prst="ellipse">
            <a:avLst/>
          </a:prstGeom>
          <a:solidFill>
            <a:srgbClr val="17161A"/>
          </a:solidFill>
          <a:ln w="12700">
            <a:solidFill>
              <a:srgbClr val="17161A"/>
            </a:solidFill>
            <a:prstDash val="solid"/>
          </a:ln>
        </p:spPr>
      </p:sp>
      <p:sp>
        <p:nvSpPr>
          <p:cNvPr id="24" name="Text 22"/>
          <p:cNvSpPr/>
          <p:nvPr/>
        </p:nvSpPr>
        <p:spPr>
          <a:xfrm>
            <a:off x="9043416" y="19659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9592056" y="2011680"/>
            <a:ext cx="1600200" cy="384048"/>
          </a:xfrm>
          <a:prstGeom prst="rect">
            <a:avLst/>
          </a:prstGeom>
          <a:noFill/>
          <a:ln/>
        </p:spPr>
        <p:txBody>
          <a:bodyPr wrap="square" lIns="0" tIns="0" rIns="0" bIns="0" rtlCol="0" anchor="ctr"/>
          <a:lstStyle/>
          <a:p>
            <a:pPr indent="0" marL="0">
              <a:buNone/>
            </a:pPr>
            <a:r>
              <a:rPr lang="en-US" sz="1700" b="1" dirty="0">
                <a:solidFill>
                  <a:srgbClr val="17161A"/>
                </a:solidFill>
                <a:latin typeface="Calibri" pitchFamily="34" charset="0"/>
                <a:ea typeface="Calibri" pitchFamily="34" charset="-122"/>
                <a:cs typeface="Calibri" pitchFamily="34" charset="-120"/>
              </a:rPr>
              <a:t>Correct</a:t>
            </a:r>
            <a:endParaRPr lang="en-US" sz="1700" dirty="0"/>
          </a:p>
        </p:txBody>
      </p:sp>
      <p:sp>
        <p:nvSpPr>
          <p:cNvPr id="26" name="Text 24"/>
          <p:cNvSpPr/>
          <p:nvPr/>
        </p:nvSpPr>
        <p:spPr>
          <a:xfrm>
            <a:off x="9043416" y="2606040"/>
            <a:ext cx="2148840" cy="1645920"/>
          </a:xfrm>
          <a:prstGeom prst="rect">
            <a:avLst/>
          </a:prstGeom>
          <a:noFill/>
          <a:ln/>
        </p:spPr>
        <p:txBody>
          <a:bodyPr wrap="square" lIns="0" tIns="0" rIns="0" bIns="0" rtlCol="0" anchor="ctr"/>
          <a:lstStyle/>
          <a:p>
            <a:pPr indent="0" marL="0">
              <a:buNone/>
            </a:pPr>
            <a:r>
              <a:rPr lang="en-US" sz="1250" dirty="0">
                <a:solidFill>
                  <a:srgbClr val="55525C"/>
                </a:solidFill>
                <a:latin typeface="Calibri" pitchFamily="34" charset="0"/>
                <a:ea typeface="Calibri" pitchFamily="34" charset="-122"/>
                <a:cs typeface="Calibri" pitchFamily="34" charset="-120"/>
              </a:rPr>
              <a:t>Targeted re-label of the one failing category, then report v2. The correction is part of the finding.</a:t>
            </a:r>
            <a:endParaRPr lang="en-US" sz="1250" dirty="0"/>
          </a:p>
        </p:txBody>
      </p:sp>
      <p:sp>
        <p:nvSpPr>
          <p:cNvPr id="27" name="Text 25"/>
          <p:cNvSpPr/>
          <p:nvPr/>
        </p:nvSpPr>
        <p:spPr>
          <a:xfrm>
            <a:off x="640080" y="4663440"/>
            <a:ext cx="10881360" cy="731520"/>
          </a:xfrm>
          <a:prstGeom prst="rect">
            <a:avLst/>
          </a:prstGeom>
          <a:noFill/>
          <a:ln/>
        </p:spPr>
        <p:txBody>
          <a:bodyPr wrap="square" lIns="0" tIns="0" rIns="0" bIns="0" rtlCol="0" anchor="ctr"/>
          <a:lstStyle/>
          <a:p>
            <a:pPr indent="0" marL="0">
              <a:buNone/>
            </a:pPr>
            <a:r>
              <a:rPr lang="en-US" sz="1400" dirty="0">
                <a:solidFill>
                  <a:srgbClr val="55525C"/>
                </a:solidFill>
                <a:latin typeface="Calibri" pitchFamily="34" charset="0"/>
                <a:ea typeface="Calibri" pitchFamily="34" charset="-122"/>
                <a:cs typeface="Calibri" pitchFamily="34" charset="-120"/>
              </a:rPr>
              <a:t>This is the same pipeline used everywhere else in the report. GE2025 is where it can be shown end to end, on a single well-understood event, with a human check at the point where it would otherwise have gone wrong.</a:t>
            </a:r>
            <a:endParaRPr lang="en-US" sz="1400" dirty="0"/>
          </a:p>
        </p:txBody>
      </p:sp>
      <p:sp>
        <p:nvSpPr>
          <p:cNvPr id="28" name="Text 26"/>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29" name="Text 27"/>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PART 4 · THE MISTAKE</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What the validation gate caught</a:t>
            </a:r>
            <a:endParaRPr lang="en-US" sz="3400" dirty="0"/>
          </a:p>
        </p:txBody>
      </p:sp>
      <p:sp>
        <p:nvSpPr>
          <p:cNvPr id="4" name="Shape 2"/>
          <p:cNvSpPr/>
          <p:nvPr/>
        </p:nvSpPr>
        <p:spPr>
          <a:xfrm>
            <a:off x="640080" y="1645920"/>
            <a:ext cx="5257800" cy="3108960"/>
          </a:xfrm>
          <a:prstGeom prst="roundRect">
            <a:avLst>
              <a:gd name="adj" fmla="val 1765"/>
            </a:avLst>
          </a:prstGeom>
          <a:solidFill>
            <a:srgbClr val="FAF9F8"/>
          </a:solidFill>
          <a:ln w="12700">
            <a:solidFill>
              <a:srgbClr val="E4E1DE"/>
            </a:solidFill>
            <a:prstDash val="solid"/>
          </a:ln>
        </p:spPr>
      </p:sp>
      <p:sp>
        <p:nvSpPr>
          <p:cNvPr id="5" name="Text 3"/>
          <p:cNvSpPr/>
          <p:nvPr/>
        </p:nvSpPr>
        <p:spPr>
          <a:xfrm>
            <a:off x="960120" y="1847088"/>
            <a:ext cx="4617720" cy="365760"/>
          </a:xfrm>
          <a:prstGeom prst="rect">
            <a:avLst/>
          </a:prstGeom>
          <a:noFill/>
          <a:ln/>
        </p:spPr>
        <p:txBody>
          <a:bodyPr wrap="square" lIns="0" tIns="0" rIns="0" bIns="0" rtlCol="0" anchor="ctr"/>
          <a:lstStyle/>
          <a:p>
            <a:pPr indent="0" marL="0">
              <a:buNone/>
            </a:pPr>
            <a:r>
              <a:rPr lang="en-US" sz="1500" b="1" dirty="0">
                <a:solidFill>
                  <a:srgbClr val="55525C"/>
                </a:solidFill>
                <a:latin typeface="Calibri" pitchFamily="34" charset="0"/>
                <a:ea typeface="Calibri" pitchFamily="34" charset="-122"/>
                <a:cs typeface="Calibri" pitchFamily="34" charset="-120"/>
              </a:rPr>
              <a:t>Version 1 — as the model reported it</a:t>
            </a:r>
            <a:endParaRPr lang="en-US" sz="1500" dirty="0"/>
          </a:p>
        </p:txBody>
      </p:sp>
      <p:sp>
        <p:nvSpPr>
          <p:cNvPr id="6" name="Text 4"/>
          <p:cNvSpPr/>
          <p:nvPr/>
        </p:nvSpPr>
        <p:spPr>
          <a:xfrm>
            <a:off x="960120" y="2286000"/>
            <a:ext cx="4617720" cy="457200"/>
          </a:xfrm>
          <a:prstGeom prst="rect">
            <a:avLst/>
          </a:prstGeom>
          <a:noFill/>
          <a:ln/>
        </p:spPr>
        <p:txBody>
          <a:bodyPr wrap="square" lIns="0" tIns="0" rIns="0" bIns="0" rtlCol="0" anchor="ctr"/>
          <a:lstStyle/>
          <a:p>
            <a:pPr indent="0" marL="0">
              <a:buNone/>
            </a:pPr>
            <a:r>
              <a:rPr lang="en-US" sz="1500" b="1" dirty="0">
                <a:solidFill>
                  <a:srgbClr val="17161A"/>
                </a:solidFill>
                <a:latin typeface="Calibri" pitchFamily="34" charset="0"/>
                <a:ea typeface="Calibri" pitchFamily="34" charset="-122"/>
                <a:cs typeface="Calibri" pitchFamily="34" charset="-120"/>
              </a:rPr>
              <a:t>42 clusters · 1,925 items labelled anti-opposition</a:t>
            </a:r>
            <a:endParaRPr lang="en-US" sz="1500" dirty="0"/>
          </a:p>
        </p:txBody>
      </p:sp>
      <p:sp>
        <p:nvSpPr>
          <p:cNvPr id="7" name="Text 5"/>
          <p:cNvSpPr/>
          <p:nvPr/>
        </p:nvSpPr>
        <p:spPr>
          <a:xfrm>
            <a:off x="960120" y="2788920"/>
            <a:ext cx="4617720" cy="1737360"/>
          </a:xfrm>
          <a:prstGeom prst="rect">
            <a:avLst/>
          </a:prstGeom>
          <a:noFill/>
          <a:ln/>
        </p:spPr>
        <p:txBody>
          <a:bodyPr wrap="square" lIns="0" tIns="0" rIns="0" bIns="0" rtlCol="0" anchor="t"/>
          <a:lstStyle/>
          <a:p>
            <a:pPr marL="228600" indent="-228600">
              <a:spcAft>
                <a:spcPts val="1000"/>
              </a:spcAft>
              <a:buSzPct val="100000"/>
              <a:buChar char="•"/>
            </a:pPr>
            <a:r>
              <a:rPr lang="en-US" sz="1300" dirty="0">
                <a:solidFill>
                  <a:srgbClr val="55525C"/>
                </a:solidFill>
                <a:latin typeface="Calibri" pitchFamily="34" charset="0"/>
                <a:ea typeface="Calibri" pitchFamily="34" charset="-122"/>
                <a:cs typeface="Calibri" pitchFamily="34" charset="-120"/>
              </a:rPr>
              <a:t>Mean self-reported confidence: 0.98</a:t>
            </a:r>
            <a:endParaRPr lang="en-US" sz="1300" dirty="0"/>
          </a:p>
          <a:p>
            <a:pPr marL="228600" indent="-228600">
              <a:spcAft>
                <a:spcPts val="1000"/>
              </a:spcAft>
              <a:buSzPct val="100000"/>
              <a:buChar char="•"/>
            </a:pPr>
            <a:r>
              <a:rPr lang="en-US" sz="1300" dirty="0">
                <a:solidFill>
                  <a:srgbClr val="55525C"/>
                </a:solidFill>
                <a:latin typeface="Calibri" pitchFamily="34" charset="0"/>
                <a:ea typeface="Calibri" pitchFamily="34" charset="-122"/>
                <a:cs typeface="Calibri" pitchFamily="34" charset="-120"/>
              </a:rPr>
              <a:t>Reliable on direct pro/anti stance (80–100%)</a:t>
            </a:r>
            <a:endParaRPr lang="en-US" sz="1300" dirty="0"/>
          </a:p>
          <a:p>
            <a:pPr marL="228600" indent="-228600">
              <a:spcAft>
                <a:spcPts val="1000"/>
              </a:spcAft>
              <a:buSzPct val="100000"/>
              <a:buChar char="•"/>
            </a:pPr>
            <a:r>
              <a:rPr lang="en-US" sz="1300" dirty="0">
                <a:solidFill>
                  <a:srgbClr val="55525C"/>
                </a:solidFill>
                <a:latin typeface="Calibri" pitchFamily="34" charset="0"/>
                <a:ea typeface="Calibri" pitchFamily="34" charset="-122"/>
                <a:cs typeface="Calibri" pitchFamily="34" charset="-120"/>
              </a:rPr>
              <a:t>Agreed with itself across all three passes</a:t>
            </a:r>
            <a:endParaRPr lang="en-US" sz="1300" dirty="0"/>
          </a:p>
        </p:txBody>
      </p:sp>
      <p:sp>
        <p:nvSpPr>
          <p:cNvPr id="8" name="Shape 6"/>
          <p:cNvSpPr/>
          <p:nvPr/>
        </p:nvSpPr>
        <p:spPr>
          <a:xfrm>
            <a:off x="6263640" y="1645920"/>
            <a:ext cx="5257800" cy="3108960"/>
          </a:xfrm>
          <a:prstGeom prst="roundRect">
            <a:avLst>
              <a:gd name="adj" fmla="val 1765"/>
            </a:avLst>
          </a:prstGeom>
          <a:solidFill>
            <a:srgbClr val="FBF0ED"/>
          </a:solidFill>
          <a:ln w="12700">
            <a:solidFill>
              <a:srgbClr val="FBF0ED"/>
            </a:solidFill>
            <a:prstDash val="solid"/>
          </a:ln>
        </p:spPr>
      </p:sp>
      <p:sp>
        <p:nvSpPr>
          <p:cNvPr id="9" name="Text 7"/>
          <p:cNvSpPr/>
          <p:nvPr/>
        </p:nvSpPr>
        <p:spPr>
          <a:xfrm>
            <a:off x="6583680" y="1847088"/>
            <a:ext cx="4617720" cy="365760"/>
          </a:xfrm>
          <a:prstGeom prst="rect">
            <a:avLst/>
          </a:prstGeom>
          <a:noFill/>
          <a:ln/>
        </p:spPr>
        <p:txBody>
          <a:bodyPr wrap="square" lIns="0" tIns="0" rIns="0" bIns="0" rtlCol="0" anchor="ctr"/>
          <a:lstStyle/>
          <a:p>
            <a:pPr indent="0" marL="0">
              <a:buNone/>
            </a:pPr>
            <a:r>
              <a:rPr lang="en-US" sz="1500" b="1" dirty="0">
                <a:solidFill>
                  <a:srgbClr val="C4432A"/>
                </a:solidFill>
                <a:latin typeface="Calibri" pitchFamily="34" charset="0"/>
                <a:ea typeface="Calibri" pitchFamily="34" charset="-122"/>
                <a:cs typeface="Calibri" pitchFamily="34" charset="-120"/>
              </a:rPr>
              <a:t>What a human reviewer found</a:t>
            </a:r>
            <a:endParaRPr lang="en-US" sz="1500" dirty="0"/>
          </a:p>
        </p:txBody>
      </p:sp>
      <p:sp>
        <p:nvSpPr>
          <p:cNvPr id="10" name="Text 8"/>
          <p:cNvSpPr/>
          <p:nvPr/>
        </p:nvSpPr>
        <p:spPr>
          <a:xfrm>
            <a:off x="6583680" y="2286000"/>
            <a:ext cx="4617720" cy="457200"/>
          </a:xfrm>
          <a:prstGeom prst="rect">
            <a:avLst/>
          </a:prstGeom>
          <a:noFill/>
          <a:ln/>
        </p:spPr>
        <p:txBody>
          <a:bodyPr wrap="square" lIns="0" tIns="0" rIns="0" bIns="0" rtlCol="0" anchor="ctr"/>
          <a:lstStyle/>
          <a:p>
            <a:pPr indent="0" marL="0">
              <a:buNone/>
            </a:pPr>
            <a:r>
              <a:rPr lang="en-US" sz="1500" b="1" dirty="0">
                <a:solidFill>
                  <a:srgbClr val="17161A"/>
                </a:solidFill>
                <a:latin typeface="Calibri" pitchFamily="34" charset="0"/>
                <a:ea typeface="Calibri" pitchFamily="34" charset="-122"/>
                <a:cs typeface="Calibri" pitchFamily="34" charset="-120"/>
              </a:rPr>
              <a:t>16 of 42 clusters — 38% — were mislabelled</a:t>
            </a:r>
            <a:endParaRPr lang="en-US" sz="1500" dirty="0"/>
          </a:p>
        </p:txBody>
      </p:sp>
      <p:sp>
        <p:nvSpPr>
          <p:cNvPr id="11" name="Text 9"/>
          <p:cNvSpPr/>
          <p:nvPr/>
        </p:nvSpPr>
        <p:spPr>
          <a:xfrm>
            <a:off x="6583680" y="2788920"/>
            <a:ext cx="4617720" cy="1737360"/>
          </a:xfrm>
          <a:prstGeom prst="rect">
            <a:avLst/>
          </a:prstGeom>
          <a:noFill/>
          <a:ln/>
        </p:spPr>
        <p:txBody>
          <a:bodyPr wrap="square" lIns="0" tIns="0" rIns="0" bIns="0" rtlCol="0" anchor="t"/>
          <a:lstStyle/>
          <a:p>
            <a:pPr marL="228600" indent="-228600">
              <a:spcAft>
                <a:spcPts val="1000"/>
              </a:spcAft>
              <a:buSzPct val="100000"/>
              <a:buChar char="•"/>
            </a:pPr>
            <a:r>
              <a:rPr lang="en-US" sz="1300" dirty="0">
                <a:solidFill>
                  <a:srgbClr val="17161A"/>
                </a:solidFill>
                <a:latin typeface="Calibri" pitchFamily="34" charset="0"/>
                <a:ea typeface="Calibri" pitchFamily="34" charset="-122"/>
                <a:cs typeface="Calibri" pitchFamily="34" charset="-120"/>
              </a:rPr>
              <a:t>Sarcastic anti-incumbent posts read as anti-opposition</a:t>
            </a:r>
            <a:endParaRPr lang="en-US" sz="1300" dirty="0"/>
          </a:p>
          <a:p>
            <a:pPr marL="228600" indent="-228600">
              <a:spcAft>
                <a:spcPts val="1000"/>
              </a:spcAft>
              <a:buSzPct val="100000"/>
              <a:buChar char="•"/>
            </a:pPr>
            <a:r>
              <a:rPr lang="en-US" sz="1300" dirty="0">
                <a:solidFill>
                  <a:srgbClr val="17161A"/>
                </a:solidFill>
                <a:latin typeface="Calibri" pitchFamily="34" charset="0"/>
                <a:ea typeface="Calibri" pitchFamily="34" charset="-122"/>
                <a:cs typeface="Calibri" pitchFamily="34" charset="-120"/>
              </a:rPr>
              <a:t>Neutral structural commentary swept in with them</a:t>
            </a:r>
            <a:endParaRPr lang="en-US" sz="1300" dirty="0"/>
          </a:p>
          <a:p>
            <a:pPr marL="228600" indent="-228600">
              <a:spcAft>
                <a:spcPts val="1000"/>
              </a:spcAft>
              <a:buSzPct val="100000"/>
              <a:buChar char="•"/>
            </a:pPr>
            <a:r>
              <a:rPr lang="en-US" sz="1300" dirty="0">
                <a:solidFill>
                  <a:srgbClr val="17161A"/>
                </a:solidFill>
                <a:latin typeface="Calibri" pitchFamily="34" charset="0"/>
                <a:ea typeface="Calibri" pitchFamily="34" charset="-122"/>
                <a:cs typeface="Calibri" pitchFamily="34" charset="-120"/>
              </a:rPr>
              <a:t>Ten of the sixteen carried no partisan valence at all</a:t>
            </a:r>
            <a:endParaRPr lang="en-US" sz="1300" dirty="0"/>
          </a:p>
        </p:txBody>
      </p:sp>
      <p:sp>
        <p:nvSpPr>
          <p:cNvPr id="12" name="Shape 10"/>
          <p:cNvSpPr/>
          <p:nvPr/>
        </p:nvSpPr>
        <p:spPr>
          <a:xfrm>
            <a:off x="640080" y="4983480"/>
            <a:ext cx="10881360" cy="1143000"/>
          </a:xfrm>
          <a:prstGeom prst="roundRect">
            <a:avLst>
              <a:gd name="adj" fmla="val 4800"/>
            </a:avLst>
          </a:prstGeom>
          <a:solidFill>
            <a:srgbClr val="17161A"/>
          </a:solidFill>
          <a:ln w="12700">
            <a:solidFill>
              <a:srgbClr val="17161A"/>
            </a:solidFill>
            <a:prstDash val="solid"/>
          </a:ln>
        </p:spPr>
      </p:sp>
      <p:sp>
        <p:nvSpPr>
          <p:cNvPr id="13" name="Text 11"/>
          <p:cNvSpPr/>
          <p:nvPr/>
        </p:nvSpPr>
        <p:spPr>
          <a:xfrm>
            <a:off x="1005840" y="5102352"/>
            <a:ext cx="10149840" cy="9144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Small-model labels are hypotheses, not measurements. Self-consistency is not correctness — the model was most confident precisely where it was confidently wrong. Validate against worst-case strata, or don't report the label.</a:t>
            </a:r>
            <a:endParaRPr lang="en-US" sz="1450" dirty="0"/>
          </a:p>
        </p:txBody>
      </p:sp>
      <p:sp>
        <p:nvSpPr>
          <p:cNvPr id="14" name="Text 12"/>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15" name="Text 13"/>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PART 4 · GE2025, CORRECTED</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The validated headline</a:t>
            </a:r>
            <a:endParaRPr lang="en-US" sz="3400" dirty="0"/>
          </a:p>
        </p:txBody>
      </p:sp>
      <p:graphicFrame>
        <p:nvGraphicFramePr>
          <p:cNvPr id="4" name="Chart 0" descr=""/>
          <p:cNvGraphicFramePr/>
          <p:nvPr/>
        </p:nvGraphicFramePr>
        <p:xfrm>
          <a:off x="640080" y="1737360"/>
          <a:ext cx="5760720" cy="2148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40080" y="3977640"/>
            <a:ext cx="5760720" cy="457200"/>
          </a:xfrm>
          <a:prstGeom prst="rect">
            <a:avLst/>
          </a:prstGeom>
          <a:noFill/>
          <a:ln/>
        </p:spPr>
        <p:txBody>
          <a:bodyPr wrap="square" lIns="0" tIns="0" rIns="0" bIns="0" rtlCol="0" anchor="ctr"/>
          <a:lstStyle/>
          <a:p>
            <a:pPr indent="0" marL="0">
              <a:buNone/>
            </a:pPr>
            <a:r>
              <a:rPr lang="en-US" sz="1400" dirty="0">
                <a:solidFill>
                  <a:srgbClr val="17161A"/>
                </a:solidFill>
                <a:latin typeface="Calibri" pitchFamily="34" charset="0"/>
                <a:ea typeface="Calibri" pitchFamily="34" charset="-122"/>
                <a:cs typeface="Calibri" pitchFamily="34" charset="-120"/>
              </a:rPr>
              <a:t>Roughly 2.4 : 1 by cluster count, 1.9 : 1 by item count (7,416 vs 3,886).</a:t>
            </a:r>
            <a:endParaRPr lang="en-US" sz="1400" dirty="0"/>
          </a:p>
        </p:txBody>
      </p:sp>
      <p:sp>
        <p:nvSpPr>
          <p:cNvPr id="6" name="Text 3"/>
          <p:cNvSpPr/>
          <p:nvPr/>
        </p:nvSpPr>
        <p:spPr>
          <a:xfrm>
            <a:off x="640080" y="4434840"/>
            <a:ext cx="5760720" cy="1005840"/>
          </a:xfrm>
          <a:prstGeom prst="rect">
            <a:avLst/>
          </a:prstGeom>
          <a:noFill/>
          <a:ln/>
        </p:spPr>
        <p:txBody>
          <a:bodyPr wrap="square" lIns="0" tIns="0" rIns="0" bIns="0" rtlCol="0" anchor="ctr"/>
          <a:lstStyle/>
          <a:p>
            <a:pPr indent="0" marL="0">
              <a:buNone/>
            </a:pPr>
            <a:r>
              <a:rPr lang="en-US" sz="1300" dirty="0">
                <a:solidFill>
                  <a:srgbClr val="55525C"/>
                </a:solidFill>
                <a:latin typeface="Calibri" pitchFamily="34" charset="0"/>
                <a:ea typeface="Calibri" pitchFamily="34" charset="-122"/>
                <a:cs typeface="Calibri" pitchFamily="34" charset="-120"/>
              </a:rPr>
              <a:t>The two sides are shaped differently: pro-incumbent copypasta is a small set of high-reach slogans (73 items per cluster); anti-incumbent copypasta is a wider variety of longer critiques (59 per cluster).</a:t>
            </a:r>
            <a:endParaRPr lang="en-US" sz="1300" dirty="0"/>
          </a:p>
        </p:txBody>
      </p:sp>
      <p:sp>
        <p:nvSpPr>
          <p:cNvPr id="7" name="Shape 4"/>
          <p:cNvSpPr/>
          <p:nvPr/>
        </p:nvSpPr>
        <p:spPr>
          <a:xfrm>
            <a:off x="6903720" y="1691640"/>
            <a:ext cx="4663440" cy="3749040"/>
          </a:xfrm>
          <a:prstGeom prst="roundRect">
            <a:avLst>
              <a:gd name="adj" fmla="val 1463"/>
            </a:avLst>
          </a:prstGeom>
          <a:solidFill>
            <a:srgbClr val="17161A"/>
          </a:solidFill>
          <a:ln w="12700">
            <a:solidFill>
              <a:srgbClr val="17161A"/>
            </a:solidFill>
            <a:prstDash val="solid"/>
          </a:ln>
        </p:spPr>
      </p:sp>
      <p:sp>
        <p:nvSpPr>
          <p:cNvPr id="8" name="Text 5"/>
          <p:cNvSpPr/>
          <p:nvPr/>
        </p:nvSpPr>
        <p:spPr>
          <a:xfrm>
            <a:off x="7223760" y="1920240"/>
            <a:ext cx="4023360" cy="365760"/>
          </a:xfrm>
          <a:prstGeom prst="rect">
            <a:avLst/>
          </a:prstGeom>
          <a:noFill/>
          <a:ln/>
        </p:spPr>
        <p:txBody>
          <a:bodyPr wrap="square" lIns="0" tIns="0" rIns="0" bIns="0" rtlCol="0" anchor="ctr"/>
          <a:lstStyle/>
          <a:p>
            <a:pPr indent="0" marL="0">
              <a:buNone/>
            </a:pPr>
            <a:r>
              <a:rPr lang="en-US" sz="1700" b="1" dirty="0">
                <a:solidFill>
                  <a:srgbClr val="C4432A"/>
                </a:solidFill>
                <a:latin typeface="Calibri" pitchFamily="34" charset="0"/>
                <a:ea typeface="Calibri" pitchFamily="34" charset="-122"/>
                <a:cs typeface="Calibri" pitchFamily="34" charset="-120"/>
              </a:rPr>
              <a:t>And what it is not</a:t>
            </a:r>
            <a:endParaRPr lang="en-US" sz="1700" dirty="0"/>
          </a:p>
        </p:txBody>
      </p:sp>
      <p:sp>
        <p:nvSpPr>
          <p:cNvPr id="9" name="Text 6"/>
          <p:cNvSpPr/>
          <p:nvPr/>
        </p:nvSpPr>
        <p:spPr>
          <a:xfrm>
            <a:off x="7223760" y="2377440"/>
            <a:ext cx="4023360" cy="2926080"/>
          </a:xfrm>
          <a:prstGeom prst="rect">
            <a:avLst/>
          </a:prstGeom>
          <a:noFill/>
          <a:ln/>
        </p:spPr>
        <p:txBody>
          <a:bodyPr wrap="square" lIns="0" tIns="0" rIns="0" bIns="0" rtlCol="0" anchor="ctr"/>
          <a:lstStyle/>
          <a:p>
            <a:pPr indent="0" marL="0">
              <a:lnSpc>
                <a:spcPts val="1800"/>
              </a:lnSpc>
              <a:buNone/>
            </a:pPr>
            <a:r>
              <a:rPr lang="en-US" sz="1250" dirty="0">
                <a:solidFill>
                  <a:srgbClr val="C9C5CF"/>
                </a:solidFill>
                <a:latin typeface="Calibri" pitchFamily="34" charset="0"/>
                <a:ea typeface="Calibri" pitchFamily="34" charset="-122"/>
                <a:cs typeface="Calibri" pitchFamily="34" charset="-120"/>
              </a:rPr>
              <a:t>This is a measurement of what was repeated. It is not evidence of coordinated inauthentic behaviour, foreign interference, or manipulation.</a:t>
            </a:r>
            <a:endParaRPr lang="en-US" sz="1250" dirty="0"/>
          </a:p>
          <a:p>
            <a:pPr indent="0" marL="0">
              <a:lnSpc>
                <a:spcPts val="1800"/>
              </a:lnSpc>
              <a:buNone/>
            </a:pPr>
            <a:endParaRPr lang="en-US" sz="1250" dirty="0"/>
          </a:p>
          <a:p>
            <a:pPr indent="0" marL="0">
              <a:lnSpc>
                <a:spcPts val="1800"/>
              </a:lnSpc>
              <a:buNone/>
            </a:pPr>
            <a:r>
              <a:rPr lang="en-US" sz="1250" dirty="0">
                <a:solidFill>
                  <a:srgbClr val="C9C5CF"/>
                </a:solidFill>
                <a:latin typeface="Calibri" pitchFamily="34" charset="0"/>
                <a:ea typeface="Calibri" pitchFamily="34" charset="-122"/>
                <a:cs typeface="Calibri" pitchFamily="34" charset="-120"/>
              </a:rPr>
              <a:t>High-volume criticism of a long-governing party at its most electorally exposed moment is an unremarkable feature of democratic contestation. It is visible here only because some of it took verbatim, cross-space form.</a:t>
            </a:r>
            <a:endParaRPr lang="en-US" sz="1250" dirty="0"/>
          </a:p>
          <a:p>
            <a:pPr indent="0" marL="0">
              <a:lnSpc>
                <a:spcPts val="1800"/>
              </a:lnSpc>
              <a:buNone/>
            </a:pPr>
            <a:endParaRPr lang="en-US" sz="1250" dirty="0"/>
          </a:p>
          <a:p>
            <a:pPr indent="0" marL="0">
              <a:lnSpc>
                <a:spcPts val="1800"/>
              </a:lnSpc>
              <a:buNone/>
            </a:pPr>
            <a:r>
              <a:rPr lang="en-US" sz="1250" dirty="0">
                <a:solidFill>
                  <a:srgbClr val="C9C5CF"/>
                </a:solidFill>
                <a:latin typeface="Calibri" pitchFamily="34" charset="0"/>
                <a:ea typeface="Calibri" pitchFamily="34" charset="-122"/>
                <a:cs typeface="Calibri" pitchFamily="34" charset="-120"/>
              </a:rPr>
              <a:t>The same week's largest raw cluster — 13,014 items — was Reddit AutoModerator boilerplate in a single space. Check spread, never size.</a:t>
            </a:r>
            <a:endParaRPr lang="en-US" sz="1250" dirty="0"/>
          </a:p>
        </p:txBody>
      </p:sp>
      <p:sp>
        <p:nvSpPr>
          <p:cNvPr id="10" name="Text 7"/>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11" name="Text 8"/>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PART 4 · A TASTE, NOT THE WHOLE THING</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The paper: a cross-lingual audit of online hate</a:t>
            </a:r>
            <a:endParaRPr lang="en-US" sz="3400" dirty="0"/>
          </a:p>
        </p:txBody>
      </p:sp>
      <p:sp>
        <p:nvSpPr>
          <p:cNvPr id="4" name="Text 2"/>
          <p:cNvSpPr/>
          <p:nvPr/>
        </p:nvSpPr>
        <p:spPr>
          <a:xfrm>
            <a:off x="640080" y="1572768"/>
            <a:ext cx="10881360" cy="685800"/>
          </a:xfrm>
          <a:prstGeom prst="rect">
            <a:avLst/>
          </a:prstGeom>
          <a:noFill/>
          <a:ln/>
        </p:spPr>
        <p:txBody>
          <a:bodyPr wrap="square" lIns="0" tIns="0" rIns="0" bIns="0" rtlCol="0" anchor="ctr"/>
          <a:lstStyle/>
          <a:p>
            <a:pPr indent="0" marL="0">
              <a:buNone/>
            </a:pPr>
            <a:r>
              <a:rPr lang="en-US" sz="1500" dirty="0">
                <a:solidFill>
                  <a:srgbClr val="55525C"/>
                </a:solidFill>
                <a:latin typeface="Calibri" pitchFamily="34" charset="0"/>
                <a:ea typeface="Calibri" pitchFamily="34" charset="-122"/>
                <a:cs typeface="Calibri" pitchFamily="34" charset="-120"/>
              </a:rPr>
              <a:t>“Cultural Targets, Structural Frames, Binding Morals” — 8,561 sampled candidates adjudicated across three languages, 2,190 confirmed hostile. Four lenses on the same material.</a:t>
            </a:r>
            <a:endParaRPr lang="en-US" sz="1500" dirty="0"/>
          </a:p>
        </p:txBody>
      </p:sp>
      <p:sp>
        <p:nvSpPr>
          <p:cNvPr id="5" name="Shape 3"/>
          <p:cNvSpPr/>
          <p:nvPr/>
        </p:nvSpPr>
        <p:spPr>
          <a:xfrm>
            <a:off x="640080" y="2423160"/>
            <a:ext cx="2606040" cy="2286000"/>
          </a:xfrm>
          <a:prstGeom prst="roundRect">
            <a:avLst>
              <a:gd name="adj" fmla="val 2400"/>
            </a:avLst>
          </a:prstGeom>
          <a:solidFill>
            <a:srgbClr val="FAF9F8"/>
          </a:solidFill>
          <a:ln w="12700">
            <a:solidFill>
              <a:srgbClr val="E4E1DE"/>
            </a:solidFill>
            <a:prstDash val="solid"/>
          </a:ln>
        </p:spPr>
      </p:sp>
      <p:sp>
        <p:nvSpPr>
          <p:cNvPr id="6" name="Shape 4"/>
          <p:cNvSpPr/>
          <p:nvPr/>
        </p:nvSpPr>
        <p:spPr>
          <a:xfrm>
            <a:off x="868680" y="2633472"/>
            <a:ext cx="201168" cy="201168"/>
          </a:xfrm>
          <a:prstGeom prst="ellipse">
            <a:avLst/>
          </a:prstGeom>
          <a:solidFill>
            <a:srgbClr val="C4432A"/>
          </a:solidFill>
          <a:ln w="12700">
            <a:solidFill>
              <a:srgbClr val="333333"/>
            </a:solidFill>
            <a:prstDash val="solid"/>
          </a:ln>
        </p:spPr>
      </p:sp>
      <p:sp>
        <p:nvSpPr>
          <p:cNvPr id="7" name="Text 5"/>
          <p:cNvSpPr/>
          <p:nvPr/>
        </p:nvSpPr>
        <p:spPr>
          <a:xfrm>
            <a:off x="1188720" y="2560320"/>
            <a:ext cx="1828800" cy="365760"/>
          </a:xfrm>
          <a:prstGeom prst="rect">
            <a:avLst/>
          </a:prstGeom>
          <a:noFill/>
          <a:ln/>
        </p:spPr>
        <p:txBody>
          <a:bodyPr wrap="square" lIns="0" tIns="0" rIns="0" bIns="0" rtlCol="0" anchor="ctr"/>
          <a:lstStyle/>
          <a:p>
            <a:pPr indent="0" marL="0">
              <a:buNone/>
            </a:pPr>
            <a:r>
              <a:rPr lang="en-US" sz="1600" b="1" dirty="0">
                <a:solidFill>
                  <a:srgbClr val="17161A"/>
                </a:solidFill>
                <a:latin typeface="Calibri" pitchFamily="34" charset="0"/>
                <a:ea typeface="Calibri" pitchFamily="34" charset="-122"/>
                <a:cs typeface="Calibri" pitchFamily="34" charset="-120"/>
              </a:rPr>
              <a:t>Targets</a:t>
            </a:r>
            <a:endParaRPr lang="en-US" sz="1600" dirty="0"/>
          </a:p>
        </p:txBody>
      </p:sp>
      <p:sp>
        <p:nvSpPr>
          <p:cNvPr id="8" name="Text 6"/>
          <p:cNvSpPr/>
          <p:nvPr/>
        </p:nvSpPr>
        <p:spPr>
          <a:xfrm>
            <a:off x="868680" y="3017520"/>
            <a:ext cx="2148840" cy="155448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Who gets targeted depends on which language the conversation is in. English spreads broadly; Chinese concentrates on a Malay–Chinese divide; Indonesian concentrates on religion.</a:t>
            </a:r>
            <a:endParaRPr lang="en-US" sz="1200" dirty="0"/>
          </a:p>
        </p:txBody>
      </p:sp>
      <p:sp>
        <p:nvSpPr>
          <p:cNvPr id="9" name="Shape 7"/>
          <p:cNvSpPr/>
          <p:nvPr/>
        </p:nvSpPr>
        <p:spPr>
          <a:xfrm>
            <a:off x="3364992" y="2423160"/>
            <a:ext cx="2606040" cy="2286000"/>
          </a:xfrm>
          <a:prstGeom prst="roundRect">
            <a:avLst>
              <a:gd name="adj" fmla="val 2400"/>
            </a:avLst>
          </a:prstGeom>
          <a:solidFill>
            <a:srgbClr val="FAF9F8"/>
          </a:solidFill>
          <a:ln w="12700">
            <a:solidFill>
              <a:srgbClr val="E4E1DE"/>
            </a:solidFill>
            <a:prstDash val="solid"/>
          </a:ln>
        </p:spPr>
      </p:sp>
      <p:sp>
        <p:nvSpPr>
          <p:cNvPr id="10" name="Shape 8"/>
          <p:cNvSpPr/>
          <p:nvPr/>
        </p:nvSpPr>
        <p:spPr>
          <a:xfrm>
            <a:off x="3593592" y="2633472"/>
            <a:ext cx="201168" cy="201168"/>
          </a:xfrm>
          <a:prstGeom prst="ellipse">
            <a:avLst/>
          </a:prstGeom>
          <a:solidFill>
            <a:srgbClr val="27607A"/>
          </a:solidFill>
          <a:ln w="12700">
            <a:solidFill>
              <a:srgbClr val="333333"/>
            </a:solidFill>
            <a:prstDash val="solid"/>
          </a:ln>
        </p:spPr>
      </p:sp>
      <p:sp>
        <p:nvSpPr>
          <p:cNvPr id="11" name="Text 9"/>
          <p:cNvSpPr/>
          <p:nvPr/>
        </p:nvSpPr>
        <p:spPr>
          <a:xfrm>
            <a:off x="3913632" y="2560320"/>
            <a:ext cx="1828800" cy="365760"/>
          </a:xfrm>
          <a:prstGeom prst="rect">
            <a:avLst/>
          </a:prstGeom>
          <a:noFill/>
          <a:ln/>
        </p:spPr>
        <p:txBody>
          <a:bodyPr wrap="square" lIns="0" tIns="0" rIns="0" bIns="0" rtlCol="0" anchor="ctr"/>
          <a:lstStyle/>
          <a:p>
            <a:pPr indent="0" marL="0">
              <a:buNone/>
            </a:pPr>
            <a:r>
              <a:rPr lang="en-US" sz="1600" b="1" dirty="0">
                <a:solidFill>
                  <a:srgbClr val="17161A"/>
                </a:solidFill>
                <a:latin typeface="Calibri" pitchFamily="34" charset="0"/>
                <a:ea typeface="Calibri" pitchFamily="34" charset="-122"/>
                <a:cs typeface="Calibri" pitchFamily="34" charset="-120"/>
              </a:rPr>
              <a:t>Frames</a:t>
            </a:r>
            <a:endParaRPr lang="en-US" sz="1600" dirty="0"/>
          </a:p>
        </p:txBody>
      </p:sp>
      <p:sp>
        <p:nvSpPr>
          <p:cNvPr id="12" name="Text 10"/>
          <p:cNvSpPr/>
          <p:nvPr/>
        </p:nvSpPr>
        <p:spPr>
          <a:xfrm>
            <a:off x="3593592" y="3017520"/>
            <a:ext cx="2148840" cy="155448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How hostility is framed is determined by the target's category, and is largely shared across language communities.</a:t>
            </a:r>
            <a:endParaRPr lang="en-US" sz="1200" dirty="0"/>
          </a:p>
        </p:txBody>
      </p:sp>
      <p:sp>
        <p:nvSpPr>
          <p:cNvPr id="13" name="Shape 11"/>
          <p:cNvSpPr/>
          <p:nvPr/>
        </p:nvSpPr>
        <p:spPr>
          <a:xfrm>
            <a:off x="6089904" y="2423160"/>
            <a:ext cx="2606040" cy="2286000"/>
          </a:xfrm>
          <a:prstGeom prst="roundRect">
            <a:avLst>
              <a:gd name="adj" fmla="val 2400"/>
            </a:avLst>
          </a:prstGeom>
          <a:solidFill>
            <a:srgbClr val="FAF9F8"/>
          </a:solidFill>
          <a:ln w="12700">
            <a:solidFill>
              <a:srgbClr val="E4E1DE"/>
            </a:solidFill>
            <a:prstDash val="solid"/>
          </a:ln>
        </p:spPr>
      </p:sp>
      <p:sp>
        <p:nvSpPr>
          <p:cNvPr id="14" name="Shape 12"/>
          <p:cNvSpPr/>
          <p:nvPr/>
        </p:nvSpPr>
        <p:spPr>
          <a:xfrm>
            <a:off x="6318504" y="2633472"/>
            <a:ext cx="201168" cy="201168"/>
          </a:xfrm>
          <a:prstGeom prst="ellipse">
            <a:avLst/>
          </a:prstGeom>
          <a:solidFill>
            <a:srgbClr val="8A8691"/>
          </a:solidFill>
          <a:ln w="12700">
            <a:solidFill>
              <a:srgbClr val="333333"/>
            </a:solidFill>
            <a:prstDash val="solid"/>
          </a:ln>
        </p:spPr>
      </p:sp>
      <p:sp>
        <p:nvSpPr>
          <p:cNvPr id="15" name="Text 13"/>
          <p:cNvSpPr/>
          <p:nvPr/>
        </p:nvSpPr>
        <p:spPr>
          <a:xfrm>
            <a:off x="6638544" y="2560320"/>
            <a:ext cx="1828800" cy="365760"/>
          </a:xfrm>
          <a:prstGeom prst="rect">
            <a:avLst/>
          </a:prstGeom>
          <a:noFill/>
          <a:ln/>
        </p:spPr>
        <p:txBody>
          <a:bodyPr wrap="square" lIns="0" tIns="0" rIns="0" bIns="0" rtlCol="0" anchor="ctr"/>
          <a:lstStyle/>
          <a:p>
            <a:pPr indent="0" marL="0">
              <a:buNone/>
            </a:pPr>
            <a:r>
              <a:rPr lang="en-US" sz="1600" b="1" dirty="0">
                <a:solidFill>
                  <a:srgbClr val="17161A"/>
                </a:solidFill>
                <a:latin typeface="Calibri" pitchFamily="34" charset="0"/>
                <a:ea typeface="Calibri" pitchFamily="34" charset="-122"/>
                <a:cs typeface="Calibri" pitchFamily="34" charset="-120"/>
              </a:rPr>
              <a:t>Morals</a:t>
            </a:r>
            <a:endParaRPr lang="en-US" sz="1600" dirty="0"/>
          </a:p>
        </p:txBody>
      </p:sp>
      <p:sp>
        <p:nvSpPr>
          <p:cNvPr id="16" name="Text 14"/>
          <p:cNvSpPr/>
          <p:nvPr/>
        </p:nvSpPr>
        <p:spPr>
          <a:xfrm>
            <a:off x="6318504" y="3017520"/>
            <a:ext cx="2148840" cy="155448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The moral vocabulary leans to the in-group-protective foundations — reported cautiously, under a labelling confound.</a:t>
            </a:r>
            <a:endParaRPr lang="en-US" sz="1200" dirty="0"/>
          </a:p>
        </p:txBody>
      </p:sp>
      <p:sp>
        <p:nvSpPr>
          <p:cNvPr id="17" name="Shape 15"/>
          <p:cNvSpPr/>
          <p:nvPr/>
        </p:nvSpPr>
        <p:spPr>
          <a:xfrm>
            <a:off x="8814816" y="2423160"/>
            <a:ext cx="2606040" cy="2286000"/>
          </a:xfrm>
          <a:prstGeom prst="roundRect">
            <a:avLst>
              <a:gd name="adj" fmla="val 2400"/>
            </a:avLst>
          </a:prstGeom>
          <a:solidFill>
            <a:srgbClr val="FAF9F8"/>
          </a:solidFill>
          <a:ln w="12700">
            <a:solidFill>
              <a:srgbClr val="E4E1DE"/>
            </a:solidFill>
            <a:prstDash val="solid"/>
          </a:ln>
        </p:spPr>
      </p:sp>
      <p:sp>
        <p:nvSpPr>
          <p:cNvPr id="18" name="Shape 16"/>
          <p:cNvSpPr/>
          <p:nvPr/>
        </p:nvSpPr>
        <p:spPr>
          <a:xfrm>
            <a:off x="9043416" y="2633472"/>
            <a:ext cx="201168" cy="201168"/>
          </a:xfrm>
          <a:prstGeom prst="ellipse">
            <a:avLst/>
          </a:prstGeom>
          <a:solidFill>
            <a:srgbClr val="27607A"/>
          </a:solidFill>
          <a:ln w="12700">
            <a:solidFill>
              <a:srgbClr val="333333"/>
            </a:solidFill>
            <a:prstDash val="solid"/>
          </a:ln>
        </p:spPr>
      </p:sp>
      <p:sp>
        <p:nvSpPr>
          <p:cNvPr id="19" name="Text 17"/>
          <p:cNvSpPr/>
          <p:nvPr/>
        </p:nvSpPr>
        <p:spPr>
          <a:xfrm>
            <a:off x="9363456" y="2560320"/>
            <a:ext cx="1828800" cy="365760"/>
          </a:xfrm>
          <a:prstGeom prst="rect">
            <a:avLst/>
          </a:prstGeom>
          <a:noFill/>
          <a:ln/>
        </p:spPr>
        <p:txBody>
          <a:bodyPr wrap="square" lIns="0" tIns="0" rIns="0" bIns="0" rtlCol="0" anchor="ctr"/>
          <a:lstStyle/>
          <a:p>
            <a:pPr indent="0" marL="0">
              <a:buNone/>
            </a:pPr>
            <a:r>
              <a:rPr lang="en-US" sz="1600" b="1" dirty="0">
                <a:solidFill>
                  <a:srgbClr val="17161A"/>
                </a:solidFill>
                <a:latin typeface="Calibri" pitchFamily="34" charset="0"/>
                <a:ea typeface="Calibri" pitchFamily="34" charset="-122"/>
                <a:cs typeface="Calibri" pitchFamily="34" charset="-120"/>
              </a:rPr>
              <a:t>Resonance</a:t>
            </a:r>
            <a:endParaRPr lang="en-US" sz="1600" dirty="0"/>
          </a:p>
        </p:txBody>
      </p:sp>
      <p:sp>
        <p:nvSpPr>
          <p:cNvPr id="20" name="Text 18"/>
          <p:cNvSpPr/>
          <p:nvPr/>
        </p:nvSpPr>
        <p:spPr>
          <a:xfrm>
            <a:off x="9043416" y="3017520"/>
            <a:ext cx="2148840" cy="155448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The audience rewards nativist hostility more than religious hostility. Hate is under-engaged overall.</a:t>
            </a:r>
            <a:endParaRPr lang="en-US" sz="1200" dirty="0"/>
          </a:p>
        </p:txBody>
      </p:sp>
      <p:sp>
        <p:nvSpPr>
          <p:cNvPr id="21" name="Text 19"/>
          <p:cNvSpPr/>
          <p:nvPr/>
        </p:nvSpPr>
        <p:spPr>
          <a:xfrm>
            <a:off x="640080" y="4937760"/>
            <a:ext cx="10881360" cy="548640"/>
          </a:xfrm>
          <a:prstGeom prst="rect">
            <a:avLst/>
          </a:prstGeom>
          <a:noFill/>
          <a:ln/>
        </p:spPr>
        <p:txBody>
          <a:bodyPr wrap="square" lIns="0" tIns="0" rIns="0" bIns="0" rtlCol="0" anchor="ctr"/>
          <a:lstStyle/>
          <a:p>
            <a:pPr indent="0" marL="0">
              <a:buNone/>
            </a:pPr>
            <a:r>
              <a:rPr lang="en-US" sz="1400" b="1" dirty="0">
                <a:solidFill>
                  <a:srgbClr val="17161A"/>
                </a:solidFill>
                <a:latin typeface="Calibri" pitchFamily="34" charset="0"/>
                <a:ea typeface="Calibri" pitchFamily="34" charset="-122"/>
                <a:cs typeface="Calibri" pitchFamily="34" charset="-120"/>
              </a:rPr>
              <a:t>Three of the four lenses replicate on the full 2020–2026 record. </a:t>
            </a:r>
            <a:pPr indent="0" marL="0">
              <a:buNone/>
            </a:pPr>
            <a:r>
              <a:rPr lang="en-US" sz="1400" dirty="0">
                <a:solidFill>
                  <a:srgbClr val="55525C"/>
                </a:solidFill>
                <a:latin typeface="Calibri" pitchFamily="34" charset="0"/>
                <a:ea typeface="Calibri" pitchFamily="34" charset="-122"/>
                <a:cs typeface="Calibri" pitchFamily="34" charset="-120"/>
              </a:rPr>
              <a:t>The fourth differs under a labelling confound, so it is reported as a within-language distribution and nothing more.</a:t>
            </a:r>
            <a:endParaRPr lang="en-US" sz="1400" dirty="0"/>
          </a:p>
        </p:txBody>
      </p:sp>
      <p:sp>
        <p:nvSpPr>
          <p:cNvPr id="22" name="Text 20"/>
          <p:cNvSpPr/>
          <p:nvPr/>
        </p:nvSpPr>
        <p:spPr>
          <a:xfrm>
            <a:off x="640080" y="5440680"/>
            <a:ext cx="10881360" cy="365760"/>
          </a:xfrm>
          <a:prstGeom prst="rect">
            <a:avLst/>
          </a:prstGeom>
          <a:noFill/>
          <a:ln/>
        </p:spPr>
        <p:txBody>
          <a:bodyPr wrap="square" lIns="0" tIns="0" rIns="0" bIns="0" rtlCol="0" anchor="ctr"/>
          <a:lstStyle/>
          <a:p>
            <a:pPr indent="0" marL="0">
              <a:buNone/>
            </a:pPr>
            <a:r>
              <a:rPr lang="en-US" sz="1300" i="1" dirty="0">
                <a:solidFill>
                  <a:srgbClr val="C4432A"/>
                </a:solidFill>
                <a:latin typeface="Calibri" pitchFamily="34" charset="0"/>
                <a:ea typeface="Calibri" pitchFamily="34" charset="-122"/>
                <a:cs typeface="Calibri" pitchFamily="34" charset="-120"/>
              </a:rPr>
              <a:t>Preprint: arXiv:2606.21996 — the full argument, the annotation protocol, and the limits are all there.</a:t>
            </a:r>
            <a:endParaRPr lang="en-US" sz="1300" dirty="0"/>
          </a:p>
        </p:txBody>
      </p:sp>
      <p:sp>
        <p:nvSpPr>
          <p:cNvPr id="23" name="Text 21"/>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24" name="Text 22"/>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7161A"/>
        </a:solidFill>
      </p:bgPr>
    </p:bg>
    <p:spTree>
      <p:nvGrpSpPr>
        <p:cNvPr id="1" name=""/>
        <p:cNvGrpSpPr/>
        <p:nvPr/>
      </p:nvGrpSpPr>
      <p:grpSpPr>
        <a:xfrm>
          <a:off x="0" y="0"/>
          <a:ext cx="0" cy="0"/>
          <a:chOff x="0" y="0"/>
          <a:chExt cx="0" cy="0"/>
        </a:xfrm>
      </p:grpSpPr>
      <p:sp>
        <p:nvSpPr>
          <p:cNvPr id="2" name="Text 0"/>
          <p:cNvSpPr/>
          <p:nvPr/>
        </p:nvSpPr>
        <p:spPr>
          <a:xfrm>
            <a:off x="640080" y="2286000"/>
            <a:ext cx="5486400" cy="320040"/>
          </a:xfrm>
          <a:prstGeom prst="rect">
            <a:avLst/>
          </a:prstGeom>
          <a:noFill/>
          <a:ln/>
        </p:spPr>
        <p:txBody>
          <a:bodyPr wrap="square" lIns="0" tIns="0" rIns="0" bIns="0" rtlCol="0" anchor="ctr"/>
          <a:lstStyle/>
          <a:p>
            <a:pPr indent="0" marL="0">
              <a:buNone/>
            </a:pPr>
            <a:r>
              <a:rPr lang="en-US" sz="1200" b="1" spc="300" kern="0" dirty="0">
                <a:solidFill>
                  <a:srgbClr val="C4432A"/>
                </a:solidFill>
                <a:latin typeface="Calibri" pitchFamily="34" charset="0"/>
                <a:ea typeface="Calibri" pitchFamily="34" charset="-122"/>
                <a:cs typeface="Calibri" pitchFamily="34" charset="-120"/>
              </a:rPr>
              <a:t>PART 5</a:t>
            </a:r>
            <a:endParaRPr lang="en-US" sz="1200" dirty="0"/>
          </a:p>
        </p:txBody>
      </p:sp>
      <p:sp>
        <p:nvSpPr>
          <p:cNvPr id="3" name="Text 1"/>
          <p:cNvSpPr/>
          <p:nvPr/>
        </p:nvSpPr>
        <p:spPr>
          <a:xfrm>
            <a:off x="640080" y="2697480"/>
            <a:ext cx="7863840" cy="13716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Lessons, and</a:t>
            </a:r>
            <a:endParaRPr lang="en-US" sz="4200" dirty="0"/>
          </a:p>
          <a:p>
            <a:pPr indent="0" marL="0">
              <a:buNone/>
            </a:pPr>
            <a:r>
              <a:rPr lang="en-US" sz="4200" b="1" dirty="0">
                <a:solidFill>
                  <a:srgbClr val="FFFFFF"/>
                </a:solidFill>
                <a:latin typeface="Cambria" pitchFamily="34" charset="0"/>
                <a:ea typeface="Cambria" pitchFamily="34" charset="-122"/>
                <a:cs typeface="Cambria" pitchFamily="34" charset="-120"/>
              </a:rPr>
              <a:t>what I'd fund next</a:t>
            </a:r>
            <a:endParaRPr lang="en-US" sz="4200" dirty="0"/>
          </a:p>
        </p:txBody>
      </p:sp>
      <p:sp>
        <p:nvSpPr>
          <p:cNvPr id="4" name="Text 2"/>
          <p:cNvSpPr/>
          <p:nvPr/>
        </p:nvSpPr>
        <p:spPr>
          <a:xfrm>
            <a:off x="640080" y="4114800"/>
            <a:ext cx="6949440" cy="914400"/>
          </a:xfrm>
          <a:prstGeom prst="rect">
            <a:avLst/>
          </a:prstGeom>
          <a:noFill/>
          <a:ln/>
        </p:spPr>
        <p:txBody>
          <a:bodyPr wrap="square" lIns="0" tIns="0" rIns="0" bIns="0" rtlCol="0" anchor="ctr"/>
          <a:lstStyle/>
          <a:p>
            <a:pPr indent="0" marL="0">
              <a:buNone/>
            </a:pPr>
            <a:r>
              <a:rPr lang="en-US" sz="1500" dirty="0">
                <a:solidFill>
                  <a:srgbClr val="B9B5BF"/>
                </a:solidFill>
                <a:latin typeface="Calibri" pitchFamily="34" charset="0"/>
                <a:ea typeface="Calibri" pitchFamily="34" charset="-122"/>
                <a:cs typeface="Calibri" pitchFamily="34" charset="-120"/>
              </a:rPr>
              <a:t>The dataset stays behind. This is the part I hope travels.</a:t>
            </a:r>
            <a:endParaRPr lang="en-US" sz="1500" dirty="0"/>
          </a:p>
        </p:txBody>
      </p:sp>
      <p:sp>
        <p:nvSpPr>
          <p:cNvPr id="5" name="Shape 3"/>
          <p:cNvSpPr/>
          <p:nvPr/>
        </p:nvSpPr>
        <p:spPr>
          <a:xfrm>
            <a:off x="9814255" y="2651760"/>
            <a:ext cx="1280160" cy="1280160"/>
          </a:xfrm>
          <a:prstGeom prst="ellipse">
            <a:avLst/>
          </a:prstGeom>
          <a:solidFill>
            <a:srgbClr val="241F26"/>
          </a:solidFill>
          <a:ln w="12700">
            <a:solidFill>
              <a:srgbClr val="241F26"/>
            </a:solidFill>
            <a:prstDash val="solid"/>
          </a:ln>
        </p:spPr>
      </p:sp>
      <p:sp>
        <p:nvSpPr>
          <p:cNvPr id="6" name="Text 4"/>
          <p:cNvSpPr/>
          <p:nvPr/>
        </p:nvSpPr>
        <p:spPr>
          <a:xfrm>
            <a:off x="9814255" y="2651760"/>
            <a:ext cx="1280160" cy="1280160"/>
          </a:xfrm>
          <a:prstGeom prst="rect">
            <a:avLst/>
          </a:prstGeom>
          <a:noFill/>
          <a:ln/>
        </p:spPr>
        <p:txBody>
          <a:bodyPr wrap="square" lIns="0" tIns="0" rIns="0" bIns="0" rtlCol="0" anchor="ctr"/>
          <a:lstStyle/>
          <a:p>
            <a:pPr algn="ctr" indent="0" marL="0">
              <a:buNone/>
            </a:pPr>
            <a:r>
              <a:rPr lang="en-US" sz="4400" b="1" dirty="0">
                <a:solidFill>
                  <a:srgbClr val="C4432A"/>
                </a:solidFill>
                <a:latin typeface="Calibri" pitchFamily="34" charset="0"/>
                <a:ea typeface="Calibri" pitchFamily="34" charset="-122"/>
                <a:cs typeface="Calibri" pitchFamily="34" charset="-120"/>
              </a:rPr>
              <a:t>5</a:t>
            </a:r>
            <a:endParaRPr lang="en-US" sz="4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LESSON 1 · THE METHOD DISCIPLINE</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Three gates, and what each one caught</a:t>
            </a:r>
            <a:endParaRPr lang="en-US" sz="3400" dirty="0"/>
          </a:p>
        </p:txBody>
      </p:sp>
      <p:sp>
        <p:nvSpPr>
          <p:cNvPr id="4" name="Shape 2"/>
          <p:cNvSpPr/>
          <p:nvPr/>
        </p:nvSpPr>
        <p:spPr>
          <a:xfrm>
            <a:off x="640080" y="1737360"/>
            <a:ext cx="10881360" cy="1234440"/>
          </a:xfrm>
          <a:prstGeom prst="roundRect">
            <a:avLst>
              <a:gd name="adj" fmla="val 4444"/>
            </a:avLst>
          </a:prstGeom>
          <a:solidFill>
            <a:srgbClr val="FAF9F8"/>
          </a:solidFill>
          <a:ln w="12700">
            <a:solidFill>
              <a:srgbClr val="E4E1DE"/>
            </a:solidFill>
            <a:prstDash val="solid"/>
          </a:ln>
        </p:spPr>
      </p:sp>
      <p:sp>
        <p:nvSpPr>
          <p:cNvPr id="5" name="Shape 3"/>
          <p:cNvSpPr/>
          <p:nvPr/>
        </p:nvSpPr>
        <p:spPr>
          <a:xfrm>
            <a:off x="932688" y="2121408"/>
            <a:ext cx="475488" cy="475488"/>
          </a:xfrm>
          <a:prstGeom prst="ellipse">
            <a:avLst/>
          </a:prstGeom>
          <a:solidFill>
            <a:srgbClr val="C4432A"/>
          </a:solidFill>
          <a:ln w="12700">
            <a:solidFill>
              <a:srgbClr val="C4432A"/>
            </a:solidFill>
            <a:prstDash val="solid"/>
          </a:ln>
        </p:spPr>
      </p:sp>
      <p:sp>
        <p:nvSpPr>
          <p:cNvPr id="6" name="Text 4"/>
          <p:cNvSpPr/>
          <p:nvPr/>
        </p:nvSpPr>
        <p:spPr>
          <a:xfrm>
            <a:off x="932688" y="212140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600200" y="1883664"/>
            <a:ext cx="3429000" cy="347472"/>
          </a:xfrm>
          <a:prstGeom prst="rect">
            <a:avLst/>
          </a:prstGeom>
          <a:noFill/>
          <a:ln/>
        </p:spPr>
        <p:txBody>
          <a:bodyPr wrap="square" lIns="0" tIns="0" rIns="0" bIns="0" rtlCol="0" anchor="ctr"/>
          <a:lstStyle/>
          <a:p>
            <a:pPr indent="0" marL="0">
              <a:buNone/>
            </a:pPr>
            <a:r>
              <a:rPr lang="en-US" sz="1450" b="1" dirty="0">
                <a:solidFill>
                  <a:srgbClr val="17161A"/>
                </a:solidFill>
                <a:latin typeface="Calibri" pitchFamily="34" charset="0"/>
                <a:ea typeface="Calibri" pitchFamily="34" charset="-122"/>
                <a:cs typeface="Calibri" pitchFamily="34" charset="-120"/>
              </a:rPr>
              <a:t>Calibrate against a null</a:t>
            </a:r>
            <a:endParaRPr lang="en-US" sz="1450" dirty="0"/>
          </a:p>
        </p:txBody>
      </p:sp>
      <p:sp>
        <p:nvSpPr>
          <p:cNvPr id="8" name="Text 6"/>
          <p:cNvSpPr/>
          <p:nvPr/>
        </p:nvSpPr>
        <p:spPr>
          <a:xfrm>
            <a:off x="1600200" y="2267712"/>
            <a:ext cx="4297680" cy="594360"/>
          </a:xfrm>
          <a:prstGeom prst="rect">
            <a:avLst/>
          </a:prstGeom>
          <a:noFill/>
          <a:ln/>
        </p:spPr>
        <p:txBody>
          <a:bodyPr wrap="square" lIns="0" tIns="0" rIns="0" bIns="0" rtlCol="0" anchor="ctr"/>
          <a:lstStyle/>
          <a:p>
            <a:pPr indent="0" marL="0">
              <a:buNone/>
            </a:pPr>
            <a:r>
              <a:rPr lang="en-US" sz="1200" dirty="0">
                <a:solidFill>
                  <a:srgbClr val="8A8691"/>
                </a:solidFill>
                <a:latin typeface="Calibri" pitchFamily="34" charset="0"/>
                <a:ea typeface="Calibri" pitchFamily="34" charset="-122"/>
                <a:cs typeface="Calibri" pitchFamily="34" charset="-120"/>
              </a:rPr>
              <a:t>Every detector gets a randomisation baseline and a sensitivity curve before its output is believed.</a:t>
            </a:r>
            <a:endParaRPr lang="en-US" sz="1200" dirty="0"/>
          </a:p>
        </p:txBody>
      </p:sp>
      <p:sp>
        <p:nvSpPr>
          <p:cNvPr id="9" name="Text 7"/>
          <p:cNvSpPr/>
          <p:nvPr/>
        </p:nvSpPr>
        <p:spPr>
          <a:xfrm>
            <a:off x="6126480" y="1965960"/>
            <a:ext cx="5120640" cy="777240"/>
          </a:xfrm>
          <a:prstGeom prst="rect">
            <a:avLst/>
          </a:prstGeom>
          <a:noFill/>
          <a:ln/>
        </p:spPr>
        <p:txBody>
          <a:bodyPr wrap="square" lIns="0" tIns="0" rIns="0" bIns="0" rtlCol="0" anchor="ctr"/>
          <a:lstStyle/>
          <a:p>
            <a:pPr indent="0" marL="0">
              <a:buNone/>
            </a:pPr>
            <a:r>
              <a:rPr lang="en-US" sz="1350" dirty="0">
                <a:solidFill>
                  <a:srgbClr val="55525C"/>
                </a:solidFill>
                <a:latin typeface="Calibri" pitchFamily="34" charset="0"/>
                <a:ea typeface="Calibri" pitchFamily="34" charset="-122"/>
                <a:cs typeface="Calibri" pitchFamily="34" charset="-120"/>
              </a:rPr>
              <a:t>Removed 42% of naively-flagged clusters, and reframed every coordination count as a floor.</a:t>
            </a:r>
            <a:endParaRPr lang="en-US" sz="1350" dirty="0"/>
          </a:p>
        </p:txBody>
      </p:sp>
      <p:sp>
        <p:nvSpPr>
          <p:cNvPr id="10" name="Shape 8"/>
          <p:cNvSpPr/>
          <p:nvPr/>
        </p:nvSpPr>
        <p:spPr>
          <a:xfrm>
            <a:off x="640080" y="3063240"/>
            <a:ext cx="10881360" cy="1234440"/>
          </a:xfrm>
          <a:prstGeom prst="roundRect">
            <a:avLst>
              <a:gd name="adj" fmla="val 4444"/>
            </a:avLst>
          </a:prstGeom>
          <a:solidFill>
            <a:srgbClr val="FAF9F8"/>
          </a:solidFill>
          <a:ln w="12700">
            <a:solidFill>
              <a:srgbClr val="E4E1DE"/>
            </a:solidFill>
            <a:prstDash val="solid"/>
          </a:ln>
        </p:spPr>
      </p:sp>
      <p:sp>
        <p:nvSpPr>
          <p:cNvPr id="11" name="Shape 9"/>
          <p:cNvSpPr/>
          <p:nvPr/>
        </p:nvSpPr>
        <p:spPr>
          <a:xfrm>
            <a:off x="932688" y="3447288"/>
            <a:ext cx="475488" cy="475488"/>
          </a:xfrm>
          <a:prstGeom prst="ellipse">
            <a:avLst/>
          </a:prstGeom>
          <a:solidFill>
            <a:srgbClr val="C4432A"/>
          </a:solidFill>
          <a:ln w="12700">
            <a:solidFill>
              <a:srgbClr val="C4432A"/>
            </a:solidFill>
            <a:prstDash val="solid"/>
          </a:ln>
        </p:spPr>
      </p:sp>
      <p:sp>
        <p:nvSpPr>
          <p:cNvPr id="12" name="Text 10"/>
          <p:cNvSpPr/>
          <p:nvPr/>
        </p:nvSpPr>
        <p:spPr>
          <a:xfrm>
            <a:off x="932688" y="344728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600200" y="3209544"/>
            <a:ext cx="3429000" cy="347472"/>
          </a:xfrm>
          <a:prstGeom prst="rect">
            <a:avLst/>
          </a:prstGeom>
          <a:noFill/>
          <a:ln/>
        </p:spPr>
        <p:txBody>
          <a:bodyPr wrap="square" lIns="0" tIns="0" rIns="0" bIns="0" rtlCol="0" anchor="ctr"/>
          <a:lstStyle/>
          <a:p>
            <a:pPr indent="0" marL="0">
              <a:buNone/>
            </a:pPr>
            <a:r>
              <a:rPr lang="en-US" sz="1450" b="1" dirty="0">
                <a:solidFill>
                  <a:srgbClr val="17161A"/>
                </a:solidFill>
                <a:latin typeface="Calibri" pitchFamily="34" charset="0"/>
                <a:ea typeface="Calibri" pitchFamily="34" charset="-122"/>
                <a:cs typeface="Calibri" pitchFamily="34" charset="-120"/>
              </a:rPr>
              <a:t>Correct by measured precision</a:t>
            </a:r>
            <a:endParaRPr lang="en-US" sz="1450" dirty="0"/>
          </a:p>
        </p:txBody>
      </p:sp>
      <p:sp>
        <p:nvSpPr>
          <p:cNvPr id="14" name="Text 12"/>
          <p:cNvSpPr/>
          <p:nvPr/>
        </p:nvSpPr>
        <p:spPr>
          <a:xfrm>
            <a:off x="1600200" y="3593592"/>
            <a:ext cx="4297680" cy="594360"/>
          </a:xfrm>
          <a:prstGeom prst="rect">
            <a:avLst/>
          </a:prstGeom>
          <a:noFill/>
          <a:ln/>
        </p:spPr>
        <p:txBody>
          <a:bodyPr wrap="square" lIns="0" tIns="0" rIns="0" bIns="0" rtlCol="0" anchor="ctr"/>
          <a:lstStyle/>
          <a:p>
            <a:pPr indent="0" marL="0">
              <a:buNone/>
            </a:pPr>
            <a:r>
              <a:rPr lang="en-US" sz="1200" dirty="0">
                <a:solidFill>
                  <a:srgbClr val="8A8691"/>
                </a:solidFill>
                <a:latin typeface="Calibri" pitchFamily="34" charset="0"/>
                <a:ea typeface="Calibri" pitchFamily="34" charset="-122"/>
                <a:cs typeface="Calibri" pitchFamily="34" charset="-120"/>
              </a:rPr>
              <a:t>Every raw count is multiplied through a gold-set precision estimate and reported as an explicit floor.</a:t>
            </a:r>
            <a:endParaRPr lang="en-US" sz="1200" dirty="0"/>
          </a:p>
        </p:txBody>
      </p:sp>
      <p:sp>
        <p:nvSpPr>
          <p:cNvPr id="15" name="Text 13"/>
          <p:cNvSpPr/>
          <p:nvPr/>
        </p:nvSpPr>
        <p:spPr>
          <a:xfrm>
            <a:off x="6126480" y="3291840"/>
            <a:ext cx="5120640" cy="777240"/>
          </a:xfrm>
          <a:prstGeom prst="rect">
            <a:avLst/>
          </a:prstGeom>
          <a:noFill/>
          <a:ln/>
        </p:spPr>
        <p:txBody>
          <a:bodyPr wrap="square" lIns="0" tIns="0" rIns="0" bIns="0" rtlCol="0" anchor="ctr"/>
          <a:lstStyle/>
          <a:p>
            <a:pPr indent="0" marL="0">
              <a:buNone/>
            </a:pPr>
            <a:r>
              <a:rPr lang="en-US" sz="1350" dirty="0">
                <a:solidFill>
                  <a:srgbClr val="55525C"/>
                </a:solidFill>
                <a:latin typeface="Calibri" pitchFamily="34" charset="0"/>
                <a:ea typeface="Calibri" pitchFamily="34" charset="-122"/>
                <a:cs typeface="Calibri" pitchFamily="34" charset="-120"/>
              </a:rPr>
              <a:t>Turned 769,601 cue-hits into a defensible ~160,307 — and exposed the xenophobia base-rate result.</a:t>
            </a:r>
            <a:endParaRPr lang="en-US" sz="1350" dirty="0"/>
          </a:p>
        </p:txBody>
      </p:sp>
      <p:sp>
        <p:nvSpPr>
          <p:cNvPr id="16" name="Shape 14"/>
          <p:cNvSpPr/>
          <p:nvPr/>
        </p:nvSpPr>
        <p:spPr>
          <a:xfrm>
            <a:off x="640080" y="4389120"/>
            <a:ext cx="10881360" cy="1234440"/>
          </a:xfrm>
          <a:prstGeom prst="roundRect">
            <a:avLst>
              <a:gd name="adj" fmla="val 4444"/>
            </a:avLst>
          </a:prstGeom>
          <a:solidFill>
            <a:srgbClr val="FAF9F8"/>
          </a:solidFill>
          <a:ln w="12700">
            <a:solidFill>
              <a:srgbClr val="E4E1DE"/>
            </a:solidFill>
            <a:prstDash val="solid"/>
          </a:ln>
        </p:spPr>
      </p:sp>
      <p:sp>
        <p:nvSpPr>
          <p:cNvPr id="17" name="Shape 15"/>
          <p:cNvSpPr/>
          <p:nvPr/>
        </p:nvSpPr>
        <p:spPr>
          <a:xfrm>
            <a:off x="932688" y="4773168"/>
            <a:ext cx="475488" cy="475488"/>
          </a:xfrm>
          <a:prstGeom prst="ellipse">
            <a:avLst/>
          </a:prstGeom>
          <a:solidFill>
            <a:srgbClr val="C4432A"/>
          </a:solidFill>
          <a:ln w="12700">
            <a:solidFill>
              <a:srgbClr val="C4432A"/>
            </a:solidFill>
            <a:prstDash val="solid"/>
          </a:ln>
        </p:spPr>
      </p:sp>
      <p:sp>
        <p:nvSpPr>
          <p:cNvPr id="18" name="Text 16"/>
          <p:cNvSpPr/>
          <p:nvPr/>
        </p:nvSpPr>
        <p:spPr>
          <a:xfrm>
            <a:off x="932688" y="477316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1600200" y="4535424"/>
            <a:ext cx="3429000" cy="347472"/>
          </a:xfrm>
          <a:prstGeom prst="rect">
            <a:avLst/>
          </a:prstGeom>
          <a:noFill/>
          <a:ln/>
        </p:spPr>
        <p:txBody>
          <a:bodyPr wrap="square" lIns="0" tIns="0" rIns="0" bIns="0" rtlCol="0" anchor="ctr"/>
          <a:lstStyle/>
          <a:p>
            <a:pPr indent="0" marL="0">
              <a:buNone/>
            </a:pPr>
            <a:r>
              <a:rPr lang="en-US" sz="1450" b="1" dirty="0">
                <a:solidFill>
                  <a:srgbClr val="17161A"/>
                </a:solidFill>
                <a:latin typeface="Calibri" pitchFamily="34" charset="0"/>
                <a:ea typeface="Calibri" pitchFamily="34" charset="-122"/>
                <a:cs typeface="Calibri" pitchFamily="34" charset="-120"/>
              </a:rPr>
              <a:t>Validate against worst cases</a:t>
            </a:r>
            <a:endParaRPr lang="en-US" sz="1450" dirty="0"/>
          </a:p>
        </p:txBody>
      </p:sp>
      <p:sp>
        <p:nvSpPr>
          <p:cNvPr id="20" name="Text 18"/>
          <p:cNvSpPr/>
          <p:nvPr/>
        </p:nvSpPr>
        <p:spPr>
          <a:xfrm>
            <a:off x="1600200" y="4919472"/>
            <a:ext cx="4297680" cy="594360"/>
          </a:xfrm>
          <a:prstGeom prst="rect">
            <a:avLst/>
          </a:prstGeom>
          <a:noFill/>
          <a:ln/>
        </p:spPr>
        <p:txBody>
          <a:bodyPr wrap="square" lIns="0" tIns="0" rIns="0" bIns="0" rtlCol="0" anchor="ctr"/>
          <a:lstStyle/>
          <a:p>
            <a:pPr indent="0" marL="0">
              <a:buNone/>
            </a:pPr>
            <a:r>
              <a:rPr lang="en-US" sz="1200" dirty="0">
                <a:solidFill>
                  <a:srgbClr val="8A8691"/>
                </a:solidFill>
                <a:latin typeface="Calibri" pitchFamily="34" charset="0"/>
                <a:ea typeface="Calibri" pitchFamily="34" charset="-122"/>
                <a:cs typeface="Calibri" pitchFamily="34" charset="-120"/>
              </a:rPr>
              <a:t>Every model label is checked against a deliberately adversarial human sample before it is reported.</a:t>
            </a:r>
            <a:endParaRPr lang="en-US" sz="1200" dirty="0"/>
          </a:p>
        </p:txBody>
      </p:sp>
      <p:sp>
        <p:nvSpPr>
          <p:cNvPr id="21" name="Text 19"/>
          <p:cNvSpPr/>
          <p:nvPr/>
        </p:nvSpPr>
        <p:spPr>
          <a:xfrm>
            <a:off x="6126480" y="4617720"/>
            <a:ext cx="5120640" cy="777240"/>
          </a:xfrm>
          <a:prstGeom prst="rect">
            <a:avLst/>
          </a:prstGeom>
          <a:noFill/>
          <a:ln/>
        </p:spPr>
        <p:txBody>
          <a:bodyPr wrap="square" lIns="0" tIns="0" rIns="0" bIns="0" rtlCol="0" anchor="ctr"/>
          <a:lstStyle/>
          <a:p>
            <a:pPr indent="0" marL="0">
              <a:buNone/>
            </a:pPr>
            <a:r>
              <a:rPr lang="en-US" sz="1350" dirty="0">
                <a:solidFill>
                  <a:srgbClr val="55525C"/>
                </a:solidFill>
                <a:latin typeface="Calibri" pitchFamily="34" charset="0"/>
                <a:ea typeface="Calibri" pitchFamily="34" charset="-122"/>
                <a:cs typeface="Calibri" pitchFamily="34" charset="-120"/>
              </a:rPr>
              <a:t>Caught a 38% mislabel rate hiding behind 0.98 confidence.</a:t>
            </a:r>
            <a:endParaRPr lang="en-US" sz="1350" dirty="0"/>
          </a:p>
        </p:txBody>
      </p:sp>
      <p:sp>
        <p:nvSpPr>
          <p:cNvPr id="22" name="Text 20"/>
          <p:cNvSpPr/>
          <p:nvPr/>
        </p:nvSpPr>
        <p:spPr>
          <a:xfrm>
            <a:off x="640080" y="5715000"/>
            <a:ext cx="10881360" cy="502920"/>
          </a:xfrm>
          <a:prstGeom prst="rect">
            <a:avLst/>
          </a:prstGeom>
          <a:noFill/>
          <a:ln/>
        </p:spPr>
        <p:txBody>
          <a:bodyPr wrap="square" lIns="0" tIns="0" rIns="0" bIns="0" rtlCol="0" anchor="ctr"/>
          <a:lstStyle/>
          <a:p>
            <a:pPr indent="0" marL="0">
              <a:buNone/>
            </a:pPr>
            <a:r>
              <a:rPr lang="en-US" sz="1450" i="1" dirty="0">
                <a:solidFill>
                  <a:srgbClr val="17161A"/>
                </a:solidFill>
                <a:latin typeface="Calibri" pitchFamily="34" charset="0"/>
                <a:ea typeface="Calibri" pitchFamily="34" charset="-122"/>
                <a:cs typeface="Calibri" pitchFamily="34" charset="-120"/>
              </a:rPr>
              <a:t>Each gate caught a real error that would otherwise have propagated into the headline. None of them is expensive. All three are the reason I'll stand behind the findings.</a:t>
            </a:r>
            <a:endParaRPr lang="en-US" sz="1450" dirty="0"/>
          </a:p>
        </p:txBody>
      </p:sp>
      <p:sp>
        <p:nvSpPr>
          <p:cNvPr id="23" name="Text 21"/>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24" name="Text 22"/>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LESSON 2 · PLAINLY</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Five things I'd tell whoever picks this up</a:t>
            </a:r>
            <a:endParaRPr lang="en-US" sz="3400" dirty="0"/>
          </a:p>
        </p:txBody>
      </p:sp>
      <p:sp>
        <p:nvSpPr>
          <p:cNvPr id="4" name="Shape 2"/>
          <p:cNvSpPr/>
          <p:nvPr/>
        </p:nvSpPr>
        <p:spPr>
          <a:xfrm>
            <a:off x="640080" y="1783080"/>
            <a:ext cx="420624" cy="420624"/>
          </a:xfrm>
          <a:prstGeom prst="ellipse">
            <a:avLst/>
          </a:prstGeom>
          <a:solidFill>
            <a:srgbClr val="C4432A"/>
          </a:solidFill>
          <a:ln w="12700">
            <a:solidFill>
              <a:srgbClr val="C4432A"/>
            </a:solidFill>
            <a:prstDash val="solid"/>
          </a:ln>
        </p:spPr>
      </p:sp>
      <p:sp>
        <p:nvSpPr>
          <p:cNvPr id="5" name="Text 3"/>
          <p:cNvSpPr/>
          <p:nvPr/>
        </p:nvSpPr>
        <p:spPr>
          <a:xfrm>
            <a:off x="640080" y="17830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298448" y="1737360"/>
            <a:ext cx="4937760" cy="365760"/>
          </a:xfrm>
          <a:prstGeom prst="rect">
            <a:avLst/>
          </a:prstGeom>
          <a:noFill/>
          <a:ln/>
        </p:spPr>
        <p:txBody>
          <a:bodyPr wrap="square" lIns="0" tIns="0" rIns="0" bIns="0" rtlCol="0" anchor="ctr"/>
          <a:lstStyle/>
          <a:p>
            <a:pPr indent="0" marL="0">
              <a:buNone/>
            </a:pPr>
            <a:r>
              <a:rPr lang="en-US" sz="1600" b="1" dirty="0">
                <a:solidFill>
                  <a:srgbClr val="17161A"/>
                </a:solidFill>
                <a:latin typeface="Calibri" pitchFamily="34" charset="0"/>
                <a:ea typeface="Calibri" pitchFamily="34" charset="-122"/>
                <a:cs typeface="Calibri" pitchFamily="34" charset="-120"/>
              </a:rPr>
              <a:t>Trust spread, not size.</a:t>
            </a:r>
            <a:endParaRPr lang="en-US" sz="1600" dirty="0"/>
          </a:p>
        </p:txBody>
      </p:sp>
      <p:sp>
        <p:nvSpPr>
          <p:cNvPr id="7" name="Text 5"/>
          <p:cNvSpPr/>
          <p:nvPr/>
        </p:nvSpPr>
        <p:spPr>
          <a:xfrm>
            <a:off x="6400800" y="1755648"/>
            <a:ext cx="5120640" cy="548640"/>
          </a:xfrm>
          <a:prstGeom prst="rect">
            <a:avLst/>
          </a:prstGeom>
          <a:noFill/>
          <a:ln/>
        </p:spPr>
        <p:txBody>
          <a:bodyPr wrap="square" lIns="0" tIns="0" rIns="0" bIns="0" rtlCol="0" anchor="ctr"/>
          <a:lstStyle/>
          <a:p>
            <a:pPr indent="0" marL="0">
              <a:buNone/>
            </a:pPr>
            <a:r>
              <a:rPr lang="en-US" sz="1350" dirty="0">
                <a:solidFill>
                  <a:srgbClr val="55525C"/>
                </a:solidFill>
                <a:latin typeface="Calibri" pitchFamily="34" charset="0"/>
                <a:ea typeface="Calibri" pitchFamily="34" charset="-122"/>
                <a:cs typeface="Calibri" pitchFamily="34" charset="-120"/>
              </a:rPr>
              <a:t>The biggest raw spike in six years was a moderation bot talking to itself.</a:t>
            </a:r>
            <a:endParaRPr lang="en-US" sz="1350" dirty="0"/>
          </a:p>
        </p:txBody>
      </p:sp>
      <p:sp>
        <p:nvSpPr>
          <p:cNvPr id="8" name="Shape 6"/>
          <p:cNvSpPr/>
          <p:nvPr/>
        </p:nvSpPr>
        <p:spPr>
          <a:xfrm>
            <a:off x="640080" y="2587752"/>
            <a:ext cx="420624" cy="420624"/>
          </a:xfrm>
          <a:prstGeom prst="ellipse">
            <a:avLst/>
          </a:prstGeom>
          <a:solidFill>
            <a:srgbClr val="27607A"/>
          </a:solidFill>
          <a:ln w="12700">
            <a:solidFill>
              <a:srgbClr val="27607A"/>
            </a:solidFill>
            <a:prstDash val="solid"/>
          </a:ln>
        </p:spPr>
      </p:sp>
      <p:sp>
        <p:nvSpPr>
          <p:cNvPr id="9" name="Text 7"/>
          <p:cNvSpPr/>
          <p:nvPr/>
        </p:nvSpPr>
        <p:spPr>
          <a:xfrm>
            <a:off x="640080" y="25877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298448" y="2542032"/>
            <a:ext cx="4937760" cy="365760"/>
          </a:xfrm>
          <a:prstGeom prst="rect">
            <a:avLst/>
          </a:prstGeom>
          <a:noFill/>
          <a:ln/>
        </p:spPr>
        <p:txBody>
          <a:bodyPr wrap="square" lIns="0" tIns="0" rIns="0" bIns="0" rtlCol="0" anchor="ctr"/>
          <a:lstStyle/>
          <a:p>
            <a:pPr indent="0" marL="0">
              <a:buNone/>
            </a:pPr>
            <a:r>
              <a:rPr lang="en-US" sz="1600" b="1" dirty="0">
                <a:solidFill>
                  <a:srgbClr val="17161A"/>
                </a:solidFill>
                <a:latin typeface="Calibri" pitchFamily="34" charset="0"/>
                <a:ea typeface="Calibri" pitchFamily="34" charset="-122"/>
                <a:cs typeface="Calibri" pitchFamily="34" charset="-120"/>
              </a:rPr>
              <a:t>Report floors, and say so every time.</a:t>
            </a:r>
            <a:endParaRPr lang="en-US" sz="1600" dirty="0"/>
          </a:p>
        </p:txBody>
      </p:sp>
      <p:sp>
        <p:nvSpPr>
          <p:cNvPr id="11" name="Text 9"/>
          <p:cNvSpPr/>
          <p:nvPr/>
        </p:nvSpPr>
        <p:spPr>
          <a:xfrm>
            <a:off x="6400800" y="2560320"/>
            <a:ext cx="5120640" cy="548640"/>
          </a:xfrm>
          <a:prstGeom prst="rect">
            <a:avLst/>
          </a:prstGeom>
          <a:noFill/>
          <a:ln/>
        </p:spPr>
        <p:txBody>
          <a:bodyPr wrap="square" lIns="0" tIns="0" rIns="0" bIns="0" rtlCol="0" anchor="ctr"/>
          <a:lstStyle/>
          <a:p>
            <a:pPr indent="0" marL="0">
              <a:buNone/>
            </a:pPr>
            <a:r>
              <a:rPr lang="en-US" sz="1350" dirty="0">
                <a:solidFill>
                  <a:srgbClr val="55525C"/>
                </a:solidFill>
                <a:latin typeface="Calibri" pitchFamily="34" charset="0"/>
                <a:ea typeface="Calibri" pitchFamily="34" charset="-122"/>
                <a:cs typeface="Calibri" pitchFamily="34" charset="-120"/>
              </a:rPr>
              <a:t>A floor that everyone understands is worth more than an estimate nobody can defend.</a:t>
            </a:r>
            <a:endParaRPr lang="en-US" sz="1350" dirty="0"/>
          </a:p>
        </p:txBody>
      </p:sp>
      <p:sp>
        <p:nvSpPr>
          <p:cNvPr id="12" name="Shape 10"/>
          <p:cNvSpPr/>
          <p:nvPr/>
        </p:nvSpPr>
        <p:spPr>
          <a:xfrm>
            <a:off x="640080" y="3392424"/>
            <a:ext cx="420624" cy="420624"/>
          </a:xfrm>
          <a:prstGeom prst="ellipse">
            <a:avLst/>
          </a:prstGeom>
          <a:solidFill>
            <a:srgbClr val="C4432A"/>
          </a:solidFill>
          <a:ln w="12700">
            <a:solidFill>
              <a:srgbClr val="C4432A"/>
            </a:solidFill>
            <a:prstDash val="solid"/>
          </a:ln>
        </p:spPr>
      </p:sp>
      <p:sp>
        <p:nvSpPr>
          <p:cNvPr id="13" name="Text 11"/>
          <p:cNvSpPr/>
          <p:nvPr/>
        </p:nvSpPr>
        <p:spPr>
          <a:xfrm>
            <a:off x="640080" y="33924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98448" y="3346704"/>
            <a:ext cx="4937760" cy="365760"/>
          </a:xfrm>
          <a:prstGeom prst="rect">
            <a:avLst/>
          </a:prstGeom>
          <a:noFill/>
          <a:ln/>
        </p:spPr>
        <p:txBody>
          <a:bodyPr wrap="square" lIns="0" tIns="0" rIns="0" bIns="0" rtlCol="0" anchor="ctr"/>
          <a:lstStyle/>
          <a:p>
            <a:pPr indent="0" marL="0">
              <a:buNone/>
            </a:pPr>
            <a:r>
              <a:rPr lang="en-US" sz="1600" b="1" dirty="0">
                <a:solidFill>
                  <a:srgbClr val="17161A"/>
                </a:solidFill>
                <a:latin typeface="Calibri" pitchFamily="34" charset="0"/>
                <a:ea typeface="Calibri" pitchFamily="34" charset="-122"/>
                <a:cs typeface="Calibri" pitchFamily="34" charset="-120"/>
              </a:rPr>
              <a:t>Never use toxicity as a scam screen.</a:t>
            </a:r>
            <a:endParaRPr lang="en-US" sz="1600" dirty="0"/>
          </a:p>
        </p:txBody>
      </p:sp>
      <p:sp>
        <p:nvSpPr>
          <p:cNvPr id="15" name="Text 13"/>
          <p:cNvSpPr/>
          <p:nvPr/>
        </p:nvSpPr>
        <p:spPr>
          <a:xfrm>
            <a:off x="6400800" y="3364992"/>
            <a:ext cx="5120640" cy="548640"/>
          </a:xfrm>
          <a:prstGeom prst="rect">
            <a:avLst/>
          </a:prstGeom>
          <a:noFill/>
          <a:ln/>
        </p:spPr>
        <p:txBody>
          <a:bodyPr wrap="square" lIns="0" tIns="0" rIns="0" bIns="0" rtlCol="0" anchor="ctr"/>
          <a:lstStyle/>
          <a:p>
            <a:pPr indent="0" marL="0">
              <a:buNone/>
            </a:pPr>
            <a:r>
              <a:rPr lang="en-US" sz="1350" dirty="0">
                <a:solidFill>
                  <a:srgbClr val="55525C"/>
                </a:solidFill>
                <a:latin typeface="Calibri" pitchFamily="34" charset="0"/>
                <a:ea typeface="Calibri" pitchFamily="34" charset="-122"/>
                <a:cs typeface="Calibri" pitchFamily="34" charset="-120"/>
              </a:rPr>
              <a:t>The largest harm in this environment is polite. It is engineered to pass.</a:t>
            </a:r>
            <a:endParaRPr lang="en-US" sz="1350" dirty="0"/>
          </a:p>
        </p:txBody>
      </p:sp>
      <p:sp>
        <p:nvSpPr>
          <p:cNvPr id="16" name="Shape 14"/>
          <p:cNvSpPr/>
          <p:nvPr/>
        </p:nvSpPr>
        <p:spPr>
          <a:xfrm>
            <a:off x="640080" y="4197096"/>
            <a:ext cx="420624" cy="420624"/>
          </a:xfrm>
          <a:prstGeom prst="ellipse">
            <a:avLst/>
          </a:prstGeom>
          <a:solidFill>
            <a:srgbClr val="27607A"/>
          </a:solidFill>
          <a:ln w="12700">
            <a:solidFill>
              <a:srgbClr val="27607A"/>
            </a:solidFill>
            <a:prstDash val="solid"/>
          </a:ln>
        </p:spPr>
      </p:sp>
      <p:sp>
        <p:nvSpPr>
          <p:cNvPr id="17" name="Text 15"/>
          <p:cNvSpPr/>
          <p:nvPr/>
        </p:nvSpPr>
        <p:spPr>
          <a:xfrm>
            <a:off x="640080" y="41970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298448" y="4151376"/>
            <a:ext cx="4937760" cy="365760"/>
          </a:xfrm>
          <a:prstGeom prst="rect">
            <a:avLst/>
          </a:prstGeom>
          <a:noFill/>
          <a:ln/>
        </p:spPr>
        <p:txBody>
          <a:bodyPr wrap="square" lIns="0" tIns="0" rIns="0" bIns="0" rtlCol="0" anchor="ctr"/>
          <a:lstStyle/>
          <a:p>
            <a:pPr indent="0" marL="0">
              <a:buNone/>
            </a:pPr>
            <a:r>
              <a:rPr lang="en-US" sz="1600" b="1" dirty="0">
                <a:solidFill>
                  <a:srgbClr val="17161A"/>
                </a:solidFill>
                <a:latin typeface="Calibri" pitchFamily="34" charset="0"/>
                <a:ea typeface="Calibri" pitchFamily="34" charset="-122"/>
                <a:cs typeface="Calibri" pitchFamily="34" charset="-120"/>
              </a:rPr>
              <a:t>Assume the model is confidently wrong somewhere.</a:t>
            </a:r>
            <a:endParaRPr lang="en-US" sz="1600" dirty="0"/>
          </a:p>
        </p:txBody>
      </p:sp>
      <p:sp>
        <p:nvSpPr>
          <p:cNvPr id="19" name="Text 17"/>
          <p:cNvSpPr/>
          <p:nvPr/>
        </p:nvSpPr>
        <p:spPr>
          <a:xfrm>
            <a:off x="6400800" y="4169664"/>
            <a:ext cx="5120640" cy="548640"/>
          </a:xfrm>
          <a:prstGeom prst="rect">
            <a:avLst/>
          </a:prstGeom>
          <a:noFill/>
          <a:ln/>
        </p:spPr>
        <p:txBody>
          <a:bodyPr wrap="square" lIns="0" tIns="0" rIns="0" bIns="0" rtlCol="0" anchor="ctr"/>
          <a:lstStyle/>
          <a:p>
            <a:pPr indent="0" marL="0">
              <a:buNone/>
            </a:pPr>
            <a:r>
              <a:rPr lang="en-US" sz="1350" dirty="0">
                <a:solidFill>
                  <a:srgbClr val="55525C"/>
                </a:solidFill>
                <a:latin typeface="Calibri" pitchFamily="34" charset="0"/>
                <a:ea typeface="Calibri" pitchFamily="34" charset="-122"/>
                <a:cs typeface="Calibri" pitchFamily="34" charset="-120"/>
              </a:rPr>
              <a:t>Find where. Sarcasm was the where, here — it will be somewhere else next time.</a:t>
            </a:r>
            <a:endParaRPr lang="en-US" sz="1350" dirty="0"/>
          </a:p>
        </p:txBody>
      </p:sp>
      <p:sp>
        <p:nvSpPr>
          <p:cNvPr id="20" name="Shape 18"/>
          <p:cNvSpPr/>
          <p:nvPr/>
        </p:nvSpPr>
        <p:spPr>
          <a:xfrm>
            <a:off x="640080" y="5001768"/>
            <a:ext cx="420624" cy="420624"/>
          </a:xfrm>
          <a:prstGeom prst="ellipse">
            <a:avLst/>
          </a:prstGeom>
          <a:solidFill>
            <a:srgbClr val="C4432A"/>
          </a:solidFill>
          <a:ln w="12700">
            <a:solidFill>
              <a:srgbClr val="C4432A"/>
            </a:solidFill>
            <a:prstDash val="solid"/>
          </a:ln>
        </p:spPr>
      </p:sp>
      <p:sp>
        <p:nvSpPr>
          <p:cNvPr id="21" name="Text 19"/>
          <p:cNvSpPr/>
          <p:nvPr/>
        </p:nvSpPr>
        <p:spPr>
          <a:xfrm>
            <a:off x="640080" y="50017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1298448" y="4956048"/>
            <a:ext cx="4937760" cy="365760"/>
          </a:xfrm>
          <a:prstGeom prst="rect">
            <a:avLst/>
          </a:prstGeom>
          <a:noFill/>
          <a:ln/>
        </p:spPr>
        <p:txBody>
          <a:bodyPr wrap="square" lIns="0" tIns="0" rIns="0" bIns="0" rtlCol="0" anchor="ctr"/>
          <a:lstStyle/>
          <a:p>
            <a:pPr indent="0" marL="0">
              <a:buNone/>
            </a:pPr>
            <a:r>
              <a:rPr lang="en-US" sz="1600" b="1" dirty="0">
                <a:solidFill>
                  <a:srgbClr val="17161A"/>
                </a:solidFill>
                <a:latin typeface="Calibri" pitchFamily="34" charset="0"/>
                <a:ea typeface="Calibri" pitchFamily="34" charset="-122"/>
                <a:cs typeface="Calibri" pitchFamily="34" charset="-120"/>
              </a:rPr>
              <a:t>Publish the negative results.</a:t>
            </a:r>
            <a:endParaRPr lang="en-US" sz="1600" dirty="0"/>
          </a:p>
        </p:txBody>
      </p:sp>
      <p:sp>
        <p:nvSpPr>
          <p:cNvPr id="23" name="Text 21"/>
          <p:cNvSpPr/>
          <p:nvPr/>
        </p:nvSpPr>
        <p:spPr>
          <a:xfrm>
            <a:off x="6400800" y="4974336"/>
            <a:ext cx="5120640" cy="548640"/>
          </a:xfrm>
          <a:prstGeom prst="rect">
            <a:avLst/>
          </a:prstGeom>
          <a:noFill/>
          <a:ln/>
        </p:spPr>
        <p:txBody>
          <a:bodyPr wrap="square" lIns="0" tIns="0" rIns="0" bIns="0" rtlCol="0" anchor="ctr"/>
          <a:lstStyle/>
          <a:p>
            <a:pPr indent="0" marL="0">
              <a:buNone/>
            </a:pPr>
            <a:r>
              <a:rPr lang="en-US" sz="1350" dirty="0">
                <a:solidFill>
                  <a:srgbClr val="55525C"/>
                </a:solidFill>
                <a:latin typeface="Calibri" pitchFamily="34" charset="0"/>
                <a:ea typeface="Calibri" pitchFamily="34" charset="-122"/>
                <a:cs typeface="Calibri" pitchFamily="34" charset="-120"/>
              </a:rPr>
              <a:t>A report that only says what it found is not a trustworthy report.</a:t>
            </a:r>
            <a:endParaRPr lang="en-US" sz="1350" dirty="0"/>
          </a:p>
        </p:txBody>
      </p:sp>
      <p:sp>
        <p:nvSpPr>
          <p:cNvPr id="24" name="Shape 22"/>
          <p:cNvSpPr/>
          <p:nvPr/>
        </p:nvSpPr>
        <p:spPr>
          <a:xfrm>
            <a:off x="640080" y="5486400"/>
            <a:ext cx="10881360" cy="685800"/>
          </a:xfrm>
          <a:prstGeom prst="roundRect">
            <a:avLst>
              <a:gd name="adj" fmla="val 8000"/>
            </a:avLst>
          </a:prstGeom>
          <a:solidFill>
            <a:srgbClr val="FBF0ED"/>
          </a:solidFill>
          <a:ln w="12700">
            <a:solidFill>
              <a:srgbClr val="FBF0ED"/>
            </a:solidFill>
            <a:prstDash val="solid"/>
          </a:ln>
        </p:spPr>
      </p:sp>
      <p:sp>
        <p:nvSpPr>
          <p:cNvPr id="25" name="Text 23"/>
          <p:cNvSpPr/>
          <p:nvPr/>
        </p:nvSpPr>
        <p:spPr>
          <a:xfrm>
            <a:off x="1005840" y="5559552"/>
            <a:ext cx="10149840" cy="548640"/>
          </a:xfrm>
          <a:prstGeom prst="rect">
            <a:avLst/>
          </a:prstGeom>
          <a:noFill/>
          <a:ln/>
        </p:spPr>
        <p:txBody>
          <a:bodyPr wrap="square" lIns="0" tIns="0" rIns="0" bIns="0" rtlCol="0" anchor="ctr"/>
          <a:lstStyle/>
          <a:p>
            <a:pPr indent="0" marL="0">
              <a:buNone/>
            </a:pPr>
            <a:r>
              <a:rPr lang="en-US" sz="1400" dirty="0">
                <a:solidFill>
                  <a:srgbClr val="17161A"/>
                </a:solidFill>
                <a:latin typeface="Calibri" pitchFamily="34" charset="0"/>
                <a:ea typeface="Calibri" pitchFamily="34" charset="-122"/>
                <a:cs typeface="Calibri" pitchFamily="34" charset="-120"/>
              </a:rPr>
              <a:t>The negative-results chapter is the one I'd read first if someone handed me this report. It is Chapter 15.</a:t>
            </a:r>
            <a:endParaRPr lang="en-US" sz="1400" dirty="0"/>
          </a:p>
        </p:txBody>
      </p:sp>
      <p:sp>
        <p:nvSpPr>
          <p:cNvPr id="26" name="Text 24"/>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27" name="Text 25"/>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LESSON 3 · THE HANDOVER</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What I'd fund next, in order of leverage</a:t>
            </a:r>
            <a:endParaRPr lang="en-US" sz="3400" dirty="0"/>
          </a:p>
        </p:txBody>
      </p:sp>
      <p:sp>
        <p:nvSpPr>
          <p:cNvPr id="4" name="Shape 2"/>
          <p:cNvSpPr/>
          <p:nvPr/>
        </p:nvSpPr>
        <p:spPr>
          <a:xfrm>
            <a:off x="640080" y="1691640"/>
            <a:ext cx="10881360" cy="777240"/>
          </a:xfrm>
          <a:prstGeom prst="roundRect">
            <a:avLst>
              <a:gd name="adj" fmla="val 7059"/>
            </a:avLst>
          </a:prstGeom>
          <a:solidFill>
            <a:srgbClr val="FBF0ED"/>
          </a:solidFill>
          <a:ln w="12700">
            <a:solidFill>
              <a:srgbClr val="FBF0ED"/>
            </a:solidFill>
            <a:prstDash val="solid"/>
          </a:ln>
        </p:spPr>
      </p:sp>
      <p:sp>
        <p:nvSpPr>
          <p:cNvPr id="5" name="Shape 3"/>
          <p:cNvSpPr/>
          <p:nvPr/>
        </p:nvSpPr>
        <p:spPr>
          <a:xfrm>
            <a:off x="914400" y="1847088"/>
            <a:ext cx="457200" cy="457200"/>
          </a:xfrm>
          <a:prstGeom prst="ellipse">
            <a:avLst/>
          </a:prstGeom>
          <a:solidFill>
            <a:srgbClr val="C4432A"/>
          </a:solidFill>
          <a:ln w="12700">
            <a:solidFill>
              <a:srgbClr val="C4432A"/>
            </a:solidFill>
            <a:prstDash val="solid"/>
          </a:ln>
        </p:spPr>
      </p:sp>
      <p:sp>
        <p:nvSpPr>
          <p:cNvPr id="6" name="Text 4"/>
          <p:cNvSpPr/>
          <p:nvPr/>
        </p:nvSpPr>
        <p:spPr>
          <a:xfrm>
            <a:off x="914400" y="18470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554480" y="1764792"/>
            <a:ext cx="2926080" cy="621792"/>
          </a:xfrm>
          <a:prstGeom prst="rect">
            <a:avLst/>
          </a:prstGeom>
          <a:noFill/>
          <a:ln/>
        </p:spPr>
        <p:txBody>
          <a:bodyPr wrap="square" lIns="0" tIns="0" rIns="0" bIns="0" rtlCol="0" anchor="ctr"/>
          <a:lstStyle/>
          <a:p>
            <a:pPr indent="0" marL="0">
              <a:buNone/>
            </a:pPr>
            <a:r>
              <a:rPr lang="en-US" sz="1400" b="1" dirty="0">
                <a:solidFill>
                  <a:srgbClr val="17161A"/>
                </a:solidFill>
                <a:latin typeface="Calibri" pitchFamily="34" charset="0"/>
                <a:ea typeface="Calibri" pitchFamily="34" charset="-122"/>
                <a:cs typeface="Calibri" pitchFamily="34" charset="-120"/>
              </a:rPr>
              <a:t>Paraphrase-aware detection</a:t>
            </a:r>
            <a:endParaRPr lang="en-US" sz="1400" dirty="0"/>
          </a:p>
        </p:txBody>
      </p:sp>
      <p:sp>
        <p:nvSpPr>
          <p:cNvPr id="8" name="Text 6"/>
          <p:cNvSpPr/>
          <p:nvPr/>
        </p:nvSpPr>
        <p:spPr>
          <a:xfrm>
            <a:off x="4572000" y="1764792"/>
            <a:ext cx="5349240" cy="621792"/>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Semantic clustering calibrated against the same injected campaigns. Turns every floor in the report into a bounded estimate.</a:t>
            </a:r>
            <a:endParaRPr lang="en-US" sz="1200" dirty="0"/>
          </a:p>
        </p:txBody>
      </p:sp>
      <p:sp>
        <p:nvSpPr>
          <p:cNvPr id="9" name="Text 7"/>
          <p:cNvSpPr/>
          <p:nvPr/>
        </p:nvSpPr>
        <p:spPr>
          <a:xfrm>
            <a:off x="10058400" y="1764792"/>
            <a:ext cx="1234440" cy="621792"/>
          </a:xfrm>
          <a:prstGeom prst="rect">
            <a:avLst/>
          </a:prstGeom>
          <a:noFill/>
          <a:ln/>
        </p:spPr>
        <p:txBody>
          <a:bodyPr wrap="square" lIns="0" tIns="0" rIns="0" bIns="0" rtlCol="0" anchor="ctr"/>
          <a:lstStyle/>
          <a:p>
            <a:pPr algn="r" indent="0" marL="0">
              <a:buNone/>
            </a:pPr>
            <a:r>
              <a:rPr lang="en-US" sz="1100" b="1" dirty="0">
                <a:solidFill>
                  <a:srgbClr val="C4432A"/>
                </a:solidFill>
                <a:latin typeface="Calibri" pitchFamily="34" charset="0"/>
                <a:ea typeface="Calibri" pitchFamily="34" charset="-122"/>
                <a:cs typeface="Calibri" pitchFamily="34" charset="-120"/>
              </a:rPr>
              <a:t>Highest leverage</a:t>
            </a:r>
            <a:endParaRPr lang="en-US" sz="1100" dirty="0"/>
          </a:p>
        </p:txBody>
      </p:sp>
      <p:sp>
        <p:nvSpPr>
          <p:cNvPr id="10" name="Shape 8"/>
          <p:cNvSpPr/>
          <p:nvPr/>
        </p:nvSpPr>
        <p:spPr>
          <a:xfrm>
            <a:off x="640080" y="2560320"/>
            <a:ext cx="10881360" cy="777240"/>
          </a:xfrm>
          <a:prstGeom prst="roundRect">
            <a:avLst>
              <a:gd name="adj" fmla="val 7059"/>
            </a:avLst>
          </a:prstGeom>
          <a:solidFill>
            <a:srgbClr val="FAF9F8"/>
          </a:solidFill>
          <a:ln w="12700">
            <a:solidFill>
              <a:srgbClr val="E4E1DE"/>
            </a:solidFill>
            <a:prstDash val="solid"/>
          </a:ln>
        </p:spPr>
      </p:sp>
      <p:sp>
        <p:nvSpPr>
          <p:cNvPr id="11" name="Shape 9"/>
          <p:cNvSpPr/>
          <p:nvPr/>
        </p:nvSpPr>
        <p:spPr>
          <a:xfrm>
            <a:off x="914400" y="2715768"/>
            <a:ext cx="457200" cy="457200"/>
          </a:xfrm>
          <a:prstGeom prst="ellipse">
            <a:avLst/>
          </a:prstGeom>
          <a:solidFill>
            <a:srgbClr val="17161A"/>
          </a:solidFill>
          <a:ln w="12700">
            <a:solidFill>
              <a:srgbClr val="17161A"/>
            </a:solidFill>
            <a:prstDash val="solid"/>
          </a:ln>
        </p:spPr>
      </p:sp>
      <p:sp>
        <p:nvSpPr>
          <p:cNvPr id="12" name="Text 10"/>
          <p:cNvSpPr/>
          <p:nvPr/>
        </p:nvSpPr>
        <p:spPr>
          <a:xfrm>
            <a:off x="914400" y="27157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554480" y="2633472"/>
            <a:ext cx="2926080" cy="621792"/>
          </a:xfrm>
          <a:prstGeom prst="rect">
            <a:avLst/>
          </a:prstGeom>
          <a:noFill/>
          <a:ln/>
        </p:spPr>
        <p:txBody>
          <a:bodyPr wrap="square" lIns="0" tIns="0" rIns="0" bIns="0" rtlCol="0" anchor="ctr"/>
          <a:lstStyle/>
          <a:p>
            <a:pPr indent="0" marL="0">
              <a:buNone/>
            </a:pPr>
            <a:r>
              <a:rPr lang="en-US" sz="1400" b="1" dirty="0">
                <a:solidFill>
                  <a:srgbClr val="17161A"/>
                </a:solidFill>
                <a:latin typeface="Calibri" pitchFamily="34" charset="0"/>
                <a:ea typeface="Calibri" pitchFamily="34" charset="-122"/>
                <a:cs typeface="Calibri" pitchFamily="34" charset="-120"/>
              </a:rPr>
              <a:t>From floors to prevalence</a:t>
            </a:r>
            <a:endParaRPr lang="en-US" sz="1400" dirty="0"/>
          </a:p>
        </p:txBody>
      </p:sp>
      <p:sp>
        <p:nvSpPr>
          <p:cNvPr id="14" name="Text 12"/>
          <p:cNvSpPr/>
          <p:nvPr/>
        </p:nvSpPr>
        <p:spPr>
          <a:xfrm>
            <a:off x="4572000" y="2633472"/>
            <a:ext cx="5349240" cy="621792"/>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Larger, stratified, multilingual gold sets. Annotation work, not new collection — cheap relative to its value.</a:t>
            </a:r>
            <a:endParaRPr lang="en-US" sz="1200" dirty="0"/>
          </a:p>
        </p:txBody>
      </p:sp>
      <p:sp>
        <p:nvSpPr>
          <p:cNvPr id="15" name="Text 13"/>
          <p:cNvSpPr/>
          <p:nvPr/>
        </p:nvSpPr>
        <p:spPr>
          <a:xfrm>
            <a:off x="10058400" y="2633472"/>
            <a:ext cx="1234440" cy="621792"/>
          </a:xfrm>
          <a:prstGeom prst="rect">
            <a:avLst/>
          </a:prstGeom>
          <a:noFill/>
          <a:ln/>
        </p:spPr>
        <p:txBody>
          <a:bodyPr wrap="square" lIns="0" tIns="0" rIns="0" bIns="0" rtlCol="0" anchor="ctr"/>
          <a:lstStyle/>
          <a:p>
            <a:pPr algn="r" indent="0" marL="0">
              <a:buNone/>
            </a:pPr>
            <a:r>
              <a:rPr lang="en-US" sz="1100" b="1" dirty="0">
                <a:solidFill>
                  <a:srgbClr val="8A8691"/>
                </a:solidFill>
                <a:latin typeface="Calibri" pitchFamily="34" charset="0"/>
                <a:ea typeface="Calibri" pitchFamily="34" charset="-122"/>
                <a:cs typeface="Calibri" pitchFamily="34" charset="-120"/>
              </a:rPr>
              <a:t>Cheapest win</a:t>
            </a:r>
            <a:endParaRPr lang="en-US" sz="1100" dirty="0"/>
          </a:p>
        </p:txBody>
      </p:sp>
      <p:sp>
        <p:nvSpPr>
          <p:cNvPr id="16" name="Shape 14"/>
          <p:cNvSpPr/>
          <p:nvPr/>
        </p:nvSpPr>
        <p:spPr>
          <a:xfrm>
            <a:off x="640080" y="3429000"/>
            <a:ext cx="10881360" cy="777240"/>
          </a:xfrm>
          <a:prstGeom prst="roundRect">
            <a:avLst>
              <a:gd name="adj" fmla="val 7059"/>
            </a:avLst>
          </a:prstGeom>
          <a:solidFill>
            <a:srgbClr val="FAF9F8"/>
          </a:solidFill>
          <a:ln w="12700">
            <a:solidFill>
              <a:srgbClr val="E4E1DE"/>
            </a:solidFill>
            <a:prstDash val="solid"/>
          </a:ln>
        </p:spPr>
      </p:sp>
      <p:sp>
        <p:nvSpPr>
          <p:cNvPr id="17" name="Shape 15"/>
          <p:cNvSpPr/>
          <p:nvPr/>
        </p:nvSpPr>
        <p:spPr>
          <a:xfrm>
            <a:off x="914400" y="3584448"/>
            <a:ext cx="457200" cy="457200"/>
          </a:xfrm>
          <a:prstGeom prst="ellipse">
            <a:avLst/>
          </a:prstGeom>
          <a:solidFill>
            <a:srgbClr val="17161A"/>
          </a:solidFill>
          <a:ln w="12700">
            <a:solidFill>
              <a:srgbClr val="17161A"/>
            </a:solidFill>
            <a:prstDash val="solid"/>
          </a:ln>
        </p:spPr>
      </p:sp>
      <p:sp>
        <p:nvSpPr>
          <p:cNvPr id="18" name="Text 16"/>
          <p:cNvSpPr/>
          <p:nvPr/>
        </p:nvSpPr>
        <p:spPr>
          <a:xfrm>
            <a:off x="914400" y="35844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554480" y="3502152"/>
            <a:ext cx="2926080" cy="621792"/>
          </a:xfrm>
          <a:prstGeom prst="rect">
            <a:avLst/>
          </a:prstGeom>
          <a:noFill/>
          <a:ln/>
        </p:spPr>
        <p:txBody>
          <a:bodyPr wrap="square" lIns="0" tIns="0" rIns="0" bIns="0" rtlCol="0" anchor="ctr"/>
          <a:lstStyle/>
          <a:p>
            <a:pPr indent="0" marL="0">
              <a:buNone/>
            </a:pPr>
            <a:r>
              <a:rPr lang="en-US" sz="1400" b="1" dirty="0">
                <a:solidFill>
                  <a:srgbClr val="17161A"/>
                </a:solidFill>
                <a:latin typeface="Calibri" pitchFamily="34" charset="0"/>
                <a:ea typeface="Calibri" pitchFamily="34" charset="-122"/>
                <a:cs typeface="Calibri" pitchFamily="34" charset="-120"/>
              </a:rPr>
              <a:t>A multi-model labelling stack</a:t>
            </a:r>
            <a:endParaRPr lang="en-US" sz="1400" dirty="0"/>
          </a:p>
        </p:txBody>
      </p:sp>
      <p:sp>
        <p:nvSpPr>
          <p:cNvPr id="20" name="Text 18"/>
          <p:cNvSpPr/>
          <p:nvPr/>
        </p:nvSpPr>
        <p:spPr>
          <a:xfrm>
            <a:off x="4572000" y="3502152"/>
            <a:ext cx="5349240" cy="621792"/>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Several models against one human-adjudicated benchmark, with failure modes published. Human validation as standing practice.</a:t>
            </a:r>
            <a:endParaRPr lang="en-US" sz="1200" dirty="0"/>
          </a:p>
        </p:txBody>
      </p:sp>
      <p:sp>
        <p:nvSpPr>
          <p:cNvPr id="21" name="Text 19"/>
          <p:cNvSpPr/>
          <p:nvPr/>
        </p:nvSpPr>
        <p:spPr>
          <a:xfrm>
            <a:off x="10058400" y="3502152"/>
            <a:ext cx="1234440" cy="621792"/>
          </a:xfrm>
          <a:prstGeom prst="rect">
            <a:avLst/>
          </a:prstGeom>
          <a:noFill/>
          <a:ln/>
        </p:spPr>
        <p:txBody>
          <a:bodyPr wrap="square" lIns="0" tIns="0" rIns="0" bIns="0" rtlCol="0" anchor="ctr"/>
          <a:lstStyle/>
          <a:p>
            <a:pPr algn="r" indent="0" marL="0">
              <a:buNone/>
            </a:pPr>
            <a:r>
              <a:rPr lang="en-US" sz="1100" b="1" dirty="0">
                <a:solidFill>
                  <a:srgbClr val="8A8691"/>
                </a:solidFill>
                <a:latin typeface="Calibri" pitchFamily="34" charset="0"/>
                <a:ea typeface="Calibri" pitchFamily="34" charset="-122"/>
                <a:cs typeface="Calibri" pitchFamily="34" charset="-120"/>
              </a:rPr>
              <a:t>Highest rigour</a:t>
            </a:r>
            <a:endParaRPr lang="en-US" sz="1100" dirty="0"/>
          </a:p>
        </p:txBody>
      </p:sp>
      <p:sp>
        <p:nvSpPr>
          <p:cNvPr id="22" name="Shape 20"/>
          <p:cNvSpPr/>
          <p:nvPr/>
        </p:nvSpPr>
        <p:spPr>
          <a:xfrm>
            <a:off x="640080" y="4297680"/>
            <a:ext cx="10881360" cy="777240"/>
          </a:xfrm>
          <a:prstGeom prst="roundRect">
            <a:avLst>
              <a:gd name="adj" fmla="val 7059"/>
            </a:avLst>
          </a:prstGeom>
          <a:solidFill>
            <a:srgbClr val="FAF9F8"/>
          </a:solidFill>
          <a:ln w="12700">
            <a:solidFill>
              <a:srgbClr val="E4E1DE"/>
            </a:solidFill>
            <a:prstDash val="solid"/>
          </a:ln>
        </p:spPr>
      </p:sp>
      <p:sp>
        <p:nvSpPr>
          <p:cNvPr id="23" name="Shape 21"/>
          <p:cNvSpPr/>
          <p:nvPr/>
        </p:nvSpPr>
        <p:spPr>
          <a:xfrm>
            <a:off x="914400" y="4453128"/>
            <a:ext cx="457200" cy="457200"/>
          </a:xfrm>
          <a:prstGeom prst="ellipse">
            <a:avLst/>
          </a:prstGeom>
          <a:solidFill>
            <a:srgbClr val="17161A"/>
          </a:solidFill>
          <a:ln w="12700">
            <a:solidFill>
              <a:srgbClr val="17161A"/>
            </a:solidFill>
            <a:prstDash val="solid"/>
          </a:ln>
        </p:spPr>
      </p:sp>
      <p:sp>
        <p:nvSpPr>
          <p:cNvPr id="24" name="Text 22"/>
          <p:cNvSpPr/>
          <p:nvPr/>
        </p:nvSpPr>
        <p:spPr>
          <a:xfrm>
            <a:off x="914400" y="44531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1554480" y="4370832"/>
            <a:ext cx="2926080" cy="621792"/>
          </a:xfrm>
          <a:prstGeom prst="rect">
            <a:avLst/>
          </a:prstGeom>
          <a:noFill/>
          <a:ln/>
        </p:spPr>
        <p:txBody>
          <a:bodyPr wrap="square" lIns="0" tIns="0" rIns="0" bIns="0" rtlCol="0" anchor="ctr"/>
          <a:lstStyle/>
          <a:p>
            <a:pPr indent="0" marL="0">
              <a:buNone/>
            </a:pPr>
            <a:r>
              <a:rPr lang="en-US" sz="1400" b="1" dirty="0">
                <a:solidFill>
                  <a:srgbClr val="17161A"/>
                </a:solidFill>
                <a:latin typeface="Calibri" pitchFamily="34" charset="0"/>
                <a:ea typeface="Calibri" pitchFamily="34" charset="-122"/>
                <a:cs typeface="Calibri" pitchFamily="34" charset="-120"/>
              </a:rPr>
              <a:t>Instagram, TikTok, X</a:t>
            </a:r>
            <a:endParaRPr lang="en-US" sz="1400" dirty="0"/>
          </a:p>
        </p:txBody>
      </p:sp>
      <p:sp>
        <p:nvSpPr>
          <p:cNvPr id="26" name="Text 24"/>
          <p:cNvSpPr/>
          <p:nvPr/>
        </p:nvSpPr>
        <p:spPr>
          <a:xfrm>
            <a:off x="4572000" y="4370832"/>
            <a:ext cx="5349240" cy="621792"/>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Delivered but unanalysed. The lead-lag result is already moving — a monitor fixed on one platform decays.</a:t>
            </a:r>
            <a:endParaRPr lang="en-US" sz="1200" dirty="0"/>
          </a:p>
        </p:txBody>
      </p:sp>
      <p:sp>
        <p:nvSpPr>
          <p:cNvPr id="27" name="Text 25"/>
          <p:cNvSpPr/>
          <p:nvPr/>
        </p:nvSpPr>
        <p:spPr>
          <a:xfrm>
            <a:off x="10058400" y="4370832"/>
            <a:ext cx="1234440" cy="621792"/>
          </a:xfrm>
          <a:prstGeom prst="rect">
            <a:avLst/>
          </a:prstGeom>
          <a:noFill/>
          <a:ln/>
        </p:spPr>
        <p:txBody>
          <a:bodyPr wrap="square" lIns="0" tIns="0" rIns="0" bIns="0" rtlCol="0" anchor="ctr"/>
          <a:lstStyle/>
          <a:p>
            <a:pPr algn="r" indent="0" marL="0">
              <a:buNone/>
            </a:pPr>
            <a:r>
              <a:rPr lang="en-US" sz="1100" b="1" dirty="0">
                <a:solidFill>
                  <a:srgbClr val="8A8691"/>
                </a:solidFill>
                <a:latin typeface="Calibri" pitchFamily="34" charset="0"/>
                <a:ea typeface="Calibri" pitchFamily="34" charset="-122"/>
                <a:cs typeface="Calibri" pitchFamily="34" charset="-120"/>
              </a:rPr>
              <a:t>Widest coverage</a:t>
            </a:r>
            <a:endParaRPr lang="en-US" sz="1100" dirty="0"/>
          </a:p>
        </p:txBody>
      </p:sp>
      <p:sp>
        <p:nvSpPr>
          <p:cNvPr id="28" name="Shape 26"/>
          <p:cNvSpPr/>
          <p:nvPr/>
        </p:nvSpPr>
        <p:spPr>
          <a:xfrm>
            <a:off x="640080" y="5166360"/>
            <a:ext cx="10881360" cy="777240"/>
          </a:xfrm>
          <a:prstGeom prst="roundRect">
            <a:avLst>
              <a:gd name="adj" fmla="val 7059"/>
            </a:avLst>
          </a:prstGeom>
          <a:solidFill>
            <a:srgbClr val="FAF9F8"/>
          </a:solidFill>
          <a:ln w="12700">
            <a:solidFill>
              <a:srgbClr val="E4E1DE"/>
            </a:solidFill>
            <a:prstDash val="solid"/>
          </a:ln>
        </p:spPr>
      </p:sp>
      <p:sp>
        <p:nvSpPr>
          <p:cNvPr id="29" name="Shape 27"/>
          <p:cNvSpPr/>
          <p:nvPr/>
        </p:nvSpPr>
        <p:spPr>
          <a:xfrm>
            <a:off x="914400" y="5321808"/>
            <a:ext cx="457200" cy="457200"/>
          </a:xfrm>
          <a:prstGeom prst="ellipse">
            <a:avLst/>
          </a:prstGeom>
          <a:solidFill>
            <a:srgbClr val="17161A"/>
          </a:solidFill>
          <a:ln w="12700">
            <a:solidFill>
              <a:srgbClr val="17161A"/>
            </a:solidFill>
            <a:prstDash val="solid"/>
          </a:ln>
        </p:spPr>
      </p:sp>
      <p:sp>
        <p:nvSpPr>
          <p:cNvPr id="30" name="Text 28"/>
          <p:cNvSpPr/>
          <p:nvPr/>
        </p:nvSpPr>
        <p:spPr>
          <a:xfrm>
            <a:off x="914400" y="532180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p:nvPr/>
        </p:nvSpPr>
        <p:spPr>
          <a:xfrm>
            <a:off x="1554480" y="5239512"/>
            <a:ext cx="2926080" cy="621792"/>
          </a:xfrm>
          <a:prstGeom prst="rect">
            <a:avLst/>
          </a:prstGeom>
          <a:noFill/>
          <a:ln/>
        </p:spPr>
        <p:txBody>
          <a:bodyPr wrap="square" lIns="0" tIns="0" rIns="0" bIns="0" rtlCol="0" anchor="ctr"/>
          <a:lstStyle/>
          <a:p>
            <a:pPr indent="0" marL="0">
              <a:buNone/>
            </a:pPr>
            <a:r>
              <a:rPr lang="en-US" sz="1400" b="1" dirty="0">
                <a:solidFill>
                  <a:srgbClr val="17161A"/>
                </a:solidFill>
                <a:latin typeface="Calibri" pitchFamily="34" charset="0"/>
                <a:ea typeface="Calibri" pitchFamily="34" charset="-122"/>
                <a:cs typeface="Calibri" pitchFamily="34" charset="-120"/>
              </a:rPr>
              <a:t>Infrastructure-anchored monitoring</a:t>
            </a:r>
            <a:endParaRPr lang="en-US" sz="1400" dirty="0"/>
          </a:p>
        </p:txBody>
      </p:sp>
      <p:sp>
        <p:nvSpPr>
          <p:cNvPr id="32" name="Text 30"/>
          <p:cNvSpPr/>
          <p:nvPr/>
        </p:nvSpPr>
        <p:spPr>
          <a:xfrm>
            <a:off x="4572000" y="5239512"/>
            <a:ext cx="5349240" cy="621792"/>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A 91-day burner cycle is exactly what a standing monitor is for. Retrospective findings become early warning.</a:t>
            </a:r>
            <a:endParaRPr lang="en-US" sz="1200" dirty="0"/>
          </a:p>
        </p:txBody>
      </p:sp>
      <p:sp>
        <p:nvSpPr>
          <p:cNvPr id="33" name="Text 31"/>
          <p:cNvSpPr/>
          <p:nvPr/>
        </p:nvSpPr>
        <p:spPr>
          <a:xfrm>
            <a:off x="10058400" y="5239512"/>
            <a:ext cx="1234440" cy="621792"/>
          </a:xfrm>
          <a:prstGeom prst="rect">
            <a:avLst/>
          </a:prstGeom>
          <a:noFill/>
          <a:ln/>
        </p:spPr>
        <p:txBody>
          <a:bodyPr wrap="square" lIns="0" tIns="0" rIns="0" bIns="0" rtlCol="0" anchor="ctr"/>
          <a:lstStyle/>
          <a:p>
            <a:pPr algn="r" indent="0" marL="0">
              <a:buNone/>
            </a:pPr>
            <a:r>
              <a:rPr lang="en-US" sz="1100" b="1" dirty="0">
                <a:solidFill>
                  <a:srgbClr val="8A8691"/>
                </a:solidFill>
                <a:latin typeface="Calibri" pitchFamily="34" charset="0"/>
                <a:ea typeface="Calibri" pitchFamily="34" charset="-122"/>
                <a:cs typeface="Calibri" pitchFamily="34" charset="-120"/>
              </a:rPr>
              <a:t>Most operational</a:t>
            </a:r>
            <a:endParaRPr lang="en-US" sz="1100" dirty="0"/>
          </a:p>
        </p:txBody>
      </p:sp>
      <p:sp>
        <p:nvSpPr>
          <p:cNvPr id="34" name="Text 32"/>
          <p:cNvSpPr/>
          <p:nvPr/>
        </p:nvSpPr>
        <p:spPr>
          <a:xfrm>
            <a:off x="640080" y="5897880"/>
            <a:ext cx="10881360" cy="411480"/>
          </a:xfrm>
          <a:prstGeom prst="rect">
            <a:avLst/>
          </a:prstGeom>
          <a:noFill/>
          <a:ln/>
        </p:spPr>
        <p:txBody>
          <a:bodyPr wrap="square" lIns="0" tIns="0" rIns="0" bIns="0" rtlCol="0" anchor="ctr"/>
          <a:lstStyle/>
          <a:p>
            <a:pPr indent="0" marL="0">
              <a:buNone/>
            </a:pPr>
            <a:r>
              <a:rPr lang="en-US" sz="1350" i="1" dirty="0">
                <a:solidFill>
                  <a:srgbClr val="55525C"/>
                </a:solidFill>
                <a:latin typeface="Calibri" pitchFamily="34" charset="0"/>
                <a:ea typeface="Calibri" pitchFamily="34" charset="-122"/>
                <a:cs typeface="Calibri" pitchFamily="34" charset="-120"/>
              </a:rPr>
              <a:t>Recall first, then calibration, then labelling rigour, then coverage, then timeliness. Each one arrives paired with the validation that bounds it — or it shouldn't arrive at all.</a:t>
            </a:r>
            <a:endParaRPr lang="en-US" sz="1350" dirty="0"/>
          </a:p>
        </p:txBody>
      </p:sp>
      <p:sp>
        <p:nvSpPr>
          <p:cNvPr id="35" name="Text 33"/>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36" name="Text 34"/>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PERSONALLY</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What I'll take with me</a:t>
            </a:r>
            <a:endParaRPr lang="en-US" sz="3400" dirty="0"/>
          </a:p>
        </p:txBody>
      </p:sp>
      <p:sp>
        <p:nvSpPr>
          <p:cNvPr id="4" name="Shape 2"/>
          <p:cNvSpPr/>
          <p:nvPr/>
        </p:nvSpPr>
        <p:spPr>
          <a:xfrm>
            <a:off x="640080" y="1737360"/>
            <a:ext cx="3520440" cy="2286000"/>
          </a:xfrm>
          <a:prstGeom prst="roundRect">
            <a:avLst>
              <a:gd name="adj" fmla="val 2400"/>
            </a:avLst>
          </a:prstGeom>
          <a:solidFill>
            <a:srgbClr val="FAF9F8"/>
          </a:solidFill>
          <a:ln w="12700">
            <a:solidFill>
              <a:srgbClr val="E4E1DE"/>
            </a:solidFill>
            <a:prstDash val="solid"/>
          </a:ln>
        </p:spPr>
      </p:sp>
      <p:sp>
        <p:nvSpPr>
          <p:cNvPr id="5" name="Text 3"/>
          <p:cNvSpPr/>
          <p:nvPr/>
        </p:nvSpPr>
        <p:spPr>
          <a:xfrm>
            <a:off x="914400" y="1965960"/>
            <a:ext cx="2971800" cy="411480"/>
          </a:xfrm>
          <a:prstGeom prst="rect">
            <a:avLst/>
          </a:prstGeom>
          <a:noFill/>
          <a:ln/>
        </p:spPr>
        <p:txBody>
          <a:bodyPr wrap="square" lIns="0" tIns="0" rIns="0" bIns="0" rtlCol="0" anchor="ctr"/>
          <a:lstStyle/>
          <a:p>
            <a:pPr indent="0" marL="0">
              <a:buNone/>
            </a:pPr>
            <a:r>
              <a:rPr lang="en-US" sz="1900" b="1" dirty="0">
                <a:solidFill>
                  <a:srgbClr val="17161A"/>
                </a:solidFill>
                <a:latin typeface="Cambria" pitchFamily="34" charset="0"/>
                <a:ea typeface="Cambria" pitchFamily="34" charset="-122"/>
                <a:cs typeface="Cambria" pitchFamily="34" charset="-120"/>
              </a:rPr>
              <a:t>A harder standard</a:t>
            </a:r>
            <a:endParaRPr lang="en-US" sz="1900" dirty="0"/>
          </a:p>
        </p:txBody>
      </p:sp>
      <p:sp>
        <p:nvSpPr>
          <p:cNvPr id="6" name="Text 4"/>
          <p:cNvSpPr/>
          <p:nvPr/>
        </p:nvSpPr>
        <p:spPr>
          <a:xfrm>
            <a:off x="914400" y="2468880"/>
            <a:ext cx="2971800" cy="1371600"/>
          </a:xfrm>
          <a:prstGeom prst="rect">
            <a:avLst/>
          </a:prstGeom>
          <a:noFill/>
          <a:ln/>
        </p:spPr>
        <p:txBody>
          <a:bodyPr wrap="square" lIns="0" tIns="0" rIns="0" bIns="0" rtlCol="0" anchor="ctr"/>
          <a:lstStyle/>
          <a:p>
            <a:pPr indent="0" marL="0">
              <a:lnSpc>
                <a:spcPts val="1900"/>
              </a:lnSpc>
              <a:buNone/>
            </a:pPr>
            <a:r>
              <a:rPr lang="en-US" sz="1300" dirty="0">
                <a:solidFill>
                  <a:srgbClr val="55525C"/>
                </a:solidFill>
                <a:latin typeface="Calibri" pitchFamily="34" charset="0"/>
                <a:ea typeface="Calibri" pitchFamily="34" charset="-122"/>
                <a:cs typeface="Calibri" pitchFamily="34" charset="-120"/>
              </a:rPr>
              <a:t>I have never written a report where every finding is chained to the test that limits it. I will not write one the old way again.</a:t>
            </a:r>
            <a:endParaRPr lang="en-US" sz="1300" dirty="0"/>
          </a:p>
        </p:txBody>
      </p:sp>
      <p:sp>
        <p:nvSpPr>
          <p:cNvPr id="7" name="Shape 5"/>
          <p:cNvSpPr/>
          <p:nvPr/>
        </p:nvSpPr>
        <p:spPr>
          <a:xfrm>
            <a:off x="4416552" y="1737360"/>
            <a:ext cx="3520440" cy="2286000"/>
          </a:xfrm>
          <a:prstGeom prst="roundRect">
            <a:avLst>
              <a:gd name="adj" fmla="val 2400"/>
            </a:avLst>
          </a:prstGeom>
          <a:solidFill>
            <a:srgbClr val="FAF9F8"/>
          </a:solidFill>
          <a:ln w="12700">
            <a:solidFill>
              <a:srgbClr val="E4E1DE"/>
            </a:solidFill>
            <a:prstDash val="solid"/>
          </a:ln>
        </p:spPr>
      </p:sp>
      <p:sp>
        <p:nvSpPr>
          <p:cNvPr id="8" name="Text 6"/>
          <p:cNvSpPr/>
          <p:nvPr/>
        </p:nvSpPr>
        <p:spPr>
          <a:xfrm>
            <a:off x="4690872" y="1965960"/>
            <a:ext cx="2971800" cy="411480"/>
          </a:xfrm>
          <a:prstGeom prst="rect">
            <a:avLst/>
          </a:prstGeom>
          <a:noFill/>
          <a:ln/>
        </p:spPr>
        <p:txBody>
          <a:bodyPr wrap="square" lIns="0" tIns="0" rIns="0" bIns="0" rtlCol="0" anchor="ctr"/>
          <a:lstStyle/>
          <a:p>
            <a:pPr indent="0" marL="0">
              <a:buNone/>
            </a:pPr>
            <a:r>
              <a:rPr lang="en-US" sz="1900" b="1" dirty="0">
                <a:solidFill>
                  <a:srgbClr val="17161A"/>
                </a:solidFill>
                <a:latin typeface="Cambria" pitchFamily="34" charset="0"/>
                <a:ea typeface="Cambria" pitchFamily="34" charset="-122"/>
                <a:cs typeface="Cambria" pitchFamily="34" charset="-120"/>
              </a:rPr>
              <a:t>A different default</a:t>
            </a:r>
            <a:endParaRPr lang="en-US" sz="1900" dirty="0"/>
          </a:p>
        </p:txBody>
      </p:sp>
      <p:sp>
        <p:nvSpPr>
          <p:cNvPr id="9" name="Text 7"/>
          <p:cNvSpPr/>
          <p:nvPr/>
        </p:nvSpPr>
        <p:spPr>
          <a:xfrm>
            <a:off x="4690872" y="2468880"/>
            <a:ext cx="2971800" cy="1371600"/>
          </a:xfrm>
          <a:prstGeom prst="rect">
            <a:avLst/>
          </a:prstGeom>
          <a:noFill/>
          <a:ln/>
        </p:spPr>
        <p:txBody>
          <a:bodyPr wrap="square" lIns="0" tIns="0" rIns="0" bIns="0" rtlCol="0" anchor="ctr"/>
          <a:lstStyle/>
          <a:p>
            <a:pPr indent="0" marL="0">
              <a:lnSpc>
                <a:spcPts val="1900"/>
              </a:lnSpc>
              <a:buNone/>
            </a:pPr>
            <a:r>
              <a:rPr lang="en-US" sz="1300" dirty="0">
                <a:solidFill>
                  <a:srgbClr val="55525C"/>
                </a:solidFill>
                <a:latin typeface="Calibri" pitchFamily="34" charset="0"/>
                <a:ea typeface="Calibri" pitchFamily="34" charset="-122"/>
                <a:cs typeface="Calibri" pitchFamily="34" charset="-120"/>
              </a:rPr>
              <a:t>I came in expecting politics and influence operations. The data kept saying: fraud, infrastructure, and language.</a:t>
            </a:r>
            <a:endParaRPr lang="en-US" sz="1300" dirty="0"/>
          </a:p>
        </p:txBody>
      </p:sp>
      <p:sp>
        <p:nvSpPr>
          <p:cNvPr id="10" name="Shape 8"/>
          <p:cNvSpPr/>
          <p:nvPr/>
        </p:nvSpPr>
        <p:spPr>
          <a:xfrm>
            <a:off x="8193024" y="1737360"/>
            <a:ext cx="3520440" cy="2286000"/>
          </a:xfrm>
          <a:prstGeom prst="roundRect">
            <a:avLst>
              <a:gd name="adj" fmla="val 2400"/>
            </a:avLst>
          </a:prstGeom>
          <a:solidFill>
            <a:srgbClr val="FBF0ED"/>
          </a:solidFill>
          <a:ln w="12700">
            <a:solidFill>
              <a:srgbClr val="FBF0ED"/>
            </a:solidFill>
            <a:prstDash val="solid"/>
          </a:ln>
        </p:spPr>
      </p:sp>
      <p:sp>
        <p:nvSpPr>
          <p:cNvPr id="11" name="Text 9"/>
          <p:cNvSpPr/>
          <p:nvPr/>
        </p:nvSpPr>
        <p:spPr>
          <a:xfrm>
            <a:off x="8467344" y="1965960"/>
            <a:ext cx="2971800" cy="411480"/>
          </a:xfrm>
          <a:prstGeom prst="rect">
            <a:avLst/>
          </a:prstGeom>
          <a:noFill/>
          <a:ln/>
        </p:spPr>
        <p:txBody>
          <a:bodyPr wrap="square" lIns="0" tIns="0" rIns="0" bIns="0" rtlCol="0" anchor="ctr"/>
          <a:lstStyle/>
          <a:p>
            <a:pPr indent="0" marL="0">
              <a:buNone/>
            </a:pPr>
            <a:r>
              <a:rPr lang="en-US" sz="1900" b="1" dirty="0">
                <a:solidFill>
                  <a:srgbClr val="C4432A"/>
                </a:solidFill>
                <a:latin typeface="Cambria" pitchFamily="34" charset="0"/>
                <a:ea typeface="Cambria" pitchFamily="34" charset="-122"/>
                <a:cs typeface="Cambria" pitchFamily="34" charset="-120"/>
              </a:rPr>
              <a:t>The people</a:t>
            </a:r>
            <a:endParaRPr lang="en-US" sz="1900" dirty="0"/>
          </a:p>
        </p:txBody>
      </p:sp>
      <p:sp>
        <p:nvSpPr>
          <p:cNvPr id="12" name="Text 10"/>
          <p:cNvSpPr/>
          <p:nvPr/>
        </p:nvSpPr>
        <p:spPr>
          <a:xfrm>
            <a:off x="8467344" y="2468880"/>
            <a:ext cx="2971800" cy="1371600"/>
          </a:xfrm>
          <a:prstGeom prst="rect">
            <a:avLst/>
          </a:prstGeom>
          <a:noFill/>
          <a:ln/>
        </p:spPr>
        <p:txBody>
          <a:bodyPr wrap="square" lIns="0" tIns="0" rIns="0" bIns="0" rtlCol="0" anchor="ctr"/>
          <a:lstStyle/>
          <a:p>
            <a:pPr indent="0" marL="0">
              <a:lnSpc>
                <a:spcPts val="1900"/>
              </a:lnSpc>
              <a:buNone/>
            </a:pPr>
            <a:r>
              <a:rPr lang="en-US" sz="1300" dirty="0">
                <a:solidFill>
                  <a:srgbClr val="55525C"/>
                </a:solidFill>
                <a:latin typeface="Calibri" pitchFamily="34" charset="0"/>
                <a:ea typeface="Calibri" pitchFamily="34" charset="-122"/>
                <a:cs typeface="Calibri" pitchFamily="34" charset="-120"/>
              </a:rPr>
              <a:t>The colleagues who checked my Malay, argued with my thresholds, chased my invoices, and made a visiting researcher feel like staff.</a:t>
            </a:r>
            <a:endParaRPr lang="en-US" sz="1300" dirty="0"/>
          </a:p>
        </p:txBody>
      </p:sp>
      <p:sp>
        <p:nvSpPr>
          <p:cNvPr id="13" name="Text 11"/>
          <p:cNvSpPr/>
          <p:nvPr/>
        </p:nvSpPr>
        <p:spPr>
          <a:xfrm>
            <a:off x="640080" y="4343400"/>
            <a:ext cx="10881360" cy="1005840"/>
          </a:xfrm>
          <a:prstGeom prst="rect">
            <a:avLst/>
          </a:prstGeom>
          <a:noFill/>
          <a:ln/>
        </p:spPr>
        <p:txBody>
          <a:bodyPr wrap="square" lIns="0" tIns="0" rIns="0" bIns="0" rtlCol="0" anchor="ctr"/>
          <a:lstStyle/>
          <a:p>
            <a:pPr indent="0" marL="0">
              <a:lnSpc>
                <a:spcPts val="2300"/>
              </a:lnSpc>
              <a:buNone/>
            </a:pPr>
            <a:r>
              <a:rPr lang="en-US" sz="1500" dirty="0">
                <a:solidFill>
                  <a:srgbClr val="17161A"/>
                </a:solidFill>
                <a:latin typeface="Calibri" pitchFamily="34" charset="0"/>
                <a:ea typeface="Calibri" pitchFamily="34" charset="-122"/>
                <a:cs typeface="Calibri" pitchFamily="34" charset="-120"/>
              </a:rPr>
              <a:t>One more, which I did not expect: the correction that mattered most in this whole study — that the corpus was overwhelmingly Malay, not Bahasa Indonesia — came from a colleague reading a draft carefully and telling me I was wrong. That is what a research centre is for.</a:t>
            </a:r>
            <a:endParaRPr lang="en-US" sz="1500" dirty="0"/>
          </a:p>
        </p:txBody>
      </p:sp>
      <p:sp>
        <p:nvSpPr>
          <p:cNvPr id="14" name="Text 12"/>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15" name="Text 13"/>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7161A"/>
        </a:solidFill>
      </p:bgPr>
    </p:bg>
    <p:spTree>
      <p:nvGrpSpPr>
        <p:cNvPr id="1" name=""/>
        <p:cNvGrpSpPr/>
        <p:nvPr/>
      </p:nvGrpSpPr>
      <p:grpSpPr>
        <a:xfrm>
          <a:off x="0" y="0"/>
          <a:ext cx="0" cy="0"/>
          <a:chOff x="0" y="0"/>
          <a:chExt cx="0" cy="0"/>
        </a:xfrm>
      </p:grpSpPr>
      <p:sp>
        <p:nvSpPr>
          <p:cNvPr id="2" name="Text 0"/>
          <p:cNvSpPr/>
          <p:nvPr/>
        </p:nvSpPr>
        <p:spPr>
          <a:xfrm>
            <a:off x="640080" y="1463040"/>
            <a:ext cx="73152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3" name="Text 1"/>
          <p:cNvSpPr/>
          <p:nvPr/>
        </p:nvSpPr>
        <p:spPr>
          <a:xfrm>
            <a:off x="640080" y="2423160"/>
            <a:ext cx="7772400" cy="457200"/>
          </a:xfrm>
          <a:prstGeom prst="rect">
            <a:avLst/>
          </a:prstGeom>
          <a:noFill/>
          <a:ln/>
        </p:spPr>
        <p:txBody>
          <a:bodyPr wrap="square" lIns="0" tIns="0" rIns="0" bIns="0" rtlCol="0" anchor="ctr"/>
          <a:lstStyle/>
          <a:p>
            <a:pPr indent="0" marL="0">
              <a:buNone/>
            </a:pPr>
            <a:r>
              <a:rPr lang="en-US" sz="1700" dirty="0">
                <a:solidFill>
                  <a:srgbClr val="B9B5BF"/>
                </a:solidFill>
                <a:latin typeface="Calibri" pitchFamily="34" charset="0"/>
                <a:ea typeface="Calibri" pitchFamily="34" charset="-122"/>
                <a:cs typeface="Calibri" pitchFamily="34" charset="-120"/>
              </a:rPr>
              <a:t>For the data, the arguments, the corrections, and the year.</a:t>
            </a:r>
            <a:endParaRPr lang="en-US" sz="1700" dirty="0"/>
          </a:p>
        </p:txBody>
      </p:sp>
      <p:sp>
        <p:nvSpPr>
          <p:cNvPr id="4" name="Shape 2"/>
          <p:cNvSpPr/>
          <p:nvPr/>
        </p:nvSpPr>
        <p:spPr>
          <a:xfrm>
            <a:off x="640080" y="3154680"/>
            <a:ext cx="41148" cy="1234440"/>
          </a:xfrm>
          <a:prstGeom prst="rect">
            <a:avLst/>
          </a:prstGeom>
          <a:solidFill>
            <a:srgbClr val="C4432A"/>
          </a:solidFill>
          <a:ln w="12700">
            <a:solidFill>
              <a:srgbClr val="333333"/>
            </a:solidFill>
            <a:prstDash val="solid"/>
          </a:ln>
        </p:spPr>
      </p:sp>
      <p:sp>
        <p:nvSpPr>
          <p:cNvPr id="5" name="Text 3"/>
          <p:cNvSpPr/>
          <p:nvPr/>
        </p:nvSpPr>
        <p:spPr>
          <a:xfrm>
            <a:off x="1051560" y="3154680"/>
            <a:ext cx="7223760" cy="1234440"/>
          </a:xfrm>
          <a:prstGeom prst="rect">
            <a:avLst/>
          </a:prstGeom>
          <a:noFill/>
          <a:ln/>
        </p:spPr>
        <p:txBody>
          <a:bodyPr wrap="square" lIns="0" tIns="0" rIns="0" bIns="0" rtlCol="0" anchor="ctr"/>
          <a:lstStyle/>
          <a:p>
            <a:pPr indent="0" marL="0">
              <a:lnSpc>
                <a:spcPts val="2400"/>
              </a:lnSpc>
              <a:buNone/>
            </a:pPr>
            <a:r>
              <a:rPr lang="en-US" sz="1500" dirty="0">
                <a:solidFill>
                  <a:srgbClr val="C9C5CF"/>
                </a:solidFill>
                <a:latin typeface="Calibri" pitchFamily="34" charset="0"/>
                <a:ea typeface="Calibri" pitchFamily="34" charset="-122"/>
                <a:cs typeface="Calibri" pitchFamily="34" charset="-120"/>
              </a:rPr>
              <a:t>For Dr. Yinping Yang, who asked the questions this report tries to answer, and whose commitment to understanding online harm in this ecosystem outlasts all of it.</a:t>
            </a:r>
            <a:endParaRPr lang="en-US" sz="1500" dirty="0"/>
          </a:p>
        </p:txBody>
      </p:sp>
      <p:sp>
        <p:nvSpPr>
          <p:cNvPr id="6" name="Shape 4"/>
          <p:cNvSpPr/>
          <p:nvPr/>
        </p:nvSpPr>
        <p:spPr>
          <a:xfrm>
            <a:off x="8412480" y="1463040"/>
            <a:ext cx="3154680" cy="3840480"/>
          </a:xfrm>
          <a:prstGeom prst="roundRect">
            <a:avLst>
              <a:gd name="adj" fmla="val 1739"/>
            </a:avLst>
          </a:prstGeom>
          <a:solidFill>
            <a:srgbClr val="241F26"/>
          </a:solidFill>
          <a:ln w="12700">
            <a:solidFill>
              <a:srgbClr val="34303A"/>
            </a:solidFill>
            <a:prstDash val="solid"/>
          </a:ln>
        </p:spPr>
      </p:sp>
      <p:sp>
        <p:nvSpPr>
          <p:cNvPr id="7" name="Text 5"/>
          <p:cNvSpPr/>
          <p:nvPr/>
        </p:nvSpPr>
        <p:spPr>
          <a:xfrm>
            <a:off x="8686800" y="1691640"/>
            <a:ext cx="2606040" cy="548640"/>
          </a:xfrm>
          <a:prstGeom prst="rect">
            <a:avLst/>
          </a:prstGeom>
          <a:noFill/>
          <a:ln/>
        </p:spPr>
        <p:txBody>
          <a:bodyPr wrap="square" lIns="0" tIns="0" rIns="0" bIns="0" rtlCol="0" anchor="ctr"/>
          <a:lstStyle/>
          <a:p>
            <a:pPr indent="0" marL="0">
              <a:buNone/>
            </a:pPr>
            <a:r>
              <a:rPr lang="en-US" sz="1400" b="1" dirty="0">
                <a:solidFill>
                  <a:srgbClr val="C4432A"/>
                </a:solidFill>
                <a:latin typeface="Calibri" pitchFamily="34" charset="0"/>
                <a:ea typeface="Calibri" pitchFamily="34" charset="-122"/>
                <a:cs typeface="Calibri" pitchFamily="34" charset="-120"/>
              </a:rPr>
              <a:t>Everything is handed over</a:t>
            </a:r>
            <a:endParaRPr lang="en-US" sz="1400" dirty="0"/>
          </a:p>
        </p:txBody>
      </p:sp>
      <p:sp>
        <p:nvSpPr>
          <p:cNvPr id="8" name="Text 6"/>
          <p:cNvSpPr/>
          <p:nvPr/>
        </p:nvSpPr>
        <p:spPr>
          <a:xfrm>
            <a:off x="8686800" y="2286000"/>
            <a:ext cx="2606040" cy="2834640"/>
          </a:xfrm>
          <a:prstGeom prst="rect">
            <a:avLst/>
          </a:prstGeom>
          <a:noFill/>
          <a:ln/>
        </p:spPr>
        <p:txBody>
          <a:bodyPr wrap="square" lIns="0" tIns="0" rIns="0" bIns="0" rtlCol="0" anchor="ctr"/>
          <a:lstStyle/>
          <a:p>
            <a:pPr indent="0" marL="0">
              <a:lnSpc>
                <a:spcPts val="1800"/>
              </a:lnSpc>
              <a:buNone/>
            </a:pPr>
            <a:r>
              <a:rPr lang="en-US" sz="1250" dirty="0">
                <a:solidFill>
                  <a:srgbClr val="B9B5BF"/>
                </a:solidFill>
                <a:latin typeface="Calibri" pitchFamily="34" charset="0"/>
                <a:ea typeface="Calibri" pitchFamily="34" charset="-122"/>
                <a:cs typeface="Calibri" pitchFamily="34" charset="-120"/>
              </a:rPr>
              <a:t>Technical report — delivered</a:t>
            </a:r>
            <a:endParaRPr lang="en-US" sz="1250" dirty="0"/>
          </a:p>
          <a:p>
            <a:pPr indent="0" marL="0">
              <a:lnSpc>
                <a:spcPts val="1800"/>
              </a:lnSpc>
              <a:buNone/>
            </a:pPr>
            <a:endParaRPr lang="en-US" sz="1250" dirty="0"/>
          </a:p>
          <a:p>
            <a:pPr indent="0" marL="0">
              <a:lnSpc>
                <a:spcPts val="1800"/>
              </a:lnSpc>
              <a:buNone/>
            </a:pPr>
            <a:r>
              <a:rPr lang="en-US" sz="1250" dirty="0">
                <a:solidFill>
                  <a:srgbClr val="B9B5BF"/>
                </a:solidFill>
                <a:latin typeface="Calibri" pitchFamily="34" charset="0"/>
                <a:ea typeface="Calibri" pitchFamily="34" charset="-122"/>
                <a:cs typeface="Calibri" pitchFamily="34" charset="-120"/>
              </a:rPr>
              <a:t>Preprint — arXiv:2606.21996</a:t>
            </a:r>
            <a:endParaRPr lang="en-US" sz="1250" dirty="0"/>
          </a:p>
          <a:p>
            <a:pPr indent="0" marL="0">
              <a:lnSpc>
                <a:spcPts val="1800"/>
              </a:lnSpc>
              <a:buNone/>
            </a:pPr>
            <a:endParaRPr lang="en-US" sz="1250" dirty="0"/>
          </a:p>
          <a:p>
            <a:pPr indent="0" marL="0">
              <a:lnSpc>
                <a:spcPts val="1800"/>
              </a:lnSpc>
              <a:buNone/>
            </a:pPr>
            <a:r>
              <a:rPr lang="en-US" sz="1250" dirty="0">
                <a:solidFill>
                  <a:srgbClr val="B9B5BF"/>
                </a:solidFill>
                <a:latin typeface="Calibri" pitchFamily="34" charset="0"/>
                <a:ea typeface="Calibri" pitchFamily="34" charset="-122"/>
                <a:cs typeface="Calibri" pitchFamily="34" charset="-120"/>
              </a:rPr>
              <a:t>Reproducibility manifest — corpus, compute, model configs, finding codes</a:t>
            </a:r>
            <a:endParaRPr lang="en-US" sz="1250" dirty="0"/>
          </a:p>
          <a:p>
            <a:pPr indent="0" marL="0">
              <a:lnSpc>
                <a:spcPts val="1800"/>
              </a:lnSpc>
              <a:buNone/>
            </a:pPr>
            <a:endParaRPr lang="en-US" sz="1250" dirty="0"/>
          </a:p>
          <a:p>
            <a:pPr indent="0" marL="0">
              <a:lnSpc>
                <a:spcPts val="1800"/>
              </a:lnSpc>
              <a:buNone/>
            </a:pPr>
            <a:r>
              <a:rPr lang="en-US" sz="1250" dirty="0">
                <a:solidFill>
                  <a:srgbClr val="B9B5BF"/>
                </a:solidFill>
                <a:latin typeface="Calibri" pitchFamily="34" charset="0"/>
                <a:ea typeface="Calibri" pitchFamily="34" charset="-122"/>
                <a:cs typeface="Calibri" pitchFamily="34" charset="-120"/>
              </a:rPr>
              <a:t>Every limitation, written down and numbered</a:t>
            </a:r>
            <a:endParaRPr lang="en-US" sz="1250" dirty="0"/>
          </a:p>
        </p:txBody>
      </p:sp>
      <p:sp>
        <p:nvSpPr>
          <p:cNvPr id="9" name="Text 7"/>
          <p:cNvSpPr/>
          <p:nvPr/>
        </p:nvSpPr>
        <p:spPr>
          <a:xfrm>
            <a:off x="640080" y="5120640"/>
            <a:ext cx="7772400" cy="365760"/>
          </a:xfrm>
          <a:prstGeom prst="rect">
            <a:avLst/>
          </a:prstGeom>
          <a:noFill/>
          <a:ln/>
        </p:spPr>
        <p:txBody>
          <a:bodyPr wrap="square" lIns="0" tIns="0" rIns="0" bIns="0" rtlCol="0" anchor="ctr"/>
          <a:lstStyle/>
          <a:p>
            <a:pPr indent="0" marL="0">
              <a:buNone/>
            </a:pPr>
            <a:r>
              <a:rPr lang="en-US" sz="1400" dirty="0">
                <a:solidFill>
                  <a:srgbClr val="8A8691"/>
                </a:solidFill>
                <a:latin typeface="Calibri" pitchFamily="34" charset="0"/>
                <a:ea typeface="Calibri" pitchFamily="34" charset="-122"/>
                <a:cs typeface="Calibri" pitchFamily="34" charset="-120"/>
              </a:rPr>
              <a:t>Emilio Ferrara   ·   emiliofe@usc.edu   ·   Questions, please.</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Reference: the numbers, in one place</a:t>
            </a:r>
            <a:endParaRPr lang="en-US" sz="3400" dirty="0"/>
          </a:p>
        </p:txBody>
      </p:sp>
      <p:sp>
        <p:nvSpPr>
          <p:cNvPr id="4" name="Shape 2"/>
          <p:cNvSpPr/>
          <p:nvPr/>
        </p:nvSpPr>
        <p:spPr>
          <a:xfrm>
            <a:off x="640080" y="1645920"/>
            <a:ext cx="5394960" cy="1965960"/>
          </a:xfrm>
          <a:prstGeom prst="roundRect">
            <a:avLst>
              <a:gd name="adj" fmla="val 2791"/>
            </a:avLst>
          </a:prstGeom>
          <a:solidFill>
            <a:srgbClr val="FAF9F8"/>
          </a:solidFill>
          <a:ln w="12700">
            <a:solidFill>
              <a:srgbClr val="E4E1DE"/>
            </a:solidFill>
            <a:prstDash val="solid"/>
          </a:ln>
        </p:spPr>
      </p:sp>
      <p:sp>
        <p:nvSpPr>
          <p:cNvPr id="5" name="Text 3"/>
          <p:cNvSpPr/>
          <p:nvPr/>
        </p:nvSpPr>
        <p:spPr>
          <a:xfrm>
            <a:off x="914400" y="1810512"/>
            <a:ext cx="4846320" cy="320040"/>
          </a:xfrm>
          <a:prstGeom prst="rect">
            <a:avLst/>
          </a:prstGeom>
          <a:noFill/>
          <a:ln/>
        </p:spPr>
        <p:txBody>
          <a:bodyPr wrap="square" lIns="0" tIns="0" rIns="0" bIns="0" rtlCol="0" anchor="ctr"/>
          <a:lstStyle/>
          <a:p>
            <a:pPr indent="0" marL="0">
              <a:buNone/>
            </a:pPr>
            <a:r>
              <a:rPr lang="en-US" sz="1400" b="1" dirty="0">
                <a:solidFill>
                  <a:srgbClr val="C4432A"/>
                </a:solidFill>
                <a:latin typeface="Calibri" pitchFamily="34" charset="0"/>
                <a:ea typeface="Calibri" pitchFamily="34" charset="-122"/>
                <a:cs typeface="Calibri" pitchFamily="34" charset="-120"/>
              </a:rPr>
              <a:t>Corpus</a:t>
            </a:r>
            <a:endParaRPr lang="en-US" sz="1400" dirty="0"/>
          </a:p>
        </p:txBody>
      </p:sp>
      <p:sp>
        <p:nvSpPr>
          <p:cNvPr id="6" name="Text 4"/>
          <p:cNvSpPr/>
          <p:nvPr/>
        </p:nvSpPr>
        <p:spPr>
          <a:xfrm>
            <a:off x="914400" y="2194560"/>
            <a:ext cx="4846320" cy="1325880"/>
          </a:xfrm>
          <a:prstGeom prst="rect">
            <a:avLst/>
          </a:prstGeom>
          <a:noFill/>
          <a:ln/>
        </p:spPr>
        <p:txBody>
          <a:bodyPr wrap="square" lIns="0" tIns="0" rIns="0" bIns="0" rtlCol="0" anchor="t"/>
          <a:lstStyle/>
          <a:p>
            <a:pPr marL="228600" indent="-228600">
              <a:spcAft>
                <a:spcPts val="500"/>
              </a:spcAft>
              <a:buSzPct val="100000"/>
              <a:buChar char="•"/>
            </a:pPr>
            <a:r>
              <a:rPr lang="en-US" sz="1150" dirty="0">
                <a:solidFill>
                  <a:srgbClr val="55525C"/>
                </a:solidFill>
                <a:latin typeface="Calibri" pitchFamily="34" charset="0"/>
                <a:ea typeface="Calibri" pitchFamily="34" charset="-122"/>
                <a:cs typeface="Calibri" pitchFamily="34" charset="-120"/>
              </a:rPr>
              <a:t>154,284,618 items · Jan 2020 – Jun 2026</a:t>
            </a:r>
            <a:endParaRPr lang="en-US" sz="1150" dirty="0"/>
          </a:p>
          <a:p>
            <a:pPr marL="228600" indent="-228600">
              <a:spcAft>
                <a:spcPts val="500"/>
              </a:spcAft>
              <a:buSzPct val="100000"/>
              <a:buChar char="•"/>
            </a:pPr>
            <a:r>
              <a:rPr lang="en-US" sz="1150" dirty="0">
                <a:solidFill>
                  <a:srgbClr val="55525C"/>
                </a:solidFill>
                <a:latin typeface="Calibri" pitchFamily="34" charset="0"/>
                <a:ea typeface="Calibri" pitchFamily="34" charset="-122"/>
                <a:cs typeface="Calibri" pitchFamily="34" charset="-120"/>
              </a:rPr>
              <a:t>Facebook 129,506,705 (84%)</a:t>
            </a:r>
            <a:endParaRPr lang="en-US" sz="1150" dirty="0"/>
          </a:p>
          <a:p>
            <a:pPr marL="228600" indent="-228600">
              <a:spcAft>
                <a:spcPts val="500"/>
              </a:spcAft>
              <a:buSzPct val="100000"/>
              <a:buChar char="•"/>
            </a:pPr>
            <a:r>
              <a:rPr lang="en-US" sz="1150" dirty="0">
                <a:solidFill>
                  <a:srgbClr val="55525C"/>
                </a:solidFill>
                <a:latin typeface="Calibri" pitchFamily="34" charset="0"/>
                <a:ea typeface="Calibri" pitchFamily="34" charset="-122"/>
                <a:cs typeface="Calibri" pitchFamily="34" charset="-120"/>
              </a:rPr>
              <a:t>Reddit 16,487,473 · YouTube 8,290,440</a:t>
            </a:r>
            <a:endParaRPr lang="en-US" sz="1150" dirty="0"/>
          </a:p>
          <a:p>
            <a:pPr marL="228600" indent="-228600">
              <a:spcAft>
                <a:spcPts val="500"/>
              </a:spcAft>
              <a:buSzPct val="100000"/>
              <a:buChar char="•"/>
            </a:pPr>
            <a:r>
              <a:rPr lang="en-US" sz="1150" dirty="0">
                <a:solidFill>
                  <a:srgbClr val="55525C"/>
                </a:solidFill>
                <a:latin typeface="Calibri" pitchFamily="34" charset="0"/>
                <a:ea typeface="Calibri" pitchFamily="34" charset="-122"/>
                <a:cs typeface="Calibri" pitchFamily="34" charset="-120"/>
              </a:rPr>
              <a:t>267 spaces · 11,959,097 URLs · 105,022 domains</a:t>
            </a:r>
            <a:endParaRPr lang="en-US" sz="1150" dirty="0"/>
          </a:p>
        </p:txBody>
      </p:sp>
      <p:sp>
        <p:nvSpPr>
          <p:cNvPr id="7" name="Shape 5"/>
          <p:cNvSpPr/>
          <p:nvPr/>
        </p:nvSpPr>
        <p:spPr>
          <a:xfrm>
            <a:off x="6199632" y="1645920"/>
            <a:ext cx="5394960" cy="1965960"/>
          </a:xfrm>
          <a:prstGeom prst="roundRect">
            <a:avLst>
              <a:gd name="adj" fmla="val 2791"/>
            </a:avLst>
          </a:prstGeom>
          <a:solidFill>
            <a:srgbClr val="FAF9F8"/>
          </a:solidFill>
          <a:ln w="12700">
            <a:solidFill>
              <a:srgbClr val="E4E1DE"/>
            </a:solidFill>
            <a:prstDash val="solid"/>
          </a:ln>
        </p:spPr>
      </p:sp>
      <p:sp>
        <p:nvSpPr>
          <p:cNvPr id="8" name="Text 6"/>
          <p:cNvSpPr/>
          <p:nvPr/>
        </p:nvSpPr>
        <p:spPr>
          <a:xfrm>
            <a:off x="6473952" y="1810512"/>
            <a:ext cx="4846320" cy="320040"/>
          </a:xfrm>
          <a:prstGeom prst="rect">
            <a:avLst/>
          </a:prstGeom>
          <a:noFill/>
          <a:ln/>
        </p:spPr>
        <p:txBody>
          <a:bodyPr wrap="square" lIns="0" tIns="0" rIns="0" bIns="0" rtlCol="0" anchor="ctr"/>
          <a:lstStyle/>
          <a:p>
            <a:pPr indent="0" marL="0">
              <a:buNone/>
            </a:pPr>
            <a:r>
              <a:rPr lang="en-US" sz="1400" b="1" dirty="0">
                <a:solidFill>
                  <a:srgbClr val="C4432A"/>
                </a:solidFill>
                <a:latin typeface="Calibri" pitchFamily="34" charset="0"/>
                <a:ea typeface="Calibri" pitchFamily="34" charset="-122"/>
                <a:cs typeface="Calibri" pitchFamily="34" charset="-120"/>
              </a:rPr>
              <a:t>Coordination</a:t>
            </a:r>
            <a:endParaRPr lang="en-US" sz="1400" dirty="0"/>
          </a:p>
        </p:txBody>
      </p:sp>
      <p:sp>
        <p:nvSpPr>
          <p:cNvPr id="9" name="Text 7"/>
          <p:cNvSpPr/>
          <p:nvPr/>
        </p:nvSpPr>
        <p:spPr>
          <a:xfrm>
            <a:off x="6473952" y="2194560"/>
            <a:ext cx="4846320" cy="1325880"/>
          </a:xfrm>
          <a:prstGeom prst="rect">
            <a:avLst/>
          </a:prstGeom>
          <a:noFill/>
          <a:ln/>
        </p:spPr>
        <p:txBody>
          <a:bodyPr wrap="square" lIns="0" tIns="0" rIns="0" bIns="0" rtlCol="0" anchor="t"/>
          <a:lstStyle/>
          <a:p>
            <a:pPr marL="228600" indent="-228600">
              <a:spcAft>
                <a:spcPts val="500"/>
              </a:spcAft>
              <a:buSzPct val="100000"/>
              <a:buChar char="•"/>
            </a:pPr>
            <a:r>
              <a:rPr lang="en-US" sz="1150" dirty="0">
                <a:solidFill>
                  <a:srgbClr val="55525C"/>
                </a:solidFill>
                <a:latin typeface="Calibri" pitchFamily="34" charset="0"/>
                <a:ea typeface="Calibri" pitchFamily="34" charset="-122"/>
                <a:cs typeface="Calibri" pitchFamily="34" charset="-120"/>
              </a:rPr>
              <a:t>858,728 exact-duplicate clusters (≥5 items)</a:t>
            </a:r>
            <a:endParaRPr lang="en-US" sz="1150" dirty="0"/>
          </a:p>
          <a:p>
            <a:pPr marL="228600" indent="-228600">
              <a:spcAft>
                <a:spcPts val="500"/>
              </a:spcAft>
              <a:buSzPct val="100000"/>
              <a:buChar char="•"/>
            </a:pPr>
            <a:r>
              <a:rPr lang="en-US" sz="1150" dirty="0">
                <a:solidFill>
                  <a:srgbClr val="55525C"/>
                </a:solidFill>
                <a:latin typeface="Calibri" pitchFamily="34" charset="0"/>
                <a:ea typeface="Calibri" pitchFamily="34" charset="-122"/>
                <a:cs typeface="Calibri" pitchFamily="34" charset="-120"/>
              </a:rPr>
              <a:t>50,124 survive the temporal null (57.6% of 86,955 tested)</a:t>
            </a:r>
            <a:endParaRPr lang="en-US" sz="1150" dirty="0"/>
          </a:p>
          <a:p>
            <a:pPr marL="228600" indent="-228600">
              <a:spcAft>
                <a:spcPts val="500"/>
              </a:spcAft>
              <a:buSzPct val="100000"/>
              <a:buChar char="•"/>
            </a:pPr>
            <a:r>
              <a:rPr lang="en-US" sz="1150" dirty="0">
                <a:solidFill>
                  <a:srgbClr val="55525C"/>
                </a:solidFill>
                <a:latin typeface="Calibri" pitchFamily="34" charset="0"/>
                <a:ea typeface="Calibri" pitchFamily="34" charset="-122"/>
                <a:cs typeface="Calibri" pitchFamily="34" charset="-120"/>
              </a:rPr>
              <a:t>44,214 span 3+ spaces · median effect size 2.21</a:t>
            </a:r>
            <a:endParaRPr lang="en-US" sz="1150" dirty="0"/>
          </a:p>
          <a:p>
            <a:pPr marL="228600" indent="-228600">
              <a:spcAft>
                <a:spcPts val="500"/>
              </a:spcAft>
              <a:buSzPct val="100000"/>
              <a:buChar char="•"/>
            </a:pPr>
            <a:r>
              <a:rPr lang="en-US" sz="1150" dirty="0">
                <a:solidFill>
                  <a:srgbClr val="55525C"/>
                </a:solidFill>
                <a:latin typeface="Calibri" pitchFamily="34" charset="0"/>
                <a:ea typeface="Calibri" pitchFamily="34" charset="-122"/>
                <a:cs typeface="Calibri" pitchFamily="34" charset="-120"/>
              </a:rPr>
              <a:t>Detector recall 0.500 → 0.011 across 0–40% rewording</a:t>
            </a:r>
            <a:endParaRPr lang="en-US" sz="1150" dirty="0"/>
          </a:p>
        </p:txBody>
      </p:sp>
      <p:sp>
        <p:nvSpPr>
          <p:cNvPr id="10" name="Shape 8"/>
          <p:cNvSpPr/>
          <p:nvPr/>
        </p:nvSpPr>
        <p:spPr>
          <a:xfrm>
            <a:off x="640080" y="3794760"/>
            <a:ext cx="5394960" cy="1965960"/>
          </a:xfrm>
          <a:prstGeom prst="roundRect">
            <a:avLst>
              <a:gd name="adj" fmla="val 2791"/>
            </a:avLst>
          </a:prstGeom>
          <a:solidFill>
            <a:srgbClr val="FAF9F8"/>
          </a:solidFill>
          <a:ln w="12700">
            <a:solidFill>
              <a:srgbClr val="E4E1DE"/>
            </a:solidFill>
            <a:prstDash val="solid"/>
          </a:ln>
        </p:spPr>
      </p:sp>
      <p:sp>
        <p:nvSpPr>
          <p:cNvPr id="11" name="Text 9"/>
          <p:cNvSpPr/>
          <p:nvPr/>
        </p:nvSpPr>
        <p:spPr>
          <a:xfrm>
            <a:off x="914400" y="3959352"/>
            <a:ext cx="4846320" cy="320040"/>
          </a:xfrm>
          <a:prstGeom prst="rect">
            <a:avLst/>
          </a:prstGeom>
          <a:noFill/>
          <a:ln/>
        </p:spPr>
        <p:txBody>
          <a:bodyPr wrap="square" lIns="0" tIns="0" rIns="0" bIns="0" rtlCol="0" anchor="ctr"/>
          <a:lstStyle/>
          <a:p>
            <a:pPr indent="0" marL="0">
              <a:buNone/>
            </a:pPr>
            <a:r>
              <a:rPr lang="en-US" sz="1400" b="1" dirty="0">
                <a:solidFill>
                  <a:srgbClr val="C4432A"/>
                </a:solidFill>
                <a:latin typeface="Calibri" pitchFamily="34" charset="0"/>
                <a:ea typeface="Calibri" pitchFamily="34" charset="-122"/>
                <a:cs typeface="Calibri" pitchFamily="34" charset="-120"/>
              </a:rPr>
              <a:t>Harm</a:t>
            </a:r>
            <a:endParaRPr lang="en-US" sz="1400" dirty="0"/>
          </a:p>
        </p:txBody>
      </p:sp>
      <p:sp>
        <p:nvSpPr>
          <p:cNvPr id="12" name="Text 10"/>
          <p:cNvSpPr/>
          <p:nvPr/>
        </p:nvSpPr>
        <p:spPr>
          <a:xfrm>
            <a:off x="914400" y="4343400"/>
            <a:ext cx="4846320" cy="1325880"/>
          </a:xfrm>
          <a:prstGeom prst="rect">
            <a:avLst/>
          </a:prstGeom>
          <a:noFill/>
          <a:ln/>
        </p:spPr>
        <p:txBody>
          <a:bodyPr wrap="square" lIns="0" tIns="0" rIns="0" bIns="0" rtlCol="0" anchor="t"/>
          <a:lstStyle/>
          <a:p>
            <a:pPr marL="228600" indent="-228600">
              <a:spcAft>
                <a:spcPts val="500"/>
              </a:spcAft>
              <a:buSzPct val="100000"/>
              <a:buChar char="•"/>
            </a:pPr>
            <a:r>
              <a:rPr lang="en-US" sz="1150" dirty="0">
                <a:solidFill>
                  <a:srgbClr val="55525C"/>
                </a:solidFill>
                <a:latin typeface="Calibri" pitchFamily="34" charset="0"/>
                <a:ea typeface="Calibri" pitchFamily="34" charset="-122"/>
                <a:cs typeface="Calibri" pitchFamily="34" charset="-120"/>
              </a:rPr>
              <a:t>Scam floor ≈160,307 (from 769,601 cue-hits, precision 0.208)</a:t>
            </a:r>
            <a:endParaRPr lang="en-US" sz="1150" dirty="0"/>
          </a:p>
          <a:p>
            <a:pPr marL="228600" indent="-228600">
              <a:spcAft>
                <a:spcPts val="500"/>
              </a:spcAft>
              <a:buSzPct val="100000"/>
              <a:buChar char="•"/>
            </a:pPr>
            <a:r>
              <a:rPr lang="en-US" sz="1150" dirty="0">
                <a:solidFill>
                  <a:srgbClr val="55525C"/>
                </a:solidFill>
                <a:latin typeface="Calibri" pitchFamily="34" charset="0"/>
                <a:ea typeface="Calibri" pitchFamily="34" charset="-122"/>
                <a:cs typeface="Calibri" pitchFamily="34" charset="-120"/>
              </a:rPr>
              <a:t>Xenophobia floor ≈256,573 (from 295,048, precision 0.870)</a:t>
            </a:r>
            <a:endParaRPr lang="en-US" sz="1150" dirty="0"/>
          </a:p>
          <a:p>
            <a:pPr marL="228600" indent="-228600">
              <a:spcAft>
                <a:spcPts val="500"/>
              </a:spcAft>
              <a:buSzPct val="100000"/>
              <a:buChar char="•"/>
            </a:pPr>
            <a:r>
              <a:rPr lang="en-US" sz="1150" dirty="0">
                <a:solidFill>
                  <a:srgbClr val="55525C"/>
                </a:solidFill>
                <a:latin typeface="Calibri" pitchFamily="34" charset="0"/>
                <a:ea typeface="Calibri" pitchFamily="34" charset="-122"/>
                <a:cs typeface="Calibri" pitchFamily="34" charset="-120"/>
              </a:rPr>
              <a:t>Enrichment: scam 5.6× · xenophobia 1.4×</a:t>
            </a:r>
            <a:endParaRPr lang="en-US" sz="1150" dirty="0"/>
          </a:p>
          <a:p>
            <a:pPr marL="228600" indent="-228600">
              <a:spcAft>
                <a:spcPts val="500"/>
              </a:spcAft>
              <a:buSzPct val="100000"/>
              <a:buChar char="•"/>
            </a:pPr>
            <a:r>
              <a:rPr lang="en-US" sz="1150" dirty="0">
                <a:solidFill>
                  <a:srgbClr val="55525C"/>
                </a:solidFill>
                <a:latin typeface="Calibri" pitchFamily="34" charset="0"/>
                <a:ea typeface="Calibri" pitchFamily="34" charset="-122"/>
                <a:cs typeface="Calibri" pitchFamily="34" charset="-120"/>
              </a:rPr>
              <a:t>Scam toxicity 0.152 vs corpus mean 0.163</a:t>
            </a:r>
            <a:endParaRPr lang="en-US" sz="1150" dirty="0"/>
          </a:p>
        </p:txBody>
      </p:sp>
      <p:sp>
        <p:nvSpPr>
          <p:cNvPr id="13" name="Shape 11"/>
          <p:cNvSpPr/>
          <p:nvPr/>
        </p:nvSpPr>
        <p:spPr>
          <a:xfrm>
            <a:off x="6199632" y="3794760"/>
            <a:ext cx="5394960" cy="1965960"/>
          </a:xfrm>
          <a:prstGeom prst="roundRect">
            <a:avLst>
              <a:gd name="adj" fmla="val 2791"/>
            </a:avLst>
          </a:prstGeom>
          <a:solidFill>
            <a:srgbClr val="FAF9F8"/>
          </a:solidFill>
          <a:ln w="12700">
            <a:solidFill>
              <a:srgbClr val="E4E1DE"/>
            </a:solidFill>
            <a:prstDash val="solid"/>
          </a:ln>
        </p:spPr>
      </p:sp>
      <p:sp>
        <p:nvSpPr>
          <p:cNvPr id="14" name="Text 12"/>
          <p:cNvSpPr/>
          <p:nvPr/>
        </p:nvSpPr>
        <p:spPr>
          <a:xfrm>
            <a:off x="6473952" y="3959352"/>
            <a:ext cx="4846320" cy="320040"/>
          </a:xfrm>
          <a:prstGeom prst="rect">
            <a:avLst/>
          </a:prstGeom>
          <a:noFill/>
          <a:ln/>
        </p:spPr>
        <p:txBody>
          <a:bodyPr wrap="square" lIns="0" tIns="0" rIns="0" bIns="0" rtlCol="0" anchor="ctr"/>
          <a:lstStyle/>
          <a:p>
            <a:pPr indent="0" marL="0">
              <a:buNone/>
            </a:pPr>
            <a:r>
              <a:rPr lang="en-US" sz="1400" b="1" dirty="0">
                <a:solidFill>
                  <a:srgbClr val="C4432A"/>
                </a:solidFill>
                <a:latin typeface="Calibri" pitchFamily="34" charset="0"/>
                <a:ea typeface="Calibri" pitchFamily="34" charset="-122"/>
                <a:cs typeface="Calibri" pitchFamily="34" charset="-120"/>
              </a:rPr>
              <a:t>Time &amp; infrastructure</a:t>
            </a:r>
            <a:endParaRPr lang="en-US" sz="1400" dirty="0"/>
          </a:p>
        </p:txBody>
      </p:sp>
      <p:sp>
        <p:nvSpPr>
          <p:cNvPr id="15" name="Text 13"/>
          <p:cNvSpPr/>
          <p:nvPr/>
        </p:nvSpPr>
        <p:spPr>
          <a:xfrm>
            <a:off x="6473952" y="4343400"/>
            <a:ext cx="4846320" cy="1325880"/>
          </a:xfrm>
          <a:prstGeom prst="rect">
            <a:avLst/>
          </a:prstGeom>
          <a:noFill/>
          <a:ln/>
        </p:spPr>
        <p:txBody>
          <a:bodyPr wrap="square" lIns="0" tIns="0" rIns="0" bIns="0" rtlCol="0" anchor="t"/>
          <a:lstStyle/>
          <a:p>
            <a:pPr marL="228600" indent="-228600">
              <a:spcAft>
                <a:spcPts val="500"/>
              </a:spcAft>
              <a:buSzPct val="100000"/>
              <a:buChar char="•"/>
            </a:pPr>
            <a:r>
              <a:rPr lang="en-US" sz="1150" dirty="0">
                <a:solidFill>
                  <a:srgbClr val="55525C"/>
                </a:solidFill>
                <a:latin typeface="Calibri" pitchFamily="34" charset="0"/>
                <a:ea typeface="Calibri" pitchFamily="34" charset="-122"/>
                <a:cs typeface="Calibri" pitchFamily="34" charset="-120"/>
              </a:rPr>
              <a:t>Coordination share: mean 4.5%, raw peak 22.0% (Apr 2025)</a:t>
            </a:r>
            <a:endParaRPr lang="en-US" sz="1150" dirty="0"/>
          </a:p>
          <a:p>
            <a:pPr marL="228600" indent="-228600">
              <a:spcAft>
                <a:spcPts val="500"/>
              </a:spcAft>
              <a:buSzPct val="100000"/>
              <a:buChar char="•"/>
            </a:pPr>
            <a:r>
              <a:rPr lang="en-US" sz="1150" dirty="0">
                <a:solidFill>
                  <a:srgbClr val="55525C"/>
                </a:solidFill>
                <a:latin typeface="Calibri" pitchFamily="34" charset="0"/>
                <a:ea typeface="Calibri" pitchFamily="34" charset="-122"/>
                <a:cs typeface="Calibri" pitchFamily="34" charset="-120"/>
              </a:rPr>
              <a:t>Funnel lift 15.8 (2020) → 0.19 (2025)</a:t>
            </a:r>
            <a:endParaRPr lang="en-US" sz="1150" dirty="0"/>
          </a:p>
          <a:p>
            <a:pPr marL="228600" indent="-228600">
              <a:spcAft>
                <a:spcPts val="500"/>
              </a:spcAft>
              <a:buSzPct val="100000"/>
              <a:buChar char="•"/>
            </a:pPr>
            <a:r>
              <a:rPr lang="en-US" sz="1150" dirty="0">
                <a:solidFill>
                  <a:srgbClr val="55525C"/>
                </a:solidFill>
                <a:latin typeface="Calibri" pitchFamily="34" charset="0"/>
                <a:ea typeface="Calibri" pitchFamily="34" charset="-122"/>
                <a:cs typeface="Calibri" pitchFamily="34" charset="-120"/>
              </a:rPr>
              <a:t>Burner domains: 91-day median vs 1,865-day persistent</a:t>
            </a:r>
            <a:endParaRPr lang="en-US" sz="1150" dirty="0"/>
          </a:p>
          <a:p>
            <a:pPr marL="228600" indent="-228600">
              <a:spcAft>
                <a:spcPts val="500"/>
              </a:spcAft>
              <a:buSzPct val="100000"/>
              <a:buChar char="•"/>
            </a:pPr>
            <a:r>
              <a:rPr lang="en-US" sz="1150" dirty="0">
                <a:solidFill>
                  <a:srgbClr val="55525C"/>
                </a:solidFill>
                <a:latin typeface="Calibri" pitchFamily="34" charset="0"/>
                <a:ea typeface="Calibri" pitchFamily="34" charset="-122"/>
                <a:cs typeface="Calibri" pitchFamily="34" charset="-120"/>
              </a:rPr>
              <a:t>DGA synchrony: 55 of 70 domains at q &lt; 0.05 (78.6%)</a:t>
            </a:r>
            <a:endParaRPr lang="en-US" sz="1150" dirty="0"/>
          </a:p>
        </p:txBody>
      </p:sp>
      <p:sp>
        <p:nvSpPr>
          <p:cNvPr id="16" name="Text 14"/>
          <p:cNvSpPr/>
          <p:nvPr/>
        </p:nvSpPr>
        <p:spPr>
          <a:xfrm>
            <a:off x="640080" y="5852160"/>
            <a:ext cx="10881360" cy="320040"/>
          </a:xfrm>
          <a:prstGeom prst="rect">
            <a:avLst/>
          </a:prstGeom>
          <a:noFill/>
          <a:ln/>
        </p:spPr>
        <p:txBody>
          <a:bodyPr wrap="square" lIns="0" tIns="0" rIns="0" bIns="0" rtlCol="0" anchor="ctr"/>
          <a:lstStyle/>
          <a:p>
            <a:pPr indent="0" marL="0">
              <a:buNone/>
            </a:pPr>
            <a:r>
              <a:rPr lang="en-US" sz="1150" i="1" dirty="0">
                <a:solidFill>
                  <a:srgbClr val="8A8691"/>
                </a:solidFill>
                <a:latin typeface="Calibri" pitchFamily="34" charset="0"/>
                <a:ea typeface="Calibri" pitchFamily="34" charset="-122"/>
                <a:cs typeface="Calibri" pitchFamily="34" charset="-120"/>
              </a:rPr>
              <a:t>All figures from the CATOS technical report, August 2026. Every count is a floor unless stated otherwise.</a:t>
            </a:r>
            <a:endParaRPr lang="en-US" sz="1150" dirty="0"/>
          </a:p>
        </p:txBody>
      </p:sp>
      <p:sp>
        <p:nvSpPr>
          <p:cNvPr id="17" name="Text 15"/>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18" name="Text 16"/>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lIns="0" tIns="0" rIns="0" bIns="0" rtlCol="0" anchor="ctr"/>
          <a:lstStyle/>
          <a:p>
            <a:pPr indent="0" marL="0">
              <a:buNone/>
            </a:pPr>
            <a:r>
              <a:rPr lang="en-US" sz="1100" b="1" spc="200" kern="0" dirty="0">
                <a:solidFill>
                  <a:srgbClr val="C4432A"/>
                </a:solidFill>
                <a:latin typeface="Calibri" pitchFamily="34" charset="0"/>
                <a:ea typeface="Calibri" pitchFamily="34" charset="-122"/>
                <a:cs typeface="Calibri" pitchFamily="34" charset="-120"/>
              </a:rPr>
              <a:t>BACKUP · CHAPTER 15</a:t>
            </a:r>
            <a:endParaRPr lang="en-US" sz="1100" dirty="0"/>
          </a:p>
        </p:txBody>
      </p:sp>
      <p:sp>
        <p:nvSpPr>
          <p:cNvPr id="3" name="Text 1"/>
          <p:cNvSpPr/>
          <p:nvPr/>
        </p:nvSpPr>
        <p:spPr>
          <a:xfrm>
            <a:off x="640080" y="868680"/>
            <a:ext cx="10911535" cy="640080"/>
          </a:xfrm>
          <a:prstGeom prst="rect">
            <a:avLst/>
          </a:prstGeom>
          <a:noFill/>
          <a:ln/>
        </p:spPr>
        <p:txBody>
          <a:bodyPr wrap="square" lIns="0" tIns="0" rIns="0" bIns="0" rtlCol="0" anchor="t"/>
          <a:lstStyle/>
          <a:p>
            <a:pPr indent="0" marL="0">
              <a:buNone/>
            </a:pPr>
            <a:r>
              <a:rPr lang="en-US" sz="3400" b="1" dirty="0">
                <a:solidFill>
                  <a:srgbClr val="17161A"/>
                </a:solidFill>
                <a:latin typeface="Cambria" pitchFamily="34" charset="0"/>
                <a:ea typeface="Cambria" pitchFamily="34" charset="-122"/>
                <a:cs typeface="Cambria" pitchFamily="34" charset="-120"/>
              </a:rPr>
              <a:t>Reference: what this study cannot do</a:t>
            </a:r>
            <a:endParaRPr lang="en-US" sz="3400" dirty="0"/>
          </a:p>
        </p:txBody>
      </p:sp>
      <p:sp>
        <p:nvSpPr>
          <p:cNvPr id="4" name="Shape 2"/>
          <p:cNvSpPr/>
          <p:nvPr/>
        </p:nvSpPr>
        <p:spPr>
          <a:xfrm>
            <a:off x="640080" y="1691640"/>
            <a:ext cx="3520440" cy="1554480"/>
          </a:xfrm>
          <a:prstGeom prst="roundRect">
            <a:avLst>
              <a:gd name="adj" fmla="val 3529"/>
            </a:avLst>
          </a:prstGeom>
          <a:solidFill>
            <a:srgbClr val="FAF9F8"/>
          </a:solidFill>
          <a:ln w="12700">
            <a:solidFill>
              <a:srgbClr val="E4E1DE"/>
            </a:solidFill>
            <a:prstDash val="solid"/>
          </a:ln>
        </p:spPr>
      </p:sp>
      <p:sp>
        <p:nvSpPr>
          <p:cNvPr id="5" name="Text 3"/>
          <p:cNvSpPr/>
          <p:nvPr/>
        </p:nvSpPr>
        <p:spPr>
          <a:xfrm>
            <a:off x="914400" y="1892808"/>
            <a:ext cx="2971800" cy="365760"/>
          </a:xfrm>
          <a:prstGeom prst="rect">
            <a:avLst/>
          </a:prstGeom>
          <a:noFill/>
          <a:ln/>
        </p:spPr>
        <p:txBody>
          <a:bodyPr wrap="square" lIns="0" tIns="0" rIns="0" bIns="0" rtlCol="0" anchor="ctr"/>
          <a:lstStyle/>
          <a:p>
            <a:pPr indent="0" marL="0">
              <a:buNone/>
            </a:pPr>
            <a:r>
              <a:rPr lang="en-US" sz="1450" b="1" dirty="0">
                <a:solidFill>
                  <a:srgbClr val="17161A"/>
                </a:solidFill>
                <a:latin typeface="Calibri" pitchFamily="34" charset="0"/>
                <a:ea typeface="Calibri" pitchFamily="34" charset="-122"/>
                <a:cs typeface="Calibri" pitchFamily="34" charset="-120"/>
              </a:rPr>
              <a:t>No attribution</a:t>
            </a:r>
            <a:endParaRPr lang="en-US" sz="1450" dirty="0"/>
          </a:p>
        </p:txBody>
      </p:sp>
      <p:sp>
        <p:nvSpPr>
          <p:cNvPr id="6" name="Text 4"/>
          <p:cNvSpPr/>
          <p:nvPr/>
        </p:nvSpPr>
        <p:spPr>
          <a:xfrm>
            <a:off x="914400" y="2313432"/>
            <a:ext cx="2971800" cy="77724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No actor, group, or state is identified. Structural, not cautious — the data carries no identities.</a:t>
            </a:r>
            <a:endParaRPr lang="en-US" sz="1200" dirty="0"/>
          </a:p>
        </p:txBody>
      </p:sp>
      <p:sp>
        <p:nvSpPr>
          <p:cNvPr id="7" name="Shape 5"/>
          <p:cNvSpPr/>
          <p:nvPr/>
        </p:nvSpPr>
        <p:spPr>
          <a:xfrm>
            <a:off x="4416552" y="1691640"/>
            <a:ext cx="3520440" cy="1554480"/>
          </a:xfrm>
          <a:prstGeom prst="roundRect">
            <a:avLst>
              <a:gd name="adj" fmla="val 3529"/>
            </a:avLst>
          </a:prstGeom>
          <a:solidFill>
            <a:srgbClr val="FAF9F8"/>
          </a:solidFill>
          <a:ln w="12700">
            <a:solidFill>
              <a:srgbClr val="E4E1DE"/>
            </a:solidFill>
            <a:prstDash val="solid"/>
          </a:ln>
        </p:spPr>
      </p:sp>
      <p:sp>
        <p:nvSpPr>
          <p:cNvPr id="8" name="Text 6"/>
          <p:cNvSpPr/>
          <p:nvPr/>
        </p:nvSpPr>
        <p:spPr>
          <a:xfrm>
            <a:off x="4690872" y="1892808"/>
            <a:ext cx="2971800" cy="365760"/>
          </a:xfrm>
          <a:prstGeom prst="rect">
            <a:avLst/>
          </a:prstGeom>
          <a:noFill/>
          <a:ln/>
        </p:spPr>
        <p:txBody>
          <a:bodyPr wrap="square" lIns="0" tIns="0" rIns="0" bIns="0" rtlCol="0" anchor="ctr"/>
          <a:lstStyle/>
          <a:p>
            <a:pPr indent="0" marL="0">
              <a:buNone/>
            </a:pPr>
            <a:r>
              <a:rPr lang="en-US" sz="1450" b="1" dirty="0">
                <a:solidFill>
                  <a:srgbClr val="17161A"/>
                </a:solidFill>
                <a:latin typeface="Calibri" pitchFamily="34" charset="0"/>
                <a:ea typeface="Calibri" pitchFamily="34" charset="-122"/>
                <a:cs typeface="Calibri" pitchFamily="34" charset="-120"/>
              </a:rPr>
              <a:t>No prevalence</a:t>
            </a:r>
            <a:endParaRPr lang="en-US" sz="1450" dirty="0"/>
          </a:p>
        </p:txBody>
      </p:sp>
      <p:sp>
        <p:nvSpPr>
          <p:cNvPr id="9" name="Text 7"/>
          <p:cNvSpPr/>
          <p:nvPr/>
        </p:nvSpPr>
        <p:spPr>
          <a:xfrm>
            <a:off x="4690872" y="2313432"/>
            <a:ext cx="2971800" cy="77724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Counts are floors, never population rates. No error rate is extrapolated into an estimate.</a:t>
            </a:r>
            <a:endParaRPr lang="en-US" sz="1200" dirty="0"/>
          </a:p>
        </p:txBody>
      </p:sp>
      <p:sp>
        <p:nvSpPr>
          <p:cNvPr id="10" name="Shape 8"/>
          <p:cNvSpPr/>
          <p:nvPr/>
        </p:nvSpPr>
        <p:spPr>
          <a:xfrm>
            <a:off x="8193024" y="1691640"/>
            <a:ext cx="3520440" cy="1554480"/>
          </a:xfrm>
          <a:prstGeom prst="roundRect">
            <a:avLst>
              <a:gd name="adj" fmla="val 3529"/>
            </a:avLst>
          </a:prstGeom>
          <a:solidFill>
            <a:srgbClr val="FAF9F8"/>
          </a:solidFill>
          <a:ln w="12700">
            <a:solidFill>
              <a:srgbClr val="E4E1DE"/>
            </a:solidFill>
            <a:prstDash val="solid"/>
          </a:ln>
        </p:spPr>
      </p:sp>
      <p:sp>
        <p:nvSpPr>
          <p:cNvPr id="11" name="Text 9"/>
          <p:cNvSpPr/>
          <p:nvPr/>
        </p:nvSpPr>
        <p:spPr>
          <a:xfrm>
            <a:off x="8467344" y="1892808"/>
            <a:ext cx="2971800" cy="365760"/>
          </a:xfrm>
          <a:prstGeom prst="rect">
            <a:avLst/>
          </a:prstGeom>
          <a:noFill/>
          <a:ln/>
        </p:spPr>
        <p:txBody>
          <a:bodyPr wrap="square" lIns="0" tIns="0" rIns="0" bIns="0" rtlCol="0" anchor="ctr"/>
          <a:lstStyle/>
          <a:p>
            <a:pPr indent="0" marL="0">
              <a:buNone/>
            </a:pPr>
            <a:r>
              <a:rPr lang="en-US" sz="1450" b="1" dirty="0">
                <a:solidFill>
                  <a:srgbClr val="17161A"/>
                </a:solidFill>
                <a:latin typeface="Calibri" pitchFamily="34" charset="0"/>
                <a:ea typeface="Calibri" pitchFamily="34" charset="-122"/>
                <a:cs typeface="Calibri" pitchFamily="34" charset="-120"/>
              </a:rPr>
              <a:t>No paraphrased coordination</a:t>
            </a:r>
            <a:endParaRPr lang="en-US" sz="1450" dirty="0"/>
          </a:p>
        </p:txBody>
      </p:sp>
      <p:sp>
        <p:nvSpPr>
          <p:cNvPr id="12" name="Text 10"/>
          <p:cNvSpPr/>
          <p:nvPr/>
        </p:nvSpPr>
        <p:spPr>
          <a:xfrm>
            <a:off x="8467344" y="2313432"/>
            <a:ext cx="2971800" cy="77724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Recall collapses to 0.011 at 40% rewording. Whole campaigns can be invisible.</a:t>
            </a:r>
            <a:endParaRPr lang="en-US" sz="1200" dirty="0"/>
          </a:p>
        </p:txBody>
      </p:sp>
      <p:sp>
        <p:nvSpPr>
          <p:cNvPr id="13" name="Shape 11"/>
          <p:cNvSpPr/>
          <p:nvPr/>
        </p:nvSpPr>
        <p:spPr>
          <a:xfrm>
            <a:off x="640080" y="3474720"/>
            <a:ext cx="3520440" cy="1554480"/>
          </a:xfrm>
          <a:prstGeom prst="roundRect">
            <a:avLst>
              <a:gd name="adj" fmla="val 3529"/>
            </a:avLst>
          </a:prstGeom>
          <a:solidFill>
            <a:srgbClr val="FAF9F8"/>
          </a:solidFill>
          <a:ln w="12700">
            <a:solidFill>
              <a:srgbClr val="E4E1DE"/>
            </a:solidFill>
            <a:prstDash val="solid"/>
          </a:ln>
        </p:spPr>
      </p:sp>
      <p:sp>
        <p:nvSpPr>
          <p:cNvPr id="14" name="Text 12"/>
          <p:cNvSpPr/>
          <p:nvPr/>
        </p:nvSpPr>
        <p:spPr>
          <a:xfrm>
            <a:off x="914400" y="3675888"/>
            <a:ext cx="2971800" cy="365760"/>
          </a:xfrm>
          <a:prstGeom prst="rect">
            <a:avLst/>
          </a:prstGeom>
          <a:noFill/>
          <a:ln/>
        </p:spPr>
        <p:txBody>
          <a:bodyPr wrap="square" lIns="0" tIns="0" rIns="0" bIns="0" rtlCol="0" anchor="ctr"/>
          <a:lstStyle/>
          <a:p>
            <a:pPr indent="0" marL="0">
              <a:buNone/>
            </a:pPr>
            <a:r>
              <a:rPr lang="en-US" sz="1450" b="1" dirty="0">
                <a:solidFill>
                  <a:srgbClr val="17161A"/>
                </a:solidFill>
                <a:latin typeface="Calibri" pitchFamily="34" charset="0"/>
                <a:ea typeface="Calibri" pitchFamily="34" charset="-122"/>
                <a:cs typeface="Calibri" pitchFamily="34" charset="-120"/>
              </a:rPr>
              <a:t>No inauthenticity claim</a:t>
            </a:r>
            <a:endParaRPr lang="en-US" sz="1450" dirty="0"/>
          </a:p>
        </p:txBody>
      </p:sp>
      <p:sp>
        <p:nvSpPr>
          <p:cNvPr id="15" name="Text 13"/>
          <p:cNvSpPr/>
          <p:nvPr/>
        </p:nvSpPr>
        <p:spPr>
          <a:xfrm>
            <a:off x="914400" y="4096512"/>
            <a:ext cx="2971800" cy="77724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Repetition is measured. Intent, automation, and authenticity are not.</a:t>
            </a:r>
            <a:endParaRPr lang="en-US" sz="1200" dirty="0"/>
          </a:p>
        </p:txBody>
      </p:sp>
      <p:sp>
        <p:nvSpPr>
          <p:cNvPr id="16" name="Shape 14"/>
          <p:cNvSpPr/>
          <p:nvPr/>
        </p:nvSpPr>
        <p:spPr>
          <a:xfrm>
            <a:off x="4416552" y="3474720"/>
            <a:ext cx="3520440" cy="1554480"/>
          </a:xfrm>
          <a:prstGeom prst="roundRect">
            <a:avLst>
              <a:gd name="adj" fmla="val 3529"/>
            </a:avLst>
          </a:prstGeom>
          <a:solidFill>
            <a:srgbClr val="FAF9F8"/>
          </a:solidFill>
          <a:ln w="12700">
            <a:solidFill>
              <a:srgbClr val="E4E1DE"/>
            </a:solidFill>
            <a:prstDash val="solid"/>
          </a:ln>
        </p:spPr>
      </p:sp>
      <p:sp>
        <p:nvSpPr>
          <p:cNvPr id="17" name="Text 15"/>
          <p:cNvSpPr/>
          <p:nvPr/>
        </p:nvSpPr>
        <p:spPr>
          <a:xfrm>
            <a:off x="4690872" y="3675888"/>
            <a:ext cx="2971800" cy="365760"/>
          </a:xfrm>
          <a:prstGeom prst="rect">
            <a:avLst/>
          </a:prstGeom>
          <a:noFill/>
          <a:ln/>
        </p:spPr>
        <p:txBody>
          <a:bodyPr wrap="square" lIns="0" tIns="0" rIns="0" bIns="0" rtlCol="0" anchor="ctr"/>
          <a:lstStyle/>
          <a:p>
            <a:pPr indent="0" marL="0">
              <a:buNone/>
            </a:pPr>
            <a:r>
              <a:rPr lang="en-US" sz="1450" b="1" dirty="0">
                <a:solidFill>
                  <a:srgbClr val="17161A"/>
                </a:solidFill>
                <a:latin typeface="Calibri" pitchFamily="34" charset="0"/>
                <a:ea typeface="Calibri" pitchFamily="34" charset="-122"/>
                <a:cs typeface="Calibri" pitchFamily="34" charset="-120"/>
              </a:rPr>
              <a:t>Partial platform coverage</a:t>
            </a:r>
            <a:endParaRPr lang="en-US" sz="1450" dirty="0"/>
          </a:p>
        </p:txBody>
      </p:sp>
      <p:sp>
        <p:nvSpPr>
          <p:cNvPr id="18" name="Text 16"/>
          <p:cNvSpPr/>
          <p:nvPr/>
        </p:nvSpPr>
        <p:spPr>
          <a:xfrm>
            <a:off x="4690872" y="4096512"/>
            <a:ext cx="2971800" cy="77724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Instagram, TikTok, X delivered but unanalysed. Provider affect exists at scale only for Reddit.</a:t>
            </a:r>
            <a:endParaRPr lang="en-US" sz="1200" dirty="0"/>
          </a:p>
        </p:txBody>
      </p:sp>
      <p:sp>
        <p:nvSpPr>
          <p:cNvPr id="19" name="Shape 17"/>
          <p:cNvSpPr/>
          <p:nvPr/>
        </p:nvSpPr>
        <p:spPr>
          <a:xfrm>
            <a:off x="8193024" y="3474720"/>
            <a:ext cx="3520440" cy="1554480"/>
          </a:xfrm>
          <a:prstGeom prst="roundRect">
            <a:avLst>
              <a:gd name="adj" fmla="val 3529"/>
            </a:avLst>
          </a:prstGeom>
          <a:solidFill>
            <a:srgbClr val="FAF9F8"/>
          </a:solidFill>
          <a:ln w="12700">
            <a:solidFill>
              <a:srgbClr val="E4E1DE"/>
            </a:solidFill>
            <a:prstDash val="solid"/>
          </a:ln>
        </p:spPr>
      </p:sp>
      <p:sp>
        <p:nvSpPr>
          <p:cNvPr id="20" name="Text 18"/>
          <p:cNvSpPr/>
          <p:nvPr/>
        </p:nvSpPr>
        <p:spPr>
          <a:xfrm>
            <a:off x="8467344" y="3675888"/>
            <a:ext cx="2971800" cy="365760"/>
          </a:xfrm>
          <a:prstGeom prst="rect">
            <a:avLst/>
          </a:prstGeom>
          <a:noFill/>
          <a:ln/>
        </p:spPr>
        <p:txBody>
          <a:bodyPr wrap="square" lIns="0" tIns="0" rIns="0" bIns="0" rtlCol="0" anchor="ctr"/>
          <a:lstStyle/>
          <a:p>
            <a:pPr indent="0" marL="0">
              <a:buNone/>
            </a:pPr>
            <a:r>
              <a:rPr lang="en-US" sz="1450" b="1" dirty="0">
                <a:solidFill>
                  <a:srgbClr val="17161A"/>
                </a:solidFill>
                <a:latin typeface="Calibri" pitchFamily="34" charset="0"/>
                <a:ea typeface="Calibri" pitchFamily="34" charset="-122"/>
                <a:cs typeface="Calibri" pitchFamily="34" charset="-120"/>
              </a:rPr>
              <a:t>Screening ≠ incidence</a:t>
            </a:r>
            <a:endParaRPr lang="en-US" sz="1450" dirty="0"/>
          </a:p>
        </p:txBody>
      </p:sp>
      <p:sp>
        <p:nvSpPr>
          <p:cNvPr id="21" name="Text 19"/>
          <p:cNvSpPr/>
          <p:nvPr/>
        </p:nvSpPr>
        <p:spPr>
          <a:xfrm>
            <a:off x="8467344" y="4096512"/>
            <a:ext cx="2971800" cy="777240"/>
          </a:xfrm>
          <a:prstGeom prst="rect">
            <a:avLst/>
          </a:prstGeom>
          <a:noFill/>
          <a:ln/>
        </p:spPr>
        <p:txBody>
          <a:bodyPr wrap="square" lIns="0" tIns="0" rIns="0" bIns="0" rtlCol="0" anchor="ctr"/>
          <a:lstStyle/>
          <a:p>
            <a:pPr indent="0" marL="0">
              <a:buNone/>
            </a:pPr>
            <a:r>
              <a:rPr lang="en-US" sz="1200" dirty="0">
                <a:solidFill>
                  <a:srgbClr val="55525C"/>
                </a:solidFill>
                <a:latin typeface="Calibri" pitchFamily="34" charset="0"/>
                <a:ea typeface="Calibri" pitchFamily="34" charset="-122"/>
                <a:cs typeface="Calibri" pitchFamily="34" charset="-120"/>
              </a:rPr>
              <a:t>Safety-screen indicators are signals of unknown precision, not verified counts.</a:t>
            </a:r>
            <a:endParaRPr lang="en-US" sz="1200" dirty="0"/>
          </a:p>
        </p:txBody>
      </p:sp>
      <p:sp>
        <p:nvSpPr>
          <p:cNvPr id="22" name="Text 20"/>
          <p:cNvSpPr/>
          <p:nvPr/>
        </p:nvSpPr>
        <p:spPr>
          <a:xfrm>
            <a:off x="640080" y="5440680"/>
            <a:ext cx="10881360" cy="640080"/>
          </a:xfrm>
          <a:prstGeom prst="rect">
            <a:avLst/>
          </a:prstGeom>
          <a:noFill/>
          <a:ln/>
        </p:spPr>
        <p:txBody>
          <a:bodyPr wrap="square" lIns="0" tIns="0" rIns="0" bIns="0" rtlCol="0" anchor="ctr"/>
          <a:lstStyle/>
          <a:p>
            <a:pPr indent="0" marL="0">
              <a:buNone/>
            </a:pPr>
            <a:r>
              <a:rPr lang="en-US" sz="1300" dirty="0">
                <a:solidFill>
                  <a:srgbClr val="55525C"/>
                </a:solidFill>
                <a:latin typeface="Calibri" pitchFamily="34" charset="0"/>
                <a:ea typeface="Calibri" pitchFamily="34" charset="-122"/>
                <a:cs typeface="Calibri" pitchFamily="34" charset="-120"/>
              </a:rPr>
              <a:t>Significance thresholds (q &lt; 0.05, Benjamini–Hochberg) control the false-discovery rate across a tested population. They do not certify any individual cluster, URL, or domain.</a:t>
            </a:r>
            <a:endParaRPr lang="en-US" sz="1300" dirty="0"/>
          </a:p>
        </p:txBody>
      </p:sp>
      <p:sp>
        <p:nvSpPr>
          <p:cNvPr id="23" name="Text 21"/>
          <p:cNvSpPr/>
          <p:nvPr/>
        </p:nvSpPr>
        <p:spPr>
          <a:xfrm>
            <a:off x="640080" y="6382512"/>
            <a:ext cx="10362895" cy="274320"/>
          </a:xfrm>
          <a:prstGeom prst="rect">
            <a:avLst/>
          </a:prstGeom>
          <a:noFill/>
          <a:ln/>
        </p:spPr>
        <p:txBody>
          <a:bodyPr wrap="square" lIns="0" tIns="0" rIns="0" bIns="0" rtlCol="0" anchor="ctr"/>
          <a:lstStyle/>
          <a:p>
            <a:pPr indent="0" marL="0">
              <a:buNone/>
            </a:pPr>
            <a:r>
              <a:rPr lang="en-US" sz="900" dirty="0">
                <a:solidFill>
                  <a:srgbClr val="8A8691"/>
                </a:solidFill>
                <a:latin typeface="Calibri" pitchFamily="34" charset="0"/>
                <a:ea typeface="Calibri" pitchFamily="34" charset="-122"/>
                <a:cs typeface="Calibri" pitchFamily="34" charset="-120"/>
              </a:rPr>
              <a:t>CATOS · A*STAR IHPC · August 2026</a:t>
            </a:r>
            <a:endParaRPr lang="en-US" sz="900" dirty="0"/>
          </a:p>
        </p:txBody>
      </p:sp>
      <p:sp>
        <p:nvSpPr>
          <p:cNvPr id="24" name="Text 22"/>
          <p:cNvSpPr/>
          <p:nvPr/>
        </p:nvSpPr>
        <p:spPr>
          <a:xfrm>
            <a:off x="11094415" y="6382512"/>
            <a:ext cx="457200" cy="274320"/>
          </a:xfrm>
          <a:prstGeom prst="rect">
            <a:avLst/>
          </a:prstGeom>
          <a:noFill/>
          <a:ln/>
        </p:spPr>
        <p:txBody>
          <a:bodyPr wrap="square" lIns="0" tIns="0" rIns="0" bIns="0" rtlCol="0" anchor="ctr"/>
          <a:lstStyle/>
          <a:p>
            <a:pPr algn="r" indent="0" marL="0">
              <a:buNone/>
            </a:pPr>
            <a:r>
              <a:rPr lang="en-US" sz="900" dirty="0">
                <a:solidFill>
                  <a:srgbClr val="8A8691"/>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A*STAR — Institute of High Performance Computing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CATOS: What the Data Said, and What It Taught Us</dc:title>
  <dc:subject>PptxGenJS Presentation</dc:subject>
  <dc:creator>Emilio Ferrara</dc:creator>
  <cp:lastModifiedBy>Emilio Ferrara</cp:lastModifiedBy>
  <cp:revision>1</cp:revision>
  <dcterms:created xsi:type="dcterms:W3CDTF">2026-08-03T05:07:24Z</dcterms:created>
  <dcterms:modified xsi:type="dcterms:W3CDTF">2026-08-03T05:07:24Z</dcterms:modified>
</cp:coreProperties>
</file>