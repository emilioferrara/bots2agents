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Corpus composition · millions of items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Facebook</c:v>
                  </c:pt>
                  <c:pt idx="1">
                    <c:v>Reddit</c:v>
                  </c:pt>
                  <c:pt idx="2">
                    <c:v>YouTube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129.5</c:v>
                </c:pt>
                <c:pt idx="1">
                  <c:v>16.5</c:v>
                </c:pt>
                <c:pt idx="2">
                  <c:v>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From raw duplicates to policy-relevant coordination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Exact duplicates
(≥5 items)</c:v>
                  </c:pt>
                  <c:pt idx="1">
                    <c:v>Large enough
to test</c:v>
                  </c:pt>
                  <c:pt idx="2">
                    <c:v>Survive the
temporal null</c:v>
                  </c:pt>
                  <c:pt idx="3">
                    <c:v>Span 3+
spaces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858728</c:v>
                </c:pt>
                <c:pt idx="1">
                  <c:v>86955</c:v>
                </c:pt>
                <c:pt idx="2">
                  <c:v>50124</c:v>
                </c:pt>
                <c:pt idx="3">
                  <c:v>44214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a known campaign the detector recovers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Detector recall</c:v>
                </c:pt>
              </c:strCache>
            </c:strRef>
          </c:tx>
          <c:spPr>
            <a:solidFill>
              <a:srgbClr val="D04A2D"/>
            </a:solidFill>
            <a:ln w="38100" cap="flat">
              <a:solidFill>
                <a:srgbClr val="D04A2D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D04A2D"/>
              </a:solidFill>
              <a:ln w="9525" cap="flat">
                <a:solidFill>
                  <a:srgbClr val="D04A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
verbatim</c:v>
                  </c:pt>
                  <c:pt idx="1">
                    <c:v>10%
reworded</c:v>
                  </c:pt>
                  <c:pt idx="2">
                    <c:v>20%
reworded</c:v>
                  </c:pt>
                  <c:pt idx="3">
                    <c:v>40%
reworded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0.375</c:v>
                </c:pt>
                <c:pt idx="2">
                  <c:v>0.067</c:v>
                </c:pt>
                <c:pt idx="3">
                  <c:v>0.011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Median domain lifespan · days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observed lifespan (days)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Disposable
algorithmically-named</c:v>
                  </c:pt>
                  <c:pt idx="1">
                    <c:v>Persistent
established domains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</c:v>
                </c:pt>
                <c:pt idx="1">
                  <c:v>1865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Scam scores calmer than average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provider toxicity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7A7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Scam-cue content</c:v>
                  </c:pt>
                  <c:pt idx="1">
                    <c:v>Corpus mean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0.1522</c:v>
                </c:pt>
                <c:pt idx="1">
                  <c:v>0.1625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And most of the corpus is never scored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Scored by a provider
(Reddit)</c:v>
                  </c:pt>
                  <c:pt idx="1">
                    <c:v>No provider score
at all (Facebook)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34.8</c:v>
                </c:pt>
                <c:pt idx="1">
                  <c:v>129.5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Cue precision relative to the corpus base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Enrichment over base rate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 cues</c:v>
                  </c:pt>
                  <c:pt idx="1">
                    <c:v>Xenophobia cues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</c:v>
                </c:pt>
                <c:pt idx="1">
                  <c:v>1.4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Copypasta volume by stance · clusters and scaled items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125</c:v>
                </c:pt>
                <c:pt idx="1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Items ÷ 50</c:v>
                </c:pt>
              </c:strCache>
            </c:strRef>
          </c:tx>
          <c:spPr>
            <a:solidFill>
              <a:srgbClr val="E4A0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148</c:v>
                </c:pt>
                <c:pt idx="1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sampled candidates confirmed hostile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Confirmed hostile (%)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English</c:v>
                  </c:pt>
                  <c:pt idx="1">
                    <c:v>Chinese</c:v>
                  </c:pt>
                  <c:pt idx="2">
                    <c:v>Indonesian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</c:v>
                </c:pt>
                <c:pt idx="1">
                  <c:v>27.1</c:v>
                </c:pt>
                <c:pt idx="2">
                  <c:v>21.3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Cluster size tells you almost nothing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7A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Largest raw cluster
(1 space, AutoModerator)</c:v>
                  </c:pt>
                  <c:pt idx="1">
                    <c:v>Median multi-space
coordinated cluster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13014</c:v>
                </c:pt>
                <c:pt idx="1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Frame it: about 35 minutes, six sections, and the last one is the only part that outlives the dataset. Say up front that every number is a floor, and that this is a feature, not a hedge.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Say it slowly and plainly, then move on without ceremony — the talk is the 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Signal that section six is the one that matters to them after I leave.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Short. The brief was open; the one thing I committed to was the conservative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— it is the spine of the report and the argument for how CATOS funds monitoring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stats. Spend the time on the second half: the durable output of a visiting appointment is usually the connections and the reproducibility, not the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the findings section depends on the audience understanding this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the Facebook share now; it pays off on the safety blind-spot slide in six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blunt: I could not have done bot detection here if I had wanted to. The constraint forced a better-disciplined study than I would otherwise have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last line looking at the room. It is what lets this be handed to a ministry without becoming an accusation.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minutes. Keep moving — the detail is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number here, make it 42% — that is what the null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the limitation into the ask: paraphrase-robust detection is the highest-leverage gap, and I return to it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arithmetic out loud. Anyone quoting 769,601 is quoting the wrong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misfire line matters — the report tables where the flag over-triggers, including recognisable publishers.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operationally consequential finding for partners in the room. Toxicity-classifier audits should test scam performance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slide, big point. The mismatch is the finding, and it is the clearest architectural recommendation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this. An intervention premised on isolating a small coordinated core would be aimed at something that is not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takes one thing for how CATOS designs monitoring, it is this slide. The 2025-only predecessor was not wrong — it was under-determined, and in two of three cases pointed the wrong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The point of this section is the error,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highlighted third box deliberately. Validation is a gate here, not a formality.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transferable slide in the deck. Irony is the failure mode, and irony is the register political speech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caveat card out loud, in full. This is the slide most likely to be photographed, and the caveat must travel with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 only. This is an appetiser; the room can read the preprint.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land: English-only monitoring misses the other fault lines entirely, because they target different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section has the longest half-life for the people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cheapness. None of these needed new collection or compute — only deciding in advance that a result is not finished until it has been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place for a beat of humour — six years of data and the headline spike is a bot reading out the subreddit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 delivery. Slow on the last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for leadership. Every item maps to a numbered limitation in Chapter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and a little self-deprecating. This is the personal turn the title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Raj here if it feels right — he caught it on the June draft. Specific credit lands better than general thanks, and this is the moment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these three slowly. They are the ones that survive the walk to the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Yinping, then open the floor. Expected questions: can we release the corpus (CATOS-internal, decision sits above me — Roy Lee at SUTD has asked); can you name actors (no, and it is structural); is the anti-incumbent skew interference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up during Q&amp;A rather than walking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Backup. Point at the relevant tile rather than reading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if anyone pushes for a claim the data cannot support — point at the relevant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FAREWELL · A*STAR IHPC · SINGAPORE · AUGUST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Says,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24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Singapore Taught Me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Ferrara, Ph.D.</a:t>
            </a:r>
            <a:endParaRPr lang="en-US" sz="202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of Computer Science, University of Southern California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Scientist, CATOS · A*STAR Institute of High Performance Computing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 CORPUS BEGINS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 THE ONE-YEAR STUDY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SIX AND A HALF YEARS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0684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HANDOVER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888736"/>
            <a:ext cx="10911535" cy="0"/>
          </a:xfrm>
          <a:prstGeom prst="line">
            <a:avLst/>
          </a:prstGeom>
          <a:noFill/>
          <a:ln w="12700">
            <a:solidFill>
              <a:srgbClr val="E8E4D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was commissioned by</a:t>
            </a:r>
            <a:endParaRPr lang="en-US" sz="238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Yinping Yang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capacity as CATOS Director.</a:t>
            </a:r>
            <a:endParaRPr lang="en-US" sz="238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dedicated to her memory, with the hope that it caught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her vision and her commitment to understanding online harm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ecosystem.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asked the questions. What follows is my attempt at answers.</a:t>
            </a:r>
            <a:endParaRPr lang="en-US" sz="2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 of this talk</a:t>
            </a:r>
            <a:endParaRPr lang="en-US" sz="317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corpus, five findings, and the part I hope travels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1097280" y="1874520"/>
            <a:ext cx="10058400" cy="0"/>
          </a:xfrm>
          <a:prstGeom prst="line">
            <a:avLst/>
          </a:prstGeom>
          <a:noFill/>
          <a:ln w="25400">
            <a:solidFill>
              <a:srgbClr val="E8E4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setting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896112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154M posts · 3 platforms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6½ years · no identities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3739896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47288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3703320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results, each with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bounds it</a:t>
            </a:r>
            <a:endParaRPr lang="en-US" sz="1590" dirty="0"/>
          </a:p>
        </p:txBody>
      </p:sp>
      <p:sp>
        <p:nvSpPr>
          <p:cNvPr id="19" name="Shape 17"/>
          <p:cNvSpPr/>
          <p:nvPr/>
        </p:nvSpPr>
        <p:spPr>
          <a:xfrm>
            <a:off x="6547104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54496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case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6510528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6510528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 end to end — and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 we caught</a:t>
            </a:r>
            <a:endParaRPr lang="en-US" sz="1590" dirty="0"/>
          </a:p>
        </p:txBody>
      </p:sp>
      <p:sp>
        <p:nvSpPr>
          <p:cNvPr id="25" name="Shape 23"/>
          <p:cNvSpPr/>
          <p:nvPr/>
        </p:nvSpPr>
        <p:spPr>
          <a:xfrm>
            <a:off x="9354312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54312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61704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9317736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9317736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measure an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honestly</a:t>
            </a:r>
            <a:endParaRPr lang="en-US" sz="159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throughout: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a floor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discipline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makes it a floor is exactly what makes it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4/37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· 2025–2026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was asked what is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out there.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we fear is out there, and not what one year happened to show</a:t>
            </a:r>
            <a:endParaRPr lang="en-US" sz="17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questions, asked in order of narrowing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CATOS Dataset — the time-extended successor to a corpus covering only 2025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coordination?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infrastructure carries it</a:t>
            </a:r>
            <a:endParaRPr lang="en-US" sz="1590" dirty="0"/>
          </a:p>
        </p:txBody>
      </p:sp>
      <p:sp>
        <p:nvSpPr>
          <p:cNvPr id="12" name="Shape 10"/>
          <p:cNvSpPr/>
          <p:nvPr/>
        </p:nvSpPr>
        <p:spPr>
          <a:xfrm>
            <a:off x="3447288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1608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721608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harms, how large?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21608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Scams, hostility, and where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systems fail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254496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528816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over time?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28816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one year guides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36024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like?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36024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event, detection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validation</a:t>
            </a:r>
            <a:endParaRPr lang="en-US" sz="1590" dirty="0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I was asked to test: that extending the corpus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time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not a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convenience but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was.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conclusions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2025-only study would have supported are overturned by the full span.</a:t>
            </a:r>
            <a:endParaRPr lang="en-US" sz="2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6/37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year produced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deliverables, and three things that keep working after the contract ends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· 17 chapters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appendices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arXiv:2606.21996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briefings delivered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· DSTA · MDDI · IMDA · OTS Forum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call reopened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 Call 3, AI-safety frontier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and the preprint are the deliverables.</a:t>
            </a:r>
            <a:endParaRPr lang="en-US" sz="2020" dirty="0"/>
          </a:p>
          <a:p>
            <a:pPr lvl="1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chained to the test that bounds it, and Chapter 15 lists what I looked for and </a:t>
            </a:r>
            <a:pPr lvl="1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find</a:t>
            </a:r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infrastructure.</a:t>
            </a:r>
            <a:endParaRPr lang="en-US" sz="202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reproducibility manifest so this re-runs without me. A revised grant call opening agentic and multimodal AI safety. Introductions to MDDI, IMDA, SUTD and MLCommons left open and warm.</a:t>
            </a:r>
            <a:endParaRPr lang="en-US" sz="2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7/37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million posts, and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who wrote them.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constraint shapes every sentence in the report</a:t>
            </a:r>
            <a:endParaRPr lang="en-US" sz="17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8/37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CATOS Dataset is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Facebook, Reddit and YouTube · January 2020 – June 2026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items across three platforms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distinct spaces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pages, subreddits, channels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11.96M URLs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pointing to </a:t>
            </a:r>
            <a:pPr indent="0" marL="0">
              <a:spcAft>
                <a:spcPts val="12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 domains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national conversation running in English, Malay, Mandarin and other Chinese varieties, and Tamil — and out into the messaging apps people are funnelled toward.</a:t>
            </a:r>
            <a:endParaRPr lang="en-US" sz="202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943600" y="1554480"/>
          <a:ext cx="5577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983480"/>
            <a:ext cx="10881360" cy="1005840"/>
          </a:xfrm>
          <a:prstGeom prst="roundRect">
            <a:avLst>
              <a:gd name="adj" fmla="val 454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0749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here is Facebook — the one platform with no provider safety score at all. Hold that thought.</a:t>
            </a:r>
            <a:endParaRPr lang="en-US" sz="23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9/37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that shaped everything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F000 · the dataset carries no usable account identities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SEE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said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the second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page, subreddit, channel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linked to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domains, lifespans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PERMANENTLY OUT OF REACH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it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Sockpuppet or bot-network mapping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to any actor or state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repetition was authentic</a:t>
            </a:r>
            <a:endParaRPr lang="en-US" sz="202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1088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account-level toolkit platform integrity is built on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by construction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study was rebuilt around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timing and infrastructure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the data can carry.</a:t>
            </a:r>
            <a:endParaRPr lang="en-US" sz="2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10/37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when this report says “coordinated”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one thing, and the room should hear only that thing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69164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text, verbatim, reposted across several distinct communities, in a temporal pattern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than chance predicts.</a:t>
            </a:r>
            <a:endParaRPr lang="en-US" sz="202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“verbatim-repeated across spaces” — and no more. Equally consistent with: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organised campaign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6112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 people jump to.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of four.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3447288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people, loosely aligned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03320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favouring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slogan.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254496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viral post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10528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Quoted, screenshotted,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re-pasted at scale.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17736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mechanics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17736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buttons, cross-posting,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bots.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5166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report identifies no one as responsible for anything. Crossing that line, even under pressure for a more dramatic finding, forfeits the trust that makes the rest usable.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11/37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 I would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anywhere.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paired with the specific test that bounds it</a:t>
            </a:r>
            <a:endParaRPr lang="en-US" sz="17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12/37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is real, and substantial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· exact-duplicate clustering, then two filters that do real work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217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086600" y="1783080"/>
            <a:ext cx="4434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 null removed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duplicate-counting would have overstated coordination by nearly half.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crossed three or more community boundaries.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measure that means anything for platform integrity.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cluster: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one verbatim string.</a:t>
            </a:r>
            <a:endParaRPr lang="en-US" sz="202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§4.3–4.5. Median effect size 2.21 among survivors; q &lt; 0.05, Benjamini–Hochberg.</a:t>
            </a:r>
            <a:endParaRPr lang="en-US" sz="10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13/37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count is a floor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injected known campaigns into the real corpus, then reworded them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8308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campaign that varies its wording even slightly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invisible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 here estimates true coordination.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is a high-precision floor, and the truth is very likely much larger.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comparison across time or platform compares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floors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group that paraphrases more merely looks less coordinated.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51663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slide that makes the report honest —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also the strongest funding case in it.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Table 15.A. 360 injected items per condition.</a:t>
            </a:r>
            <a:endParaRPr lang="en-US" sz="10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14/37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harm is commercial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· precision-corrected floors, never raw cue-hits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scam cue-hits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correction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0.208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gold-set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I actually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over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base rate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investments · job offers · giveaway impersonation · gambling · recovery scams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same shape: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polite, transactional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message carrying a link that funnels the reader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off-platform into a private messaging app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nothing is observable at all.</a:t>
            </a:r>
            <a:endParaRPr lang="en-US" sz="202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800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 is what everyone asks about. Fraud is what the data is full of.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 and §15.3. Gold set: 25 definite positives of 120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infrastructures, two lifecycles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· the signal that survives paraphrase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3736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20-fold gap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tested burner domains were pushed in synchronised bursts.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survives rewording. Paraphrase defeats the text detector; it does not conjure a new domain.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from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domain data alone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no platform cooperation.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flag misfires on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10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oddly-named legitimate sites. A candidate generator, not a verdict.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cycle is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any single-year window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the next finding, arriving early.</a:t>
            </a:r>
            <a:endParaRPr lang="en-US" sz="202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§5.4–5.6 and §4.6. DGA synchrony: 55 of 70 domains at q &lt; 0.05.</a:t>
            </a:r>
            <a:endParaRPr lang="en-US" sz="10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16/37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systems cannot see the main harm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· a negative result about a common instrument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212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172200" y="1691640"/>
          <a:ext cx="53492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0080" y="4709160"/>
            <a:ext cx="10881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content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by design</a:t>
            </a:r>
            <a:pPr indent="0" marL="0">
              <a:spcAft>
                <a:spcPts val="8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optimised to pass exactly the classifier we trust to catch harm.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coverage gap that more compute closes. A safety system tuned to toxicity, harassment and hate will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under-serve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market where commercial fraud is the principal measurable harm.</a:t>
            </a:r>
            <a:endParaRPr lang="en-US" sz="202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7 (RQ-D) and §15.5.</a:t>
            </a:r>
            <a:endParaRPr lang="en-US" sz="10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17/37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blind spots are mirror images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blind roughly where the other is strong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39776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&amp; infrastructure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toxicity scoring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&amp; funnel</a:t>
            </a:r>
            <a:endParaRPr lang="en-US" sz="238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lift in the toolkit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8638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— scores below average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86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39776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Near-organic, little 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8638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Comparatively well flagged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gives a complete picture of either harm.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an argument for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— not for choosing between them.</a:t>
            </a:r>
            <a:endParaRPr lang="en-US" sz="2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18/37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 · XENOPHOBIA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is pervasive, not concentrated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negative result, and the least comfortable one to deliver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6692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720840" y="18288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cue precision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87%.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so is its base rate: roughly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definite labels in a random sample.</a:t>
            </a:r>
            <a:endParaRPr lang="en-US" sz="18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precision on a common phenomenon is not a detector. It is a thermometer.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is not a needle in a haystack. It is a property of much of the hay — and you cannot address that by taking down a network, because there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to take down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93776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coordinated-campaign result would have been easier to deliver. It comes with an obvious intervention. This one does not, and saying so is part of the job.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§6.7 and §15.4. Gold set: 80 of 92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19/37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5 · TIME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year can invert the truth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spine · three conclusions a 2025-only corpus would support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9476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spam looks near-organic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75488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475488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funnel lift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713232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713232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funnel lift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9144000" y="194767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inverted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40080" y="2990088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246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looks platform-balanced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475488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58368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713232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FB-led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713232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2020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9144000" y="3246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inverted</a:t>
            </a:r>
            <a:endParaRPr lang="en-US" sz="1590" dirty="0"/>
          </a:p>
        </p:txBody>
      </p:sp>
      <p:sp>
        <p:nvSpPr>
          <p:cNvPr id="24" name="Shape 22"/>
          <p:cNvSpPr/>
          <p:nvPr/>
        </p:nvSpPr>
        <p:spPr>
          <a:xfrm>
            <a:off x="640080" y="4288536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45445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infrastructure looks absent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5488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380" dirty="0"/>
          </a:p>
        </p:txBody>
      </p:sp>
      <p:sp>
        <p:nvSpPr>
          <p:cNvPr id="27" name="Text 25"/>
          <p:cNvSpPr/>
          <p:nvPr/>
        </p:nvSpPr>
        <p:spPr>
          <a:xfrm>
            <a:off x="475488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burner median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658368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713232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713232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persistent median</a:t>
            </a:r>
            <a:endParaRPr lang="en-US" sz="1230" dirty="0"/>
          </a:p>
        </p:txBody>
      </p:sp>
      <p:sp>
        <p:nvSpPr>
          <p:cNvPr id="31" name="Text 29"/>
          <p:cNvSpPr/>
          <p:nvPr/>
        </p:nvSpPr>
        <p:spPr>
          <a:xfrm>
            <a:off x="9144000" y="45445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one year</a:t>
            </a:r>
            <a:endParaRPr lang="en-US" sz="1590" dirty="0"/>
          </a:p>
        </p:txBody>
      </p:sp>
      <p:sp>
        <p:nvSpPr>
          <p:cNvPr id="32" name="Shape 3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687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span is not more data. It is a correction mechanism.</a:t>
            </a:r>
            <a:endParaRPr lang="en-US" sz="202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§15.7 and §16.2.</a:t>
            </a:r>
            <a:endParaRPr lang="en-US" sz="10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20/37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WORKED CASE · GE2025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election,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 finish.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mistake the pipeline caught before I published it</a:t>
            </a:r>
            <a:endParaRPr lang="en-US" sz="17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21/37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on one well-understood event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· the same four steps used everywhere else in the report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896112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multi-space filter</a:t>
            </a:r>
            <a:endParaRPr lang="en-US" sz="1590" dirty="0"/>
          </a:p>
        </p:txBody>
      </p:sp>
      <p:sp>
        <p:nvSpPr>
          <p:cNvPr id="11" name="Text 9"/>
          <p:cNvSpPr/>
          <p:nvPr/>
        </p:nvSpPr>
        <p:spPr>
          <a:xfrm>
            <a:off x="3145536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2" name="Shape 10"/>
          <p:cNvSpPr/>
          <p:nvPr/>
        </p:nvSpPr>
        <p:spPr>
          <a:xfrm>
            <a:off x="3511296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3767328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model, three passes,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</a:t>
            </a:r>
            <a:endParaRPr lang="en-US" sz="1590" dirty="0"/>
          </a:p>
        </p:txBody>
      </p:sp>
      <p:sp>
        <p:nvSpPr>
          <p:cNvPr id="15" name="Text 13"/>
          <p:cNvSpPr/>
          <p:nvPr/>
        </p:nvSpPr>
        <p:spPr>
          <a:xfrm>
            <a:off x="6016752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6" name="Shape 14"/>
          <p:cNvSpPr/>
          <p:nvPr/>
        </p:nvSpPr>
        <p:spPr>
          <a:xfrm>
            <a:off x="6382512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2380" dirty="0"/>
          </a:p>
        </p:txBody>
      </p:sp>
      <p:sp>
        <p:nvSpPr>
          <p:cNvPr id="18" name="Text 16"/>
          <p:cNvSpPr/>
          <p:nvPr/>
        </p:nvSpPr>
        <p:spPr>
          <a:xfrm>
            <a:off x="6638544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worst-case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sample, as a gate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8887968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0" name="Shape 18"/>
          <p:cNvSpPr/>
          <p:nvPr/>
        </p:nvSpPr>
        <p:spPr>
          <a:xfrm>
            <a:off x="9253728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9509760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re-label,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 v2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copypasta peaks in the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before Polling Day</a:t>
            </a:r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collapses.</a:t>
            </a:r>
            <a:endParaRPr lang="en-US" sz="202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box is the one people skip. It is the one that saved this chapter.</a:t>
            </a:r>
            <a:endParaRPr lang="en-US" sz="202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9808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corpus</a:t>
            </a:r>
            <a:endParaRPr lang="en-US" sz="1230" dirty="0"/>
          </a:p>
        </p:txBody>
      </p:sp>
      <p:sp>
        <p:nvSpPr>
          <p:cNvPr id="27" name="Shape 25"/>
          <p:cNvSpPr/>
          <p:nvPr/>
        </p:nvSpPr>
        <p:spPr>
          <a:xfrm>
            <a:off x="4344314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4314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454042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peak, April 2025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 the next slide first</a:t>
            </a:r>
            <a:endParaRPr lang="en-US" sz="1230" dirty="0"/>
          </a:p>
        </p:txBody>
      </p:sp>
      <p:sp>
        <p:nvSpPr>
          <p:cNvPr id="30" name="Shape 28"/>
          <p:cNvSpPr/>
          <p:nvPr/>
        </p:nvSpPr>
        <p:spPr>
          <a:xfrm>
            <a:off x="8048549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8549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158277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self-reported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confidence</a:t>
            </a:r>
            <a:endParaRPr lang="en-US" sz="123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14 and §10.3.</a:t>
            </a:r>
            <a:endParaRPr lang="en-US" sz="101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22/37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validation gate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model, confidently wrong in exactly one place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AS THE MODEL REPORTED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clusters · 1,925 items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anti-opposition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pro/anti stance (80–100%)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with itself across all three passes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HUMAN REVIEWER FOUND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42 mislabelled — 38%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Sarcastic anti-incumbent posts read as anti-opposition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structural commentary swept in with them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of the sixteen carried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partisan valence at all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9834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Small-model labels are hypotheses, not measurements. </a:t>
            </a:r>
            <a:pPr indent="0" marL="0">
              <a:buNone/>
            </a:pPr>
            <a:r>
              <a:rPr lang="en-US" sz="2020" dirty="0">
                <a:solidFill>
                  <a:srgbClr val="C6CD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is not correctness — it was most confident exactly where it was wrong.</a:t>
            </a:r>
            <a:endParaRPr lang="en-US" sz="202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§14.5–14.6 and §15.8. Model: Qwen2.5-3B, 3-pass majority.</a:t>
            </a:r>
            <a:endParaRPr lang="en-US" sz="10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23/37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validated headline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v2 — the numbers I actually report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943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903720" y="1783080"/>
            <a:ext cx="4617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: 1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cluster count ·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 : 1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item count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Pro-incumbent copypasta is a small set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high-reach slogans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(73 items per cluster). Anti-incumbent is a wider variety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critiques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(59 per cluster).</a:t>
            </a:r>
            <a:endParaRPr lang="en-US" sz="2020" dirty="0"/>
          </a:p>
        </p:txBody>
      </p:sp>
      <p:sp>
        <p:nvSpPr>
          <p:cNvPr id="10" name="Shape 7"/>
          <p:cNvSpPr/>
          <p:nvPr/>
        </p:nvSpPr>
        <p:spPr>
          <a:xfrm>
            <a:off x="6903720" y="3657600"/>
            <a:ext cx="4617720" cy="1051560"/>
          </a:xfrm>
          <a:prstGeom prst="roundRect">
            <a:avLst>
              <a:gd name="adj" fmla="val 4348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370332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is not: evidence of coordinated inauthentic behaviour, foreign interference, or manipulation.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4892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criticism of a long-governing party at its most exposed moment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democracy. It is visible here only because some of it took verbatim, cross-space form.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week's largest raw cluster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13,014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was Reddit AutoModerator boilerplate in a single space. </a:t>
            </a:r>
            <a:pPr indent="0" marL="0"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spread, never size.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§14.7 and §13.3.</a:t>
            </a:r>
            <a:endParaRPr lang="en-US" sz="10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24/37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has a different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in each language.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cross-lingual audit — the one piece of this work that is public</a:t>
            </a:r>
            <a:endParaRPr lang="en-US" sz="17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targets, structural frames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8,561 candidates adjudicated · 2,190 confirmed hostile · three languages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029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989320" y="1783080"/>
            <a:ext cx="5532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language-specific. English hostility spreads broadly; Chinese concentrates on a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Malay–Chinese divide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Indonesian concentrates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determined by the target's category, and are shared across communities.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Resonance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rewards nativist hostility over religious hostility.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lean in-group-protective — but under a labelling confound.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3704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754880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lenses replicate on the full 2020–2026 record.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consequence: English-only monitoring systematically misses the Chinese- and Indonesian-language fault lines, because they target different groups entirely.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(2026), arXiv:2606.21996; CATOS report Chapter 9.</a:t>
            </a:r>
            <a:endParaRPr lang="en-US" sz="101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26/37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 · WHAT TRAVELS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me.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stays behind. This is the part I hope does not.</a:t>
            </a:r>
            <a:endParaRPr lang="en-US" sz="17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27/37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gates, and what each one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expensive. All three changed a headline.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91640" y="19202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against a null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23408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detector gets a randomisation baseline and a sensitivity curve before its output is believed.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675120" y="21031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clusters, and reframed every count as a floor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163824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483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691640" y="334670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by measured precision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7673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raw count is multiplied through a gold-set precision estimate and reported as an explicit floor.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6675120" y="352958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769,601 cue-hits into a defensible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160,307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590288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10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1691640" y="47731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worst cases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937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label is checked against a deliberately adversarial human sample before it is reported.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6675120" y="49560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mislabel rate hiding behind 0.98 confidence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caught a real error that would otherwise have reached the headline.</a:t>
            </a:r>
            <a:endParaRPr lang="en-US" sz="20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28/37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spread, not size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spike in six years was a moderation bot talking to itself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812280" y="182880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2025 shows a raw coordination share of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highest month in the corpus.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Event-anchoring traces the largest cluster to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space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Reddit's AutoModerator, posting rule text that is verbatim by construction.</a:t>
            </a:r>
            <a:endParaRPr lang="en-US" sz="180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trustworthy measure is the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multi-space fraction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Raw size is a trap.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§10.4, §13.3 and §15.6.</a:t>
            </a:r>
            <a:endParaRPr lang="en-US" sz="101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29/37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I'd tell whoever picks this up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report language — what I actually say to students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3677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099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floors, and say so every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6560" y="170992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beats an estimate nobody defends</a:t>
            </a:r>
            <a:endParaRPr lang="en-US" sz="1590" dirty="0"/>
          </a:p>
        </p:txBody>
      </p:sp>
      <p:sp>
        <p:nvSpPr>
          <p:cNvPr id="12" name="Text 10"/>
          <p:cNvSpPr/>
          <p:nvPr/>
        </p:nvSpPr>
        <p:spPr>
          <a:xfrm>
            <a:off x="914400" y="25603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1508760" y="25328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toxicity as a scam screen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25328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harm here is polite. It is engineered to pass</a:t>
            </a:r>
            <a:endParaRPr lang="en-US" sz="1590" dirty="0"/>
          </a:p>
        </p:txBody>
      </p:sp>
      <p:sp>
        <p:nvSpPr>
          <p:cNvPr id="15" name="Shape 13"/>
          <p:cNvSpPr/>
          <p:nvPr/>
        </p:nvSpPr>
        <p:spPr>
          <a:xfrm>
            <a:off x="640080" y="328269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1508760" y="335584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the model is confidently wrong somewhere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66560" y="335584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Sarcasm was the where. Next time it will be something else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914400" y="42062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41788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more than one year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66560" y="417880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at six years</a:t>
            </a:r>
            <a:endParaRPr lang="en-US" sz="1590" dirty="0"/>
          </a:p>
        </p:txBody>
      </p:sp>
      <p:sp>
        <p:nvSpPr>
          <p:cNvPr id="22" name="Shape 20"/>
          <p:cNvSpPr/>
          <p:nvPr/>
        </p:nvSpPr>
        <p:spPr>
          <a:xfrm>
            <a:off x="640080" y="492861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029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24" name="Text 22"/>
          <p:cNvSpPr/>
          <p:nvPr/>
        </p:nvSpPr>
        <p:spPr>
          <a:xfrm>
            <a:off x="1508760" y="50017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negative results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66560" y="50017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that only says what it found is not trustworthy</a:t>
            </a:r>
            <a:endParaRPr lang="en-US" sz="1590" dirty="0"/>
          </a:p>
        </p:txBody>
      </p:sp>
      <p:sp>
        <p:nvSpPr>
          <p:cNvPr id="26" name="Shape 24"/>
          <p:cNvSpPr/>
          <p:nvPr/>
        </p:nvSpPr>
        <p:spPr>
          <a:xfrm>
            <a:off x="640080" y="5532120"/>
            <a:ext cx="10881360" cy="822960"/>
          </a:xfrm>
          <a:prstGeom prst="roundRect">
            <a:avLst>
              <a:gd name="adj" fmla="val 555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778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negative-results chapter is the one I'd read first if someone handed me this report. It is Chapter 15.</a:t>
            </a:r>
            <a:endParaRPr lang="en-US" sz="20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30/37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fund next, in order of leverage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is a specific, fundable capability — not a wish list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96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9222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Paraphrase-aware detection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66360" y="1792224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every floor into a bounded estimate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9692640" y="179222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LEVERAGE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32888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609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1508760" y="26334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floors to prevalence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633472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work, not new collection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9692640" y="263347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WIN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74136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34747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multi-model labelling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66360" y="3474720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published, not just accuracies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9692640" y="347472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RIGOUR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215384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343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5" name="Text 23"/>
          <p:cNvSpPr/>
          <p:nvPr/>
        </p:nvSpPr>
        <p:spPr>
          <a:xfrm>
            <a:off x="1508760" y="43159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X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66360" y="4315968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but unanalysed; lead-lag is moving</a:t>
            </a:r>
            <a:endParaRPr lang="en-US" sz="1230" dirty="0"/>
          </a:p>
        </p:txBody>
      </p:sp>
      <p:sp>
        <p:nvSpPr>
          <p:cNvPr id="27" name="Text 25"/>
          <p:cNvSpPr/>
          <p:nvPr/>
        </p:nvSpPr>
        <p:spPr>
          <a:xfrm>
            <a:off x="9692640" y="43159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COVERAGE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56632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1846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1508760" y="51572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Infrastructure-anchored monitoring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66360" y="5157216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burner cycle needs a standing monitor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9692640" y="51572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OPERATIONAL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first, then calibration, then labelling rigour, then coverage, then timeliness. Each arrives paired with the validation that bounds it — or it should not arrive at all.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§17.2.</a:t>
            </a:r>
            <a:endParaRPr lang="en-US" sz="101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31/37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came looking for the wrong 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data spent six months telling me so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ARRIVED EXPECTING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operations.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manipulation, coordinated networks, an election to be defended.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years of my field points there.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KEPT SAYING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Fraud, infrastructure,</a:t>
            </a:r>
            <a:endParaRPr lang="en-US" sz="2380" dirty="0"/>
          </a:p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language.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harm is commercial.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signal is a domain, not a sentence.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lines differ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language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politics was real, bounded, and episodic. It was not the story.</a:t>
            </a:r>
            <a:endParaRPr lang="en-US" sz="20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32/37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mattered most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 not come from a model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25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8288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the corpus down as Bahasa Indonesia. </a:t>
            </a:r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 read the draft carefully and told me I was wrong — it is overwhelmingly Malay.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10881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single correction changed a chapter, and it changed what the hate audit is allowed to claim.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amount of compute would have caught it. </a:t>
            </a:r>
            <a:pPr indent="0" marL="0">
              <a:spcAft>
                <a:spcPts val="1300"/>
              </a:spcAft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centre would.</a:t>
            </a:r>
            <a:endParaRPr lang="en-US" sz="202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CATOS was for me: a place where somebody knew the language, argued with my thresholds, checked my base rates, and told me when I had it wrong — early enough that it never reached print.</a:t>
            </a:r>
            <a:endParaRPr lang="en-US" sz="20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33/37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everything else falls out of memory on the way to the lift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is commercial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beats politics, by volume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polite enough that toxicity classifiers score it below average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5" name="Text 13"/>
          <p:cNvSpPr/>
          <p:nvPr/>
        </p:nvSpPr>
        <p:spPr>
          <a:xfrm>
            <a:off x="4599432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 is a floor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4599432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saying so is the point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9432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is worth more than an estimate nobody defends</a:t>
            </a:r>
            <a:endParaRPr lang="en-US" sz="1590" dirty="0"/>
          </a:p>
        </p:txBody>
      </p:sp>
      <p:sp>
        <p:nvSpPr>
          <p:cNvPr id="18" name="Shape 16"/>
          <p:cNvSpPr/>
          <p:nvPr/>
        </p:nvSpPr>
        <p:spPr>
          <a:xfrm>
            <a:off x="8010144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0144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284464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 can invert the truth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8284464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long, or say you did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84464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once six years were available</a:t>
            </a:r>
            <a:endParaRPr lang="en-US" sz="159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  ·  emiliofe@usc.edu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data, the arguments, the corrections, and the year.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Dr. Yinping Yang, who asked the questions this work tries to answer.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8503920" y="1691640"/>
            <a:ext cx="3063240" cy="3566160"/>
          </a:xfrm>
          <a:prstGeom prst="roundRect">
            <a:avLst>
              <a:gd name="adj" fmla="val 149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233172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report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 · arXiv:2606.21996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manifest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limitation, numbered</a:t>
            </a:r>
            <a:endParaRPr lang="en-US" sz="1590" dirty="0"/>
          </a:p>
        </p:txBody>
      </p:sp>
      <p:sp>
        <p:nvSpPr>
          <p:cNvPr id="9" name="Text 7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</a:t>
            </a:r>
            <a:endParaRPr lang="en-US" sz="94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35/37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and the coordination funnel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questions · every count is a floor unless stated otherwise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Jan 2020 – Jun 2026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129,506,705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527984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comments (84%)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16,487,473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306160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posts and comments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8,290,440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084335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items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640080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858,728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49808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clusters, ≥5 items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3418256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8256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50,124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527984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null (57.6% of 86,955)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196432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6432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306160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3 or more distinct spaces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974607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74607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084335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 the largest single cluster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640080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49808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spaces</a:t>
            </a:r>
            <a:endParaRPr lang="en-US" sz="1230" dirty="0"/>
          </a:p>
        </p:txBody>
      </p:sp>
      <p:sp>
        <p:nvSpPr>
          <p:cNvPr id="35" name="Shape 33"/>
          <p:cNvSpPr/>
          <p:nvPr/>
        </p:nvSpPr>
        <p:spPr>
          <a:xfrm>
            <a:off x="3418256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18256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11,959,097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3527984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</a:t>
            </a:r>
            <a:endParaRPr lang="en-US" sz="1230" dirty="0"/>
          </a:p>
        </p:txBody>
      </p:sp>
      <p:sp>
        <p:nvSpPr>
          <p:cNvPr id="38" name="Shape 36"/>
          <p:cNvSpPr/>
          <p:nvPr/>
        </p:nvSpPr>
        <p:spPr>
          <a:xfrm>
            <a:off x="6196432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6432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6306160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domains</a:t>
            </a:r>
            <a:endParaRPr lang="en-US" sz="1230" dirty="0"/>
          </a:p>
        </p:txBody>
      </p:sp>
      <p:sp>
        <p:nvSpPr>
          <p:cNvPr id="41" name="Shape 39"/>
          <p:cNvSpPr/>
          <p:nvPr/>
        </p:nvSpPr>
        <p:spPr>
          <a:xfrm>
            <a:off x="8974607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74607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9084335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effect size among survivors</a:t>
            </a:r>
            <a:endParaRPr lang="en-US" sz="1230" dirty="0"/>
          </a:p>
        </p:txBody>
      </p:sp>
      <p:sp>
        <p:nvSpPr>
          <p:cNvPr id="44" name="Text 42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recall across rewording: 0.500 → 0.375 → 0.067 → 0.011 at 0 / 10 / 20 / 40 percent.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§1.2, §4.3–4.6, Table 15.A.</a:t>
            </a:r>
            <a:endParaRPr lang="en-US" sz="101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36/37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Harm, infrastructure and time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numbers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 cue-hits × 0.208 precision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4344314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4314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~256,573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4042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295,048 cue-hits × 0.870 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048549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8549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 / 1.4×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158277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vs xenophobia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0.152 / 0.163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49808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toxicity vs corpus mean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scoring, Reddit only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4344314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4314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/ 1,865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454042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burner vs persistent domain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lifespan, days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8048549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8549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158277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DGA synchrony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of 70 domains at q &lt; 0.05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 → 0.19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9808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lift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→ 2025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4344314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44314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/ 22.0%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454042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/ raw peak (Apr 2025)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8048549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8549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158277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hostile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8,561 adjudicated</a:t>
            </a:r>
            <a:endParaRPr lang="en-US" sz="123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§5–7, §10–13, Chapter 9; arXiv:2606.21996.</a:t>
            </a:r>
            <a:endParaRPr lang="en-US" sz="101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37/37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study cannot do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· stated so that no finding is over-read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attribution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actor, group or state is identified. Structural, not cautious.</a:t>
            </a:r>
            <a:endParaRPr lang="en-US" sz="1590" dirty="0"/>
          </a:p>
        </p:txBody>
      </p:sp>
      <p:sp>
        <p:nvSpPr>
          <p:cNvPr id="11" name="Shape 9"/>
          <p:cNvSpPr/>
          <p:nvPr/>
        </p:nvSpPr>
        <p:spPr>
          <a:xfrm>
            <a:off x="4325112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prevalence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9432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floors, never population rates.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8010144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4464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paraphrased coordination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84464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falls to 0.011 at 40% rewording.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inauthenticity claim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 is measured. Intent and automation are not.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4325112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platform coverage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99432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 and X delivered but unanalysed.</a:t>
            </a:r>
            <a:endParaRPr lang="en-US" sz="1590" dirty="0"/>
          </a:p>
        </p:txBody>
      </p:sp>
      <p:sp>
        <p:nvSpPr>
          <p:cNvPr id="23" name="Shape 21"/>
          <p:cNvSpPr/>
          <p:nvPr/>
        </p:nvSpPr>
        <p:spPr>
          <a:xfrm>
            <a:off x="8010144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is not incidence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84464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Safety-screen indicators have unknown precision.</a:t>
            </a:r>
            <a:endParaRPr lang="en-US" sz="159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thresholds (q &lt; 0.05, Benjamini–Hochberg) control the false-discovery rate across a tested population. They do not certify any individual cluster, URL or domain.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A*STAR — Institute of High Performance Computing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the Data Says, and What Singapore Taught Me</dc:title>
  <dc:subject>PptxGenJS Presentation</dc:subject>
  <dc:creator>Emilio Ferrara</dc:creator>
  <cp:lastModifiedBy>Emilio Ferrara</cp:lastModifiedBy>
  <cp:revision>1</cp:revision>
  <dcterms:created xsi:type="dcterms:W3CDTF">2026-08-03T06:45:10Z</dcterms:created>
  <dcterms:modified xsi:type="dcterms:W3CDTF">2026-08-03T06:45:10Z</dcterms:modified>
</cp:coreProperties>
</file>